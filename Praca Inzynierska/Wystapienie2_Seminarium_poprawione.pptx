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0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505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Krótko przedstawić, że jest to drugie wystąpienie: mniej o samym pomyśle, więcej o projekcie systemu, technologii, postępie oraz planie dalszej realizacji.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Podkreślić, że praca dotyczy prototypu aplikacji i analizy danych użytkownika, a nie narzędzia medycznego.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Przedstawić system przez pryzmat modułów, żeby było jasne, co ma zostać wykonane w ramach pracy.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Opisać podział odpowiedzialności: frontend zbiera dane i pokazuje wyniki, backend obsługuje logikę i API, baza przechowuje konta i logi dzienne, a moduł rekomendacji korzysta z danych historycznych.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Wyjaśnić, że raport poranny dotyczy snu i stanu po przebudzeniu, a raport wieczorny oceny dnia oraz nawyków. Z tego powstaje jeden rekord do analizy.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Omówić ogólny model danych bez wchodzenia w szczegóły każdej kolumny. Ważne jest pokazanie, że dane użytkownika i historia wpisów są podstawą personalizacji.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trzeba opisywać każdej biblioteki szczegółowo; ważne jest uzasadnienie, że technologie wspierają architekturę klient-serwer i szybki rozwój.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Wskazać, że część implementacyjna jest rozpoczęta i działa jako MVP: backend, frontend, baza oraz podstawowe formularze.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slajd można wykorzystać jako przejście do krótkiego demo albo do pokazania repozytorium.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spełnia wymaganie pełnego konspektu pracy. Wystarczy krótko przejść po rozdziałach i wskazać, gdzie będzie część projektowa oraz implementacyjna.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Harmonogram należy przedstawić aż do złożenia pracy. Wskazać, że MVP powstaje w czerwcu, a największy rozwój funkcjonalności planowany jest na lipiec-wrzesień.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slajd pokazuje, że projekt jest zaplanowany również od strony weryfikacji. Warto podkreślić ryzyko danych i rozsądny etapowy plan rekomendacji.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Zakończenie i pytania.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1094014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2084832"/>
            <a:ext cx="1444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Wystąpienie 2 - projekt rozwiązania i przygotowanie realizacji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481328" y="4709160"/>
            <a:ext cx="126187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3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Projekt i implementacja aplikacji webowej do analizy danych dotyczących snu i </a:t>
            </a:r>
            <a:r>
              <a:rPr lang="en-US" sz="2300" b="1" dirty="0" err="1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dziennego</a:t>
            </a:r>
            <a:r>
              <a:rPr lang="en-US" sz="23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 </a:t>
            </a:r>
            <a:r>
              <a:rPr lang="en-US" sz="2300" b="1" dirty="0" err="1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samopoczucia</a:t>
            </a:r>
            <a:r>
              <a:rPr lang="en-US" sz="23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 </a:t>
            </a:r>
            <a:r>
              <a:rPr lang="en-US" sz="2300" b="1" dirty="0" err="1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użytkownika</a:t>
            </a:r>
            <a:r>
              <a:rPr lang="en-US" sz="23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 z generowaniem rekomendacji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508760" y="8092440"/>
            <a:ext cx="2331720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46464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Maciej Zadrożny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018520" y="8174736"/>
            <a:ext cx="5212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Promotor: dr inż. Tomasz Łukaszuk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2188028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6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Przypomnienie projektu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517904" y="2999232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Aplikacja webowa wspierająca analizę snu, codziennych nawyków i samopoczucia użytkownika.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554480" y="407822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847088" y="3977640"/>
            <a:ext cx="101315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użytkownik regularnie wprowadza raporty poranne i wieczorne,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554480" y="471830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1847088" y="4617720"/>
            <a:ext cx="101315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oblicza wskaźnik dziennego samopoczucia oraz prezentuje statystyki,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554480" y="535838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1847088" y="5257800"/>
            <a:ext cx="101315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rekomendacje mają pomagać w poprawie jakości snu, bez funkcji diagnostycznych.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801600" y="2788920"/>
            <a:ext cx="2331720" cy="960120"/>
          </a:xfrm>
          <a:prstGeom prst="roundRect">
            <a:avLst>
              <a:gd name="adj" fmla="val 15238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12874752" y="2843784"/>
            <a:ext cx="218541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4218920" y="4160520"/>
            <a:ext cx="251460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14292072" y="4215384"/>
            <a:ext cx="236829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Nawyki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252960" y="5532120"/>
            <a:ext cx="3017520" cy="960120"/>
          </a:xfrm>
          <a:prstGeom prst="roundRect">
            <a:avLst>
              <a:gd name="adj" fmla="val 15238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12326112" y="5586984"/>
            <a:ext cx="287121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Samopoczucie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024360" y="7315200"/>
            <a:ext cx="46634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Cel: lepiej zrozumieć, które czynniki wpływają na codzienne funkcjonowanie użytkownika.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3282042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70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Zakres funkcjonalny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517904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Główne elementy planowanego systemu: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14600" y="3767328"/>
            <a:ext cx="1143000" cy="1143000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2514600" y="3931920"/>
            <a:ext cx="1143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Konto użytkownika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5880" y="5870448"/>
            <a:ext cx="36576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rejestracja, logowanie, tokeny JWT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46520" y="3767328"/>
            <a:ext cx="1143000" cy="1143000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446520" y="3931920"/>
            <a:ext cx="1143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Raporty dzienne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57800" y="5870448"/>
            <a:ext cx="36576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formularz poranny i wieczorny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0378440" y="3767328"/>
            <a:ext cx="1143000" cy="1143000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10378440" y="3931920"/>
            <a:ext cx="1143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1832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Statystyki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89720" y="5870448"/>
            <a:ext cx="36576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DayScore, wykresy, przegląd tygodnia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4310360" y="3767328"/>
            <a:ext cx="1143000" cy="1143000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14310360" y="3931920"/>
            <a:ext cx="1143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35024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Rekomendacje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121640" y="5870448"/>
            <a:ext cx="36576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LLM, docelowo wariant ML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828800" y="7818120"/>
            <a:ext cx="14630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Zakres obejmuje przygotowanie interfejsu, części serwerowej, bazy danych, mechanizmu uwierzytelniania oraz modułów raportów, statystyk i rekomendacji.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4376057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4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Projekt systemu - architektura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517904" y="2880360"/>
            <a:ext cx="1371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Architektura klient-serwer z osobnym frontendem, backendem API i relacyjną bazą danych.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0" y="4709160"/>
            <a:ext cx="1828800" cy="0"/>
          </a:xfrm>
          <a:prstGeom prst="line">
            <a:avLst/>
          </a:prstGeom>
          <a:noFill/>
          <a:ln w="2794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8412480" y="4709160"/>
            <a:ext cx="1828800" cy="0"/>
          </a:xfrm>
          <a:prstGeom prst="line">
            <a:avLst/>
          </a:prstGeom>
          <a:noFill/>
          <a:ln w="2794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12252960" y="4709160"/>
            <a:ext cx="1828800" cy="0"/>
          </a:xfrm>
          <a:prstGeom prst="line">
            <a:avLst/>
          </a:prstGeom>
          <a:noFill/>
          <a:ln w="2794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10789920" y="5806440"/>
            <a:ext cx="0" cy="96012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1600200" y="4069080"/>
            <a:ext cx="297180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1673352" y="4123944"/>
            <a:ext cx="2825496" cy="1216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TypeScript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4069080"/>
            <a:ext cx="2468880" cy="1325880"/>
          </a:xfrm>
          <a:prstGeom prst="roundRect">
            <a:avLst>
              <a:gd name="adj" fmla="val 11034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473952" y="4123944"/>
            <a:ext cx="2322576" cy="1216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+ Uvicorn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287000" y="3886200"/>
            <a:ext cx="288036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10360152" y="3941064"/>
            <a:ext cx="273405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Warstwa logiki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• raporty • statystyki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rekomendacje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4127480" y="4069080"/>
            <a:ext cx="2697480" cy="1325880"/>
          </a:xfrm>
          <a:prstGeom prst="roundRect">
            <a:avLst>
              <a:gd name="adj" fmla="val 11034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14200632" y="4123944"/>
            <a:ext cx="2551176" cy="1216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SQLModel / SQLAlchemy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Alembic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23960" y="6748272"/>
            <a:ext cx="393192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6510">
            <a:solidFill>
              <a:srgbClr val="46464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8897112" y="6803136"/>
            <a:ext cx="3785616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/ moduł rekomendacji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wersja początkowa: analiza historii + opisowe wskazówki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wariant rozwojowy: model ML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74520" y="8641080"/>
            <a:ext cx="14356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przepływają przez API: formularze użytkownika → walidacja i zapis → obliczenia → odpowiedź dla panelu aplikacji.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5470071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70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Przepływ danych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517904" y="2880360"/>
            <a:ext cx="13533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są zbierane w dwóch punktach dnia, a następnie łączone w jeden dzienny log użytkownika.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937760" y="4846320"/>
            <a:ext cx="1143000" cy="0"/>
          </a:xfrm>
          <a:prstGeom prst="line">
            <a:avLst/>
          </a:prstGeom>
          <a:noFill/>
          <a:ln w="2667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9738360" y="4846320"/>
            <a:ext cx="1143000" cy="0"/>
          </a:xfrm>
          <a:prstGeom prst="line">
            <a:avLst/>
          </a:prstGeom>
          <a:noFill/>
          <a:ln w="2667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14401800" y="4846320"/>
            <a:ext cx="1097280" cy="0"/>
          </a:xfrm>
          <a:prstGeom prst="line">
            <a:avLst/>
          </a:prstGeom>
          <a:noFill/>
          <a:ln w="2667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7541443" y="5760720"/>
            <a:ext cx="0" cy="114300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 dirty="0"/>
          </a:p>
        </p:txBody>
      </p:sp>
      <p:sp>
        <p:nvSpPr>
          <p:cNvPr id="11" name="Shape 9"/>
          <p:cNvSpPr/>
          <p:nvPr/>
        </p:nvSpPr>
        <p:spPr>
          <a:xfrm>
            <a:off x="12362311" y="5623560"/>
            <a:ext cx="0" cy="1280160"/>
          </a:xfrm>
          <a:prstGeom prst="line">
            <a:avLst/>
          </a:prstGeom>
          <a:noFill/>
          <a:ln w="2540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1554480" y="397764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1627632" y="4032504"/>
            <a:ext cx="3282696" cy="1719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poranny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godziny snu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jakość snu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energia po przebudzeniu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wybudzenia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26480" y="397764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199632" y="4032504"/>
            <a:ext cx="3465576" cy="1719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wieczorny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ocena dnia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kawa, alkohol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ekran, drzemka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881360" y="4160520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10954512" y="4215384"/>
            <a:ext cx="3328416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Dzienny 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+ D+1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połączone dane dnia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0" y="4160520"/>
            <a:ext cx="1691640" cy="1463040"/>
          </a:xfrm>
          <a:prstGeom prst="roundRect">
            <a:avLst>
              <a:gd name="adj" fmla="val 10000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15617952" y="4215384"/>
            <a:ext cx="1545336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Wyniki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DayScore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statystyki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rekomendacje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7040880"/>
            <a:ext cx="548640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6510">
            <a:solidFill>
              <a:srgbClr val="46464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690872" y="7095744"/>
            <a:ext cx="5340096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Wyliczenia pomocnicze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realny czas snu = czas w łóżku - czas zasypiania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regularność godzin snu • średnie z okresu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292840" y="7040880"/>
            <a:ext cx="416052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6510">
            <a:solidFill>
              <a:srgbClr val="46464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11365992" y="7095744"/>
            <a:ext cx="4014216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dnia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ważona średnia porannej energii i wieczornej oceny dnia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6564085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1417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2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Model danych i struktura aplikacji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60020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Główne dane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00200" y="3749040"/>
            <a:ext cx="3657600" cy="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1627632" y="416966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920240" y="4069080"/>
            <a:ext cx="50566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email, imię, płeć, wiek, typowy czas zasypiania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27632" y="4736592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1920240" y="4636008"/>
            <a:ext cx="50566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DailyLog: dane snu, nawyki, oceny, wyliczony DayScore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27632" y="5303520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1920240" y="5202936"/>
            <a:ext cx="50566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Historia wpisów: podstawa statystyk i rekomendacji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92640" y="4846320"/>
            <a:ext cx="1828800" cy="0"/>
          </a:xfrm>
          <a:prstGeom prst="line">
            <a:avLst/>
          </a:prstGeom>
          <a:noFill/>
          <a:ln w="2286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13441680" y="4846320"/>
            <a:ext cx="1188720" cy="0"/>
          </a:xfrm>
          <a:prstGeom prst="line">
            <a:avLst/>
          </a:prstGeom>
          <a:noFill/>
          <a:ln w="2286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7726680" y="4160520"/>
            <a:ext cx="2148840" cy="1371600"/>
          </a:xfrm>
          <a:prstGeom prst="roundRect">
            <a:avLst>
              <a:gd name="adj" fmla="val 10667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7799832" y="4215384"/>
            <a:ext cx="2002536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id, email, password_hash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sleep_latency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658600" y="3977640"/>
            <a:ext cx="224028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11731752" y="4032504"/>
            <a:ext cx="2093976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daily_logs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user_id, date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sleep, habits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energy, day_rating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4813280" y="4251960"/>
            <a:ext cx="2148840" cy="1188720"/>
          </a:xfrm>
          <a:prstGeom prst="roundRect">
            <a:avLst>
              <a:gd name="adj" fmla="val 12308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14886432" y="4306824"/>
            <a:ext cx="2002536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stats / recommendations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wyliczenia z historii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6400800"/>
            <a:ext cx="4389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Struktura backendu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600200" y="6903720"/>
            <a:ext cx="4389120" cy="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1627632" y="732434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1920240" y="7223760"/>
            <a:ext cx="629107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- definicje tabel i relacji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27632" y="7763256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1920240" y="7662672"/>
            <a:ext cx="629107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schemas - walidacja danych wejściowych i odpowiedzi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627632" y="8202168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1920240" y="8101584"/>
            <a:ext cx="629107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- operacje na bazie danych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627632" y="8641080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1920240" y="8540496"/>
            <a:ext cx="629107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routers - endpointy API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627632" y="9079992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1920240" y="8979408"/>
            <a:ext cx="629107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migrations - zmiany struktury bazy w Alembic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0" y="6720840"/>
            <a:ext cx="7086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Założenie projektowe: prosta, warstwowa struktura, dzięki której łatwo rozwijać moduł statystyk i rekomendacji.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7658100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6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Technologie i narzędzia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517904" y="2880360"/>
            <a:ext cx="1408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Stos technologiczny został dobrany pod szybkie przygotowanie prototypu oraz czytelny podział na frontend, API i bazę danych.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463040" y="4160520"/>
            <a:ext cx="2697480" cy="685800"/>
          </a:xfrm>
          <a:prstGeom prst="roundRect">
            <a:avLst>
              <a:gd name="adj" fmla="val 21333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536192" y="4215384"/>
            <a:ext cx="255117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5074920"/>
            <a:ext cx="233172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Router 7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09160" y="4160520"/>
            <a:ext cx="269748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782312" y="4215384"/>
            <a:ext cx="255117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92040" y="5074920"/>
            <a:ext cx="233172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Uvicorn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SQLModel / SQLAlchemy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55280" y="4160520"/>
            <a:ext cx="2697480" cy="685800"/>
          </a:xfrm>
          <a:prstGeom prst="roundRect">
            <a:avLst>
              <a:gd name="adj" fmla="val 21333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8028432" y="4215384"/>
            <a:ext cx="255117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Baza danych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38160" y="5074920"/>
            <a:ext cx="233172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Alembic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relacyjny zapis logów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201400" y="4160520"/>
            <a:ext cx="269748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11274552" y="4215384"/>
            <a:ext cx="255117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Bezpieczeństwo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84280" y="5074920"/>
            <a:ext cx="233172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 / Passlib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.env + Pydantic Settings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447520" y="4160520"/>
            <a:ext cx="2697480" cy="685800"/>
          </a:xfrm>
          <a:prstGeom prst="roundRect">
            <a:avLst>
              <a:gd name="adj" fmla="val 21333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14520672" y="4215384"/>
            <a:ext cx="255117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Narzędzia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0" y="5074920"/>
            <a:ext cx="233172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7360920"/>
            <a:ext cx="4389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Uzasadnienie wyboru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554480" y="7863840"/>
            <a:ext cx="4389120" cy="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1600200" y="823874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1892808" y="8138160"/>
            <a:ext cx="139720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ułatwia tworzenie czytelnego API i automatycznej dokumentacji.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600200" y="8714232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1892808" y="8613648"/>
            <a:ext cx="139720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z TypeScriptem pozwala bezpieczniej rozwijać formularze i panel użytkownika.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600200" y="9189720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1892808" y="9089136"/>
            <a:ext cx="139720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i Alembic dobrze pasują do danych użytkowników oraz historii raportów.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8752114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68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Postęp implementacji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1517904" y="2880360"/>
            <a:ext cx="13350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Projekt posiada już działający prototyp/MVP, który obejmuje podstawowe elementy aplikacji.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691640" y="398678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984248" y="3886200"/>
            <a:ext cx="71140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w FastAPI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691640" y="444398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1984248" y="4343400"/>
            <a:ext cx="71140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w React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691640" y="490118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1984248" y="4800600"/>
            <a:ext cx="71140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połączenie z PostgreSQL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691640" y="535838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1984248" y="5257800"/>
            <a:ext cx="71140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podstawowa autoryzacja użytkownika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691640" y="581558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1984248" y="5715000"/>
            <a:ext cx="71140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formularze logowania, rejestracji i wpisów dziennych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691640" y="627278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1984248" y="6172200"/>
            <a:ext cx="71140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komunikacja frontend-backend przez API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691640" y="672998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1984248" y="6629400"/>
            <a:ext cx="71140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repozytorium Git i etapowy rozwój kodu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78992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 prac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789920" y="4636008"/>
            <a:ext cx="201168" cy="201168"/>
          </a:xfrm>
          <a:prstGeom prst="ellipse">
            <a:avLst/>
          </a:prstGeom>
          <a:solidFill>
            <a:srgbClr val="0057B8"/>
          </a:solidFill>
          <a:ln w="1905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11173968" y="4553712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 i temat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4721840" y="4553712"/>
            <a:ext cx="1920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7C7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zakończone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0890504" y="4864608"/>
            <a:ext cx="0" cy="36576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10789920" y="5294376"/>
            <a:ext cx="201168" cy="201168"/>
          </a:xfrm>
          <a:prstGeom prst="ellipse">
            <a:avLst/>
          </a:prstGeom>
          <a:solidFill>
            <a:srgbClr val="0057B8"/>
          </a:solidFill>
          <a:ln w="1905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11173968" y="5212080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Architektura i baza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4721840" y="5212080"/>
            <a:ext cx="1920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7C7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zakończone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0890504" y="5522976"/>
            <a:ext cx="0" cy="36576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10789920" y="595274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11173968" y="5870448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aplikacji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4721840" y="5870448"/>
            <a:ext cx="1920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7C7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trakcie rozwoju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0890504" y="6181344"/>
            <a:ext cx="0" cy="36576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Shape 32"/>
          <p:cNvSpPr/>
          <p:nvPr/>
        </p:nvSpPr>
        <p:spPr>
          <a:xfrm>
            <a:off x="10789920" y="6611112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11173968" y="6528816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Statystyki i rekomendacje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4721840" y="6528816"/>
            <a:ext cx="1920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7C7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kolejny etap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10890504" y="6839712"/>
            <a:ext cx="0" cy="36576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Shape 36"/>
          <p:cNvSpPr/>
          <p:nvPr/>
        </p:nvSpPr>
        <p:spPr>
          <a:xfrm>
            <a:off x="10789920" y="7269480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11173968" y="7187184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Testy i opis pracy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14721840" y="7187184"/>
            <a:ext cx="1920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7C7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planowane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9846128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1417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2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Pierwsze działające funkcjonalności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517904" y="2880360"/>
            <a:ext cx="13533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Obecna wersja pozwala przejść podstawową ścieżkę użytkownika od konta do zapisu wpisu.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3840480" y="5029200"/>
            <a:ext cx="1097280" cy="0"/>
          </a:xfrm>
          <a:prstGeom prst="line">
            <a:avLst/>
          </a:prstGeom>
          <a:noFill/>
          <a:ln w="2667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7498080" y="5029200"/>
            <a:ext cx="1097280" cy="0"/>
          </a:xfrm>
          <a:prstGeom prst="line">
            <a:avLst/>
          </a:prstGeom>
          <a:noFill/>
          <a:ln w="2667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11064240" y="5029200"/>
            <a:ext cx="1097280" cy="0"/>
          </a:xfrm>
          <a:prstGeom prst="line">
            <a:avLst/>
          </a:prstGeom>
          <a:noFill/>
          <a:ln w="2667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14493240" y="5029200"/>
            <a:ext cx="1005840" cy="0"/>
          </a:xfrm>
          <a:prstGeom prst="line">
            <a:avLst/>
          </a:prstGeom>
          <a:noFill/>
          <a:ln w="26670">
            <a:solidFill>
              <a:srgbClr val="0057B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1554480" y="4434840"/>
            <a:ext cx="233172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1627632" y="4489704"/>
            <a:ext cx="2185416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Rejestracja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+ dane profilu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983480" y="4434840"/>
            <a:ext cx="2514600" cy="1188720"/>
          </a:xfrm>
          <a:prstGeom prst="roundRect">
            <a:avLst>
              <a:gd name="adj" fmla="val 12308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056632" y="4489704"/>
            <a:ext cx="2368296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Logowanie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41080" y="4434840"/>
            <a:ext cx="251460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8714232" y="4489704"/>
            <a:ext cx="2368296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Formularz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poranny / wieczorny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2207240" y="4434840"/>
            <a:ext cx="2331720" cy="1188720"/>
          </a:xfrm>
          <a:prstGeom prst="roundRect">
            <a:avLst>
              <a:gd name="adj" fmla="val 12308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12280392" y="4489704"/>
            <a:ext cx="2185416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walidacja i zapis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590520" y="4434840"/>
            <a:ext cx="160020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15663672" y="4489704"/>
            <a:ext cx="1453896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Baza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00200" y="6629400"/>
            <a:ext cx="5852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już można pokazać jako demo?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600200" y="7132320"/>
            <a:ext cx="5852160" cy="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1645920" y="746150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1938528" y="7360920"/>
            <a:ext cx="9582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utworzenie konta i zalogowanie użytkownika,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645920" y="7891272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1938528" y="7790688"/>
            <a:ext cx="9582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przejście do formularza wpisu dziennego,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645920" y="8321040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1938528" y="8220456"/>
            <a:ext cx="9582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wysłanie danych do backendu i zapis w bazie,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645920" y="8750808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1938528" y="8650224"/>
            <a:ext cx="9582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podstawowy podział aplikacji na frontend oraz endpointy API.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024360" y="7543800"/>
            <a:ext cx="4754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Kolejne ekrany będą rozwijane wokół panelu statystyk, historii wpisów oraz rekomendacji.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10940142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6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Konspekt pracy dyplomowej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517904" y="2880360"/>
            <a:ext cx="13533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Planowana struktura obejmuje część teoretyczną, projekt systemu, implementację oraz testy.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600200" y="3959352"/>
            <a:ext cx="347472" cy="3474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600200" y="4014216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3886200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Wstęp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600200" y="4764024"/>
            <a:ext cx="347472" cy="3474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1600200" y="4818888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469087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Charakterystyka problemu i przegląd rozwiązań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600200" y="5568696"/>
            <a:ext cx="347472" cy="3474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1600200" y="562356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5495544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 wymagań systemu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600200" y="6373368"/>
            <a:ext cx="347472" cy="3474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160020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6300216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 i narzędzia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600200" y="7178040"/>
            <a:ext cx="347472" cy="3474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1600200" y="7232904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710488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Projekt systemu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281160" y="3959352"/>
            <a:ext cx="347472" cy="3474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9281160" y="4014216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84080" y="3886200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Implementacja aplikacji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281160" y="4764024"/>
            <a:ext cx="347472" cy="3474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9281160" y="4818888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0" y="4690872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Moduł analizy danych i rekomendacji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281160" y="5568696"/>
            <a:ext cx="347472" cy="3474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9281160" y="562356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0" y="5495544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Testy i ewaluacja rozwiązania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281160" y="6373368"/>
            <a:ext cx="347472" cy="3474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928116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84080" y="6300216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Podsumowanie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874520" y="8595360"/>
            <a:ext cx="14447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Część projektowa pracy będzie obejmowała architekturę, model danych, przepływ informacji oraz opis modułów aplikacji.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0" y="868680"/>
            <a:ext cx="15316200" cy="0"/>
          </a:xfrm>
          <a:prstGeom prst="rect">
            <a:avLst/>
          </a:prstGeom>
          <a:noFill/>
          <a:ln w="13970">
            <a:solidFill>
              <a:srgbClr val="A8A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0" y="868680"/>
            <a:ext cx="12034157" cy="0"/>
          </a:xfrm>
          <a:prstGeom prst="rect">
            <a:avLst/>
          </a:prstGeom>
          <a:noFill/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1874520"/>
            <a:ext cx="13716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464646"/>
                </a:solidFill>
                <a:latin typeface="Telegraf Medium"/>
              </a:rPr>
              <a:t>Konspekt pracy dyplomowej - szczegóły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2880360"/>
            <a:ext cx="1444752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464646"/>
                </a:solidFill>
                <a:latin typeface="Inter"/>
              </a:rPr>
              <a:t>Konspekt dzieli pracę na trzy logiczne części: wprowadzenie teoretyczne, opis projektu i implementacji oraz weryfikację działania systemu.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810000"/>
            <a:ext cx="4800600" cy="40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64208" y="4011168"/>
            <a:ext cx="420624" cy="4206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64208" y="4043172"/>
            <a:ext cx="4206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3938016"/>
            <a:ext cx="3849624" cy="54864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520" b="1">
                <a:solidFill>
                  <a:srgbClr val="464646"/>
                </a:solidFill>
                <a:latin typeface="Inter"/>
              </a:rPr>
              <a:t>Część teoretyczna
rozdz. 1-4</a:t>
            </a:r>
          </a:p>
        </p:txBody>
      </p:sp>
      <p:sp>
        <p:nvSpPr>
          <p:cNvPr id="11" name="Oval 10"/>
          <p:cNvSpPr/>
          <p:nvPr/>
        </p:nvSpPr>
        <p:spPr>
          <a:xfrm>
            <a:off x="1746504" y="4701540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1096" y="4614672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>
                <a:solidFill>
                  <a:srgbClr val="464646"/>
                </a:solidFill>
                <a:latin typeface="Inter"/>
              </a:rPr>
              <a:t>wstęp, cel i zakres pracy</a:t>
            </a:r>
          </a:p>
        </p:txBody>
      </p:sp>
      <p:sp>
        <p:nvSpPr>
          <p:cNvPr id="13" name="Oval 12"/>
          <p:cNvSpPr/>
          <p:nvPr/>
        </p:nvSpPr>
        <p:spPr>
          <a:xfrm>
            <a:off x="1746504" y="5122164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11096" y="5035296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>
                <a:solidFill>
                  <a:srgbClr val="464646"/>
                </a:solidFill>
                <a:latin typeface="Inter"/>
              </a:rPr>
              <a:t>problem jakości snu i samopoczucia</a:t>
            </a:r>
          </a:p>
        </p:txBody>
      </p:sp>
      <p:sp>
        <p:nvSpPr>
          <p:cNvPr id="15" name="Oval 14"/>
          <p:cNvSpPr/>
          <p:nvPr/>
        </p:nvSpPr>
        <p:spPr>
          <a:xfrm>
            <a:off x="1746504" y="5542788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11096" y="5455920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>
                <a:solidFill>
                  <a:srgbClr val="464646"/>
                </a:solidFill>
                <a:latin typeface="Inter"/>
              </a:rPr>
              <a:t>przegląd podobnych aplikacji</a:t>
            </a:r>
          </a:p>
        </p:txBody>
      </p:sp>
      <p:sp>
        <p:nvSpPr>
          <p:cNvPr id="17" name="Oval 16"/>
          <p:cNvSpPr/>
          <p:nvPr/>
        </p:nvSpPr>
        <p:spPr>
          <a:xfrm>
            <a:off x="1746504" y="5963412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11096" y="5876544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>
                <a:solidFill>
                  <a:srgbClr val="464646"/>
                </a:solidFill>
                <a:latin typeface="Inter"/>
              </a:rPr>
              <a:t>wymagania systemu oraz dobór technologii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810000"/>
            <a:ext cx="4800600" cy="40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30568" y="4011168"/>
            <a:ext cx="420624" cy="4206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30568" y="4043172"/>
            <a:ext cx="4206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3938016"/>
            <a:ext cx="3849624" cy="54864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520" b="1">
                <a:solidFill>
                  <a:srgbClr val="464646"/>
                </a:solidFill>
                <a:latin typeface="Inter"/>
              </a:rPr>
              <a:t>Projekt i implementacja
rozdz. 5-7</a:t>
            </a:r>
          </a:p>
        </p:txBody>
      </p:sp>
      <p:sp>
        <p:nvSpPr>
          <p:cNvPr id="23" name="Oval 22"/>
          <p:cNvSpPr/>
          <p:nvPr/>
        </p:nvSpPr>
        <p:spPr>
          <a:xfrm>
            <a:off x="6912864" y="4701540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77456" y="4614672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 dirty="0" err="1">
                <a:solidFill>
                  <a:srgbClr val="464646"/>
                </a:solidFill>
                <a:latin typeface="Inter"/>
              </a:rPr>
              <a:t>architektura</a:t>
            </a:r>
            <a:r>
              <a:rPr sz="1200" b="0" dirty="0">
                <a:solidFill>
                  <a:srgbClr val="464646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464646"/>
                </a:solidFill>
                <a:latin typeface="Inter"/>
              </a:rPr>
              <a:t>klient-serwer</a:t>
            </a:r>
            <a:endParaRPr sz="1200" b="0" dirty="0">
              <a:solidFill>
                <a:srgbClr val="464646"/>
              </a:solidFill>
              <a:latin typeface="Inter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912864" y="5122164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77456" y="5035296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>
                <a:solidFill>
                  <a:srgbClr val="464646"/>
                </a:solidFill>
                <a:latin typeface="Inter"/>
              </a:rPr>
              <a:t>model danych: użytkownik i dzienne logi</a:t>
            </a:r>
          </a:p>
        </p:txBody>
      </p:sp>
      <p:sp>
        <p:nvSpPr>
          <p:cNvPr id="27" name="Oval 26"/>
          <p:cNvSpPr/>
          <p:nvPr/>
        </p:nvSpPr>
        <p:spPr>
          <a:xfrm>
            <a:off x="6912864" y="5542788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77456" y="5455920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>
                <a:solidFill>
                  <a:srgbClr val="464646"/>
                </a:solidFill>
                <a:latin typeface="Inter"/>
              </a:rPr>
              <a:t>autoryzacja, formularze, API i baza</a:t>
            </a:r>
          </a:p>
        </p:txBody>
      </p:sp>
      <p:sp>
        <p:nvSpPr>
          <p:cNvPr id="29" name="Oval 28"/>
          <p:cNvSpPr/>
          <p:nvPr/>
        </p:nvSpPr>
        <p:spPr>
          <a:xfrm>
            <a:off x="6912864" y="5963412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77456" y="5876544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>
                <a:solidFill>
                  <a:srgbClr val="464646"/>
                </a:solidFill>
                <a:latin typeface="Inter"/>
              </a:rPr>
              <a:t>DayScore, statystyki oraz rekomendacje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795760" y="3810000"/>
            <a:ext cx="4800600" cy="40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996928" y="4011168"/>
            <a:ext cx="420624" cy="4206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996928" y="4043172"/>
            <a:ext cx="4206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45568" y="3938016"/>
            <a:ext cx="3849624" cy="54864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520" b="1">
                <a:solidFill>
                  <a:srgbClr val="464646"/>
                </a:solidFill>
                <a:latin typeface="Inter"/>
              </a:rPr>
              <a:t>Weryfikacja i zakończenie
rozdz. 8-9</a:t>
            </a:r>
          </a:p>
        </p:txBody>
      </p:sp>
      <p:sp>
        <p:nvSpPr>
          <p:cNvPr id="35" name="Oval 34"/>
          <p:cNvSpPr/>
          <p:nvPr/>
        </p:nvSpPr>
        <p:spPr>
          <a:xfrm>
            <a:off x="12079224" y="4701540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243816" y="4614672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>
                <a:solidFill>
                  <a:srgbClr val="464646"/>
                </a:solidFill>
                <a:latin typeface="Inter"/>
              </a:rPr>
              <a:t>scenariusze testowe aplikacji</a:t>
            </a:r>
          </a:p>
        </p:txBody>
      </p:sp>
      <p:sp>
        <p:nvSpPr>
          <p:cNvPr id="37" name="Oval 36"/>
          <p:cNvSpPr/>
          <p:nvPr/>
        </p:nvSpPr>
        <p:spPr>
          <a:xfrm>
            <a:off x="12079224" y="5122164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243816" y="5035296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>
                <a:solidFill>
                  <a:srgbClr val="464646"/>
                </a:solidFill>
                <a:latin typeface="Inter"/>
              </a:rPr>
              <a:t>sprawdzenie zapisu, odczytu i obliczeń</a:t>
            </a:r>
          </a:p>
        </p:txBody>
      </p:sp>
      <p:sp>
        <p:nvSpPr>
          <p:cNvPr id="39" name="Oval 38"/>
          <p:cNvSpPr/>
          <p:nvPr/>
        </p:nvSpPr>
        <p:spPr>
          <a:xfrm>
            <a:off x="12079224" y="5542788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243816" y="5455920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>
                <a:solidFill>
                  <a:srgbClr val="464646"/>
                </a:solidFill>
                <a:latin typeface="Inter"/>
              </a:rPr>
              <a:t>ocena zgodności rekomendacji z danymi</a:t>
            </a:r>
          </a:p>
        </p:txBody>
      </p:sp>
      <p:sp>
        <p:nvSpPr>
          <p:cNvPr id="41" name="Oval 40"/>
          <p:cNvSpPr/>
          <p:nvPr/>
        </p:nvSpPr>
        <p:spPr>
          <a:xfrm>
            <a:off x="12079224" y="5963412"/>
            <a:ext cx="77724" cy="77724"/>
          </a:xfrm>
          <a:prstGeom prst="ellipse">
            <a:avLst/>
          </a:prstGeom>
          <a:solidFill>
            <a:srgbClr val="0057B8"/>
          </a:solidFill>
          <a:ln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243816" y="5876544"/>
            <a:ext cx="4297680" cy="347472"/>
          </a:xfrm>
          <a:prstGeom prst="rect">
            <a:avLst/>
          </a:prstGeom>
          <a:noFill/>
        </p:spPr>
        <p:txBody>
          <a:bodyPr wrap="square" lIns="4572" tIns="4572" rIns="4572" bIns="4572">
            <a:spAutoFit/>
          </a:bodyPr>
          <a:lstStyle/>
          <a:p>
            <a:pPr algn="l"/>
            <a:r>
              <a:rPr sz="1200" b="0">
                <a:solidFill>
                  <a:srgbClr val="464646"/>
                </a:solidFill>
                <a:latin typeface="Inter"/>
              </a:rPr>
              <a:t>wnioski, ograniczenia i dalszy rozwój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74520" y="8397240"/>
            <a:ext cx="144475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72640" y="8564880"/>
            <a:ext cx="140512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50" b="1">
                <a:solidFill>
                  <a:srgbClr val="464646"/>
                </a:solidFill>
                <a:latin typeface="Inter"/>
              </a:rPr>
              <a:t>Najważniejszy nacisk w pracy zostanie położony na część projektową: architekturę, przepływ danych, model bazy, działanie prototypu oraz sposób generowania rekomendacji.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13128171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68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Harmonogram realizacji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1517904" y="2880360"/>
            <a:ext cx="1408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prac obejmuje dokończenie implementacji, dopracowanie modułu rekomendacji, testy oraz pisanie pracy.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508760" y="4206240"/>
            <a:ext cx="2057400" cy="594360"/>
          </a:xfrm>
          <a:prstGeom prst="roundRect">
            <a:avLst>
              <a:gd name="adj" fmla="val 24615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581912" y="4261104"/>
            <a:ext cx="191109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III-IV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37460" y="4919472"/>
            <a:ext cx="0" cy="2057400"/>
          </a:xfrm>
          <a:prstGeom prst="line">
            <a:avLst/>
          </a:prstGeom>
          <a:noFill/>
          <a:ln w="1270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1463040" y="7086600"/>
            <a:ext cx="2194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temat, problem, technologie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49040" y="4206240"/>
            <a:ext cx="2057400" cy="594360"/>
          </a:xfrm>
          <a:prstGeom prst="roundRect">
            <a:avLst>
              <a:gd name="adj" fmla="val 24615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822192" y="4261104"/>
            <a:ext cx="191109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77740" y="4919472"/>
            <a:ext cx="0" cy="2057400"/>
          </a:xfrm>
          <a:prstGeom prst="line">
            <a:avLst/>
          </a:prstGeom>
          <a:noFill/>
          <a:ln w="1270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703320" y="7086600"/>
            <a:ext cx="2194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architektura i projekt bazy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9320" y="4206240"/>
            <a:ext cx="2057400" cy="594360"/>
          </a:xfrm>
          <a:prstGeom prst="roundRect">
            <a:avLst>
              <a:gd name="adj" fmla="val 24615"/>
            </a:avLst>
          </a:prstGeom>
          <a:solidFill>
            <a:srgbClr val="E7EEF9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062472" y="4261104"/>
            <a:ext cx="191109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018020" y="4919472"/>
            <a:ext cx="0" cy="2057400"/>
          </a:xfrm>
          <a:prstGeom prst="line">
            <a:avLst/>
          </a:prstGeom>
          <a:noFill/>
          <a:ln w="1270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943600" y="7086600"/>
            <a:ext cx="2194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 aplikacji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0" y="4206240"/>
            <a:ext cx="2057400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8302752" y="4261104"/>
            <a:ext cx="191109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VII-IX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258300" y="4919472"/>
            <a:ext cx="0" cy="2057400"/>
          </a:xfrm>
          <a:prstGeom prst="line">
            <a:avLst/>
          </a:prstGeom>
          <a:noFill/>
          <a:ln w="1270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8183880" y="7086600"/>
            <a:ext cx="2194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funkcje główne i rekomendacje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469880" y="4206240"/>
            <a:ext cx="2057400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10543032" y="4261104"/>
            <a:ext cx="191109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498580" y="4919472"/>
            <a:ext cx="0" cy="2057400"/>
          </a:xfrm>
          <a:prstGeom prst="line">
            <a:avLst/>
          </a:prstGeom>
          <a:noFill/>
          <a:ln w="1270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10424160" y="7086600"/>
            <a:ext cx="2194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testy, poprawki, dopracowanie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710160" y="4206240"/>
            <a:ext cx="2057400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12783312" y="4261104"/>
            <a:ext cx="191109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XI-XII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3738860" y="4919472"/>
            <a:ext cx="0" cy="2057400"/>
          </a:xfrm>
          <a:prstGeom prst="line">
            <a:avLst/>
          </a:prstGeom>
          <a:noFill/>
          <a:ln w="1270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12664440" y="7086600"/>
            <a:ext cx="2194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pisanie pracy dyplomowej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4950440" y="4206240"/>
            <a:ext cx="2057400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651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15023592" y="4261104"/>
            <a:ext cx="191109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5979140" y="4919472"/>
            <a:ext cx="0" cy="2057400"/>
          </a:xfrm>
          <a:prstGeom prst="line">
            <a:avLst/>
          </a:prstGeom>
          <a:noFill/>
          <a:ln w="1270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14904720" y="7086600"/>
            <a:ext cx="2194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finalizacja i przygotowanie obrony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645920" y="5532120"/>
            <a:ext cx="14996160" cy="0"/>
          </a:xfrm>
          <a:prstGeom prst="line">
            <a:avLst/>
          </a:prstGeom>
          <a:noFill/>
          <a:ln w="26670">
            <a:solidFill>
              <a:srgbClr val="0057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6830568" y="5239512"/>
            <a:ext cx="256032" cy="25603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626364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aktualnie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828800" y="8823960"/>
            <a:ext cx="14630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Najbliższy cel: rozwinąć panel statystyk, dopracować logikę rekomendacji oraz przygotować scenariusze testowe.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14222185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1371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2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Testy, ewaluacja i kolejne kroki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517904" y="2880360"/>
            <a:ext cx="1408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Ewaluacja będzie skupiona na poprawności działania aplikacji i użyteczności generowanych rekomendacji.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600200" y="3886200"/>
            <a:ext cx="3474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testów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600200" y="4389120"/>
            <a:ext cx="3474720" cy="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1645920" y="471830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1938528" y="4617720"/>
            <a:ext cx="63825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rejestracja, logowanie i obsługa JWT,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645920" y="5157216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1938528" y="5056632"/>
            <a:ext cx="63825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dodawanie raportów porannych i wieczornych,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645920" y="5596128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1938528" y="5495544"/>
            <a:ext cx="63825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zapis i odczyt danych z PostgreSQL,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645920" y="6035040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1938528" y="5934456"/>
            <a:ext cx="63825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obliczanie DayScore oraz statystyk,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645920" y="6473952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1938528" y="6373368"/>
            <a:ext cx="63825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spójność rekomendacji z danymi użytkownika.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509760" y="3886200"/>
            <a:ext cx="4389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Kolejne zadania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509760" y="4389120"/>
            <a:ext cx="4389120" cy="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9555480" y="4718304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9848088" y="4617720"/>
            <a:ext cx="63825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rozbudowa panelu statystyk i historii wpisów,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555480" y="5157216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9848088" y="5056632"/>
            <a:ext cx="63825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doprecyzowanie algorytmu obliczania score dnia,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555480" y="5596128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9848088" y="5495544"/>
            <a:ext cx="63825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integracja rekomendacji LLM,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9555480" y="6035040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9848088" y="5934456"/>
            <a:ext cx="63825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uzupełnienie dokumentacji i opis rozdziałów,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9555480" y="6473952"/>
            <a:ext cx="118872" cy="118872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9848088" y="6373368"/>
            <a:ext cx="63825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przygotowanie testów scenariuszowych.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1828800" y="8732520"/>
            <a:ext cx="14630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Ryzyko projektowe: niewystarczająca liczba danych do stabilnego modelu ML. Rozwiązanie: rozpoczęcie od rekomendacji LLM oraz reguł opartych na historii użytkownika.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13970">
            <a:solidFill>
              <a:srgbClr val="A8A8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463040" y="868680"/>
            <a:ext cx="15316200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6596360" y="1051560"/>
            <a:ext cx="201168" cy="201168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053526" y="3412504"/>
            <a:ext cx="10448198" cy="30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0" b="1" dirty="0" err="1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Dziękuję</a:t>
            </a:r>
            <a:r>
              <a:rPr lang="pl-PL" sz="9600" dirty="0"/>
              <a:t> </a:t>
            </a:r>
            <a:r>
              <a:rPr lang="en-US" sz="9600" b="1" dirty="0">
                <a:solidFill>
                  <a:srgbClr val="464646"/>
                </a:solidFill>
                <a:latin typeface="Telegraf Medium" pitchFamily="34" charset="0"/>
                <a:ea typeface="Telegraf Medium" pitchFamily="34" charset="-122"/>
                <a:cs typeface="Telegraf Medium" pitchFamily="34" charset="-120"/>
              </a:rPr>
              <a:t>za uwagę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13858816" y="4078224"/>
            <a:ext cx="237744" cy="23774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elegraf Medium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1350</Words>
  <Application>Microsoft Office PowerPoint</Application>
  <PresentationFormat>Niestandardowy</PresentationFormat>
  <Paragraphs>256</Paragraphs>
  <Slides>14</Slides>
  <Notes>14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8" baseType="lpstr">
      <vt:lpstr>Arial</vt:lpstr>
      <vt:lpstr>Inter</vt:lpstr>
      <vt:lpstr>Telegraf Medium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Politechnika Białostocka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rozwiązania i przygotowanie realizacji</dc:title>
  <dc:subject>Wystąpienie 2 - seminarium dyplomowe</dc:subject>
  <dc:creator>Maciej Zadrożny</dc:creator>
  <cp:lastModifiedBy>Maciej Zadrożny (115738)</cp:lastModifiedBy>
  <cp:revision>4</cp:revision>
  <dcterms:created xsi:type="dcterms:W3CDTF">2026-06-10T22:25:10Z</dcterms:created>
  <dcterms:modified xsi:type="dcterms:W3CDTF">2026-06-11T11:19:28Z</dcterms:modified>
</cp:coreProperties>
</file>