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prowadzenie" id="{74c5f357-1796-8b95-b4d7-8576b9c51f6f}">
          <p14:sldIdLst>
            <p14:sldId id="256"/>
            <p14:sldId id="257"/>
          </p14:sldIdLst>
        </p14:section>
        <p14:section name="Wymagania i projekt" id="{ef0c4b6f-42ae-d081-90e7-149ca2ee82a0}">
          <p14:sldIdLst>
            <p14:sldId id="258"/>
            <p14:sldId id="259"/>
            <p14:sldId id="260"/>
          </p14:sldIdLst>
        </p14:section>
        <p14:section name="Decyzje projektowe" id="{92dd7b65-700d-1887-ae94-eb10654bc391}">
          <p14:sldIdLst>
            <p14:sldId id="261"/>
            <p14:sldId id="262"/>
          </p14:sldIdLst>
        </p14:section>
        <p14:section name="Stan implementacji" id="{73013c73-5d77-3fe3-629e-fabddbf287c9}">
          <p14:sldIdLst>
            <p14:sldId id="263"/>
            <p14:sldId id="264"/>
            <p14:sldId id="265"/>
          </p14:sldIdLst>
        </p14:section>
        <p14:section name="Ryzyka i plan" id="{35337afa-58f9-8673-72d6-16e66a70735a}">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464646"/>
                </a:solidFill>
                <a:latin typeface="+mn-lt"/>
              </a:defRPr>
            </a:pPr>
            <a:r>
              <a:rPr sz="1600" b="0" i="0" u="none" strike="noStrike">
                <a:solidFill>
                  <a:srgbClr val="464646"/>
                </a:solidFill>
                <a:latin typeface="+mn-lt"/>
              </a:rPr>
              <a:t>Dodatkowy czas zasypiania [min]</a:t>
            </a:r>
          </a:p>
        </c:rich>
      </c:tx>
      <c:layout/>
      <c:overlay val="0"/>
    </c:title>
    <c:autoTitleDeleted val="0"/>
    <c:plotArea>
      <c:layout/>
      <c:barChart>
        <c:barDir val="col"/>
        <c:grouping val="clustered"/>
        <c:varyColors val="0"/>
        <c:ser>
          <c:idx val="0"/>
          <c:order val="0"/>
          <c:tx>
            <c:strRef>
              <c:f>Sheet1!$B$1</c:f>
              <c:strCache>
                <c:ptCount val="1"/>
                <c:pt idx="0">
                  <c:v>po kawie (6 h przed snem)</c:v>
                </c:pt>
              </c:strCache>
            </c:strRef>
          </c:tx>
          <c:spPr>
            <a:solidFill>
              <a:srgbClr val="0057B8"/>
            </a:solidFill>
            <a:effectLst/>
          </c:spPr>
          <c:invertIfNegative val="0"/>
          <c:dLbls>
            <c:numFmt formatCode="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cat>
            <c:multiLvlStrRef>
              <c:f>Sheet1!$A$2:$A$6</c:f>
              <c:multiLvlStrCache>
                <c:ptCount val="5"/>
                <c:lvl>
                  <c:pt idx="0">
                    <c:v>Anna
(regularna)</c:v>
                  </c:pt>
                  <c:pt idx="1">
                    <c:v>Adam
(student)</c:v>
                  </c:pt>
                  <c:pt idx="2">
                    <c:v>Piotr
(kawa)</c:v>
                  </c:pt>
                  <c:pt idx="3">
                    <c:v>Michał
(nocny marek)</c:v>
                  </c:pt>
                  <c:pt idx="4">
                    <c:v>Katarzyna
(alkohol)</c:v>
                  </c:pt>
                </c:lvl>
              </c:multiLvlStrCache>
            </c:multiLvlStrRef>
          </c:cat>
          <c:val>
            <c:numRef>
              <c:f>Sheet1!$B$2:$B$6</c:f>
              <c:numCache>
                <c:formatCode>General</c:formatCode>
                <c:ptCount val="5"/>
                <c:pt idx="0">
                  <c:v>24</c:v>
                </c:pt>
                <c:pt idx="1">
                  <c:v>30.9</c:v>
                </c:pt>
                <c:pt idx="2">
                  <c:v>30.2</c:v>
                </c:pt>
                <c:pt idx="3">
                  <c:v>30.2</c:v>
                </c:pt>
                <c:pt idx="4">
                  <c:v>26.8</c:v>
                </c:pt>
              </c:numCache>
            </c:numRef>
          </c:val>
        </c:ser>
        <c:ser>
          <c:idx val="1"/>
          <c:order val="1"/>
          <c:tx>
            <c:strRef>
              <c:f>Sheet1!$C$1</c:f>
              <c:strCache>
                <c:ptCount val="1"/>
                <c:pt idx="0">
                  <c:v>bez kawy</c:v>
                </c:pt>
              </c:strCache>
            </c:strRef>
          </c:tx>
          <c:spPr>
            <a:solidFill>
              <a:srgbClr val="A8A8B0"/>
            </a:solidFill>
            <a:effectLst/>
          </c:spPr>
          <c:invertIfNegative val="0"/>
          <c:dLbls>
            <c:numFmt formatCode="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cat>
            <c:multiLvlStrRef>
              <c:f>Sheet1!$A$2:$A$6</c:f>
              <c:multiLvlStrCache>
                <c:ptCount val="5"/>
                <c:lvl>
                  <c:pt idx="0">
                    <c:v>Anna
(regularna)</c:v>
                  </c:pt>
                  <c:pt idx="1">
                    <c:v>Adam
(student)</c:v>
                  </c:pt>
                  <c:pt idx="2">
                    <c:v>Piotr
(kawa)</c:v>
                  </c:pt>
                  <c:pt idx="3">
                    <c:v>Michał
(nocny marek)</c:v>
                  </c:pt>
                  <c:pt idx="4">
                    <c:v>Katarzyna
(alkohol)</c:v>
                  </c:pt>
                </c:lvl>
              </c:multiLvlStrCache>
            </c:multiLvlStrRef>
          </c:cat>
          <c:val>
            <c:numRef>
              <c:f>Sheet1!$C$2:$C$6</c:f>
              <c:numCache>
                <c:formatCode>General</c:formatCode>
                <c:ptCount val="5"/>
                <c:pt idx="0">
                  <c:v>5.9</c:v>
                </c:pt>
                <c:pt idx="1">
                  <c:v>12.6</c:v>
                </c:pt>
                <c:pt idx="2">
                  <c:v>12.8</c:v>
                </c:pt>
                <c:pt idx="3">
                  <c:v>13.3</c:v>
                </c:pt>
                <c:pt idx="4">
                  <c:v>10.4</c:v>
                </c:pt>
              </c:numCache>
            </c:numRef>
          </c:val>
        </c:ser>
        <c:dLbls>
          <c:numFmt formatCode="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4646"/>
                </a:solidFill>
                <a:latin typeface="+mn-lt"/>
              </a:defRPr>
            </a:pPr>
            <a:endParaRPr lang="en-US"/>
          </a:p>
        </c:txPr>
        <c:crossAx val="2094734552"/>
        <c:crosses val="autoZero"/>
        <c:auto val="1"/>
        <c:lblAlgn val="ctr"/>
        <c:noMultiLvlLbl val="1"/>
      </c:catAx>
      <c:valAx>
        <c:axId val="2094734552"/>
        <c:scaling>
          <c:orientation val="minMax"/>
          <c:max val="40"/>
        </c:scaling>
        <c:delete val="0"/>
        <c:axPos val="l"/>
        <c:majorGridlines>
          <c:spPr>
            <a:ln w="9525" cap="flat">
              <a:solidFill>
                <a:srgbClr val="DFDF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C7C86"/>
                </a:solidFill>
                <a:latin typeface="+mn-lt"/>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300">
              <a:solidFill>
                <a:srgbClr val="46464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464646"/>
                </a:solidFill>
                <a:latin typeface="+mn-lt"/>
              </a:defRPr>
            </a:pPr>
            <a:r>
              <a:rPr sz="1600" b="0" i="0" u="none" strike="noStrike">
                <a:solidFill>
                  <a:srgbClr val="464646"/>
                </a:solidFill>
                <a:latin typeface="+mn-lt"/>
              </a:rPr>
              <a:t>Jakość snu (skala 1-10)</a:t>
            </a:r>
          </a:p>
        </c:rich>
      </c:tx>
      <c:layout/>
      <c:overlay val="0"/>
    </c:title>
    <c:autoTitleDeleted val="0"/>
    <c:plotArea>
      <c:layout/>
      <c:barChart>
        <c:barDir val="col"/>
        <c:grouping val="clustered"/>
        <c:varyColors val="0"/>
        <c:ser>
          <c:idx val="0"/>
          <c:order val="0"/>
          <c:tx>
            <c:strRef>
              <c:f>Sheet1!$B$1</c:f>
              <c:strCache>
                <c:ptCount val="1"/>
                <c:pt idx="0">
                  <c:v>po alkoholu (4 h przed snem)</c:v>
                </c:pt>
              </c:strCache>
            </c:strRef>
          </c:tx>
          <c:spPr>
            <a:solidFill>
              <a:srgbClr val="0057B8"/>
            </a:solidFill>
            <a:effectLst/>
          </c:spPr>
          <c:invertIfNegative val="0"/>
          <c:dLbls>
            <c:numFmt formatCode="0.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cat>
            <c:multiLvlStrRef>
              <c:f>Sheet1!$A$2:$A$6</c:f>
              <c:multiLvlStrCache>
                <c:ptCount val="5"/>
                <c:lvl>
                  <c:pt idx="0">
                    <c:v>Anna
(regularna)</c:v>
                  </c:pt>
                  <c:pt idx="1">
                    <c:v>Adam
(student)</c:v>
                  </c:pt>
                  <c:pt idx="2">
                    <c:v>Piotr
(kawa)</c:v>
                  </c:pt>
                  <c:pt idx="3">
                    <c:v>Michał
(nocny marek)</c:v>
                  </c:pt>
                  <c:pt idx="4">
                    <c:v>Katarzyna
(alkohol)</c:v>
                  </c:pt>
                </c:lvl>
              </c:multiLvlStrCache>
            </c:multiLvlStrRef>
          </c:cat>
          <c:val>
            <c:numRef>
              <c:f>Sheet1!$B$2:$B$6</c:f>
              <c:numCache>
                <c:formatCode>General</c:formatCode>
                <c:ptCount val="5"/>
                <c:pt idx="0">
                  <c:v>6.87</c:v>
                </c:pt>
                <c:pt idx="1">
                  <c:v>3.96</c:v>
                </c:pt>
                <c:pt idx="2">
                  <c:v>4</c:v>
                </c:pt>
                <c:pt idx="3">
                  <c:v>3.48</c:v>
                </c:pt>
                <c:pt idx="4">
                  <c:v>4.53</c:v>
                </c:pt>
              </c:numCache>
            </c:numRef>
          </c:val>
        </c:ser>
        <c:ser>
          <c:idx val="1"/>
          <c:order val="1"/>
          <c:tx>
            <c:strRef>
              <c:f>Sheet1!$C$1</c:f>
              <c:strCache>
                <c:ptCount val="1"/>
                <c:pt idx="0">
                  <c:v>bez alkoholu</c:v>
                </c:pt>
              </c:strCache>
            </c:strRef>
          </c:tx>
          <c:spPr>
            <a:solidFill>
              <a:srgbClr val="A8A8B0"/>
            </a:solidFill>
            <a:effectLst/>
          </c:spPr>
          <c:invertIfNegative val="0"/>
          <c:dLbls>
            <c:numFmt formatCode="0.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cat>
            <c:multiLvlStrRef>
              <c:f>Sheet1!$A$2:$A$6</c:f>
              <c:multiLvlStrCache>
                <c:ptCount val="5"/>
                <c:lvl>
                  <c:pt idx="0">
                    <c:v>Anna
(regularna)</c:v>
                  </c:pt>
                  <c:pt idx="1">
                    <c:v>Adam
(student)</c:v>
                  </c:pt>
                  <c:pt idx="2">
                    <c:v>Piotr
(kawa)</c:v>
                  </c:pt>
                  <c:pt idx="3">
                    <c:v>Michał
(nocny marek)</c:v>
                  </c:pt>
                  <c:pt idx="4">
                    <c:v>Katarzyna
(alkohol)</c:v>
                  </c:pt>
                </c:lvl>
              </c:multiLvlStrCache>
            </c:multiLvlStrRef>
          </c:cat>
          <c:val>
            <c:numRef>
              <c:f>Sheet1!$C$2:$C$6</c:f>
              <c:numCache>
                <c:formatCode>General</c:formatCode>
                <c:ptCount val="5"/>
                <c:pt idx="0">
                  <c:v>7.98</c:v>
                </c:pt>
                <c:pt idx="1">
                  <c:v>5.67</c:v>
                </c:pt>
                <c:pt idx="2">
                  <c:v>5.33</c:v>
                </c:pt>
                <c:pt idx="3">
                  <c:v>4.4</c:v>
                </c:pt>
                <c:pt idx="4">
                  <c:v>5.76</c:v>
                </c:pt>
              </c:numCache>
            </c:numRef>
          </c:val>
        </c:ser>
        <c:dLbls>
          <c:numFmt formatCode="0.0" sourceLinked="0"/>
          <c:txPr>
            <a:bodyPr/>
            <a:lstStyle/>
            <a:p>
              <a:pPr>
                <a:defRPr b="0" i="0" strike="noStrike" sz="1200" u="none">
                  <a:solidFill>
                    <a:srgbClr val="4646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4646"/>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DFDF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C7C86"/>
                </a:solidFill>
                <a:latin typeface="+mn-lt"/>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300">
              <a:solidFill>
                <a:srgbClr val="46464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Dzień dobry. Dzisiaj przedstawię aktualny stan prac nad aplikacją Sennik: przypomnę problem i cel, pokażę najważniejsze wymagania, architekturę i decyzje projektowe, a następnie stan implementacji, ryzyka i plan dalszych prac.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wiele osób czuje zmęczenie, ale nie wie, który nawyk za nie odpowiada. Przeanalizowałem trzy grupy rozwiązań: kalkulatory snu, Sleep as Android oraz Daylio. Każde pokrywa tylko fragment: albo sam sen, albo sam nastrój. Celem pracy jest aplikacja, która łączy dane z poranka i wieczoru w jednym rekordzie, liczy wskaźnik DayScore, pokazuje statystyki i na tej podstawie generuje rekomendacje. Rekomendacje mają charakter informacyjny, a nie medyczny.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Wymagania funkcjonalne odpowiadają ścieżce użytkownika: konto, dwa raporty dziennie, historia z edycją, statystyki i rekomendacje. Z niefunkcjonalnych najważniejsze są bezpieczeństwo, czyli hashowanie haseł i dostęp wyłącznie do własnych danych, poprawność danych, czyli walidacja zakresów po stronie API, oraz szybkość wpisu, bo aplikacja ma sens tylko wtedy, gdy użytkownik wypełnia ją codziennie. F1-F5 są zrealizowane, F6 to kolejny etap.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Architektura nie zmieniła się względem poprzedniego wystąpienia, ale jest już w większości zaimplementowana. Frontend w React komunikuje się z API przez REST, a każde zapytanie niesie token JWT. Backend ma trzy warstwy: routery z endpointami, warstwę crud i services z logiką, czyli wyliczaniem czasu snu, DayScore i agregatów do statystyk, oraz modele i schematy. Dane trafiają do PostgreSQL, a schemat bazy zmieniam migracjami Alembic. Nowym elementem jest generator danych syntetycznych, który zasila bazę historią wpisów. Moduł rekomendacji, zaznaczony linią przerywaną, będzie korzystał z tej samej warstwy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kluczowy element projektu. Raport poranny dnia D trafia do rekordu D. Z raportu wieczornego tylko ocena dnia zostaje w rekordzie D, natomiast stres i nawyki, czyli kawa, alkohol, ekrany i drzemka, zapisuję w rekordzie D+1, bo wpływają na noc, którą użytkownik opisze następnego ranka. Dzięki temu w jednym wierszu mam przyczynę, czyli wieczorne nawyki, i skutek, czyli sen, poranną energię i ocenę kolejnego dnia. Po prawej pełna struktura tabeli: dane poranne, wieczorne i dwie kolumny wyliczane.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Pierwsza grupa decyzji dotyczy danych. Po pierwsze, jeden rekord na dzień zamiast osobnych tabel dla raportu porannego i wieczornego: zapis działa jak upsert, więc nie ma znaczenia, który raport przyjdzie pierwszy. Po drugie, przesunięcie nawyków na D+1, o czym mówiłem przy modelu danych. Po trzecie, realny czas snu: użytkownik w profilu podaje swój typowy czas zasypiania, a rano wpisuje tylko ewentualne dodatkowe opóźnienie. Po czwarte, DayScore jako średnia ważona: ocena dnia ma wagę 0,5, a jakość snu i energia po przebudzeniu po 0,25. Wartości wyliczane zapisuję w bazie, dzięki czemu statystyki nie muszą ich liczyć przy każdym zapytaniu.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Druga grupa decyzji przygotowuje system do rekomendacji. Nawyki zbieram jako wartości kategoryczne, a nie dowolny tekst, więc wieczorny wpis zajmuje chwilę, a dane da się łatwo porównywać. Ponieważ nie mam jeszcze realnych użytkowników, przygotowałem generator danych syntetycznych z profili JSON. Dla rekomendacji kierunek wstępny to podejście hybrydowe: reguły wyliczają fakty z historii, a model językowy tylko ubiera je w czytelny opis. Ostateczny wybór modelu i dostawcy jest jeszcze otwarty. Uczenie maszynowe pozostaje opcją, zależną od ilości danych.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Obecnie działa pełna ścieżka użytkownika: rejestracja, logowanie, raport poranny i wieczorny, historia wpisów z możliwością edycji oraz panel statystyk z wyborem zakresu dat. Od poprzedniego wystąpienia doszły przede wszystkim historia z edycją, moduł statystyk oraz generator danych syntetycznych. Do zrobienia zostaje moduł rekomendacji, dopracowanie interfejsu, w tym panelu głównego, oraz testy. Równolegle mam w wersji roboczej konspekt, wstęp i przegląd istniejących rozwiązań.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Pokrótce dwa nowe moduły. Historia: lista wpisów z paginacją, podgląd szczegółów i edycja przez PATCH, w której można wysłać tylko zmieniane pola, a backend ponownie przelicza czas snu i DayScore. Statystyki: endpoint przyjmuje zakres dat i zwraca trzy części: okres z liczbą raportów, podsumowanie ze średnimi oraz punkty dzienne, które frontend rysuje biblioteką Recharts. Te same agregaty będą wejściem dla modułu rekomendacji.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Generator danych syntetycznych tworzy dla każdej persony około 940 dni historii, od stycznia 2024 do sierpnia 2026. Profil opisuje wartości bazowe, prawdopodobieństwa nawyków, różnice weekendowe oraz okresy specjalne, na przykład sesję u studenta czy deadline u pracownika. Wykresy pokazują, że w wygenerowanych danych widać zależności, które wbudowałem w generator: po kawie zasypianie wydłuża się o kilkanaście minut, a po alkoholu spada jakość snu. Dane służą do testowania statystyk i wykresów, a w kolejnym etapie do sprawdzenia, czy moduł reguł wykrywa te zależności.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Największym ryzykiem jest ograniczony czas, bo pracuję zawodowo równolegle z ostatnim etapem studiów. Dlatego dzielę zakres na część obowiązkową, czyli rekomendacje oparte na regułach i LLM oraz testy, i część opcjonalną, czyli moduł ML i rozbudowę interfejsu. Drugie ryzyko to mała ilość realnych danych, które ograniczam danymi syntetycznymi. Trzecie to nierozstrzygnięty wybór modelu językowego, dlatego najpierw buduję reguły niezależne od dostawcy, a LLM będzie wymienną warstwą.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na najbliższe miesiące. W listopadzie moduł reguł: liczenie zależności między nawykami a snem, porównanie tygodnia i weekendu, wybór modelu językowego i endpoint z rekomendacjami. W grudniu integracja LLM z widokiem rekomendacji, rozbudowa statystyk, panel główny i testy, a równolegle pisanie rozdziałów projektowych. W styczniu ewaluacja, czyli sprawdzenie, czy rekomendacje zgadzają się z zależnościami wbudowanymi w dane syntetyczne, dokończenie pracy i przygotowanie do obrony.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Dziękuję, chętnie odpowiem na pytania.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1463040" y="868680"/>
            <a:ext cx="15316200" cy="0"/>
          </a:xfrm>
          <a:prstGeom prst="line">
            <a:avLst/>
          </a:prstGeom>
          <a:noFill/>
          <a:ln w="13970">
            <a:solidFill>
              <a:schemeClr val="accent3"/>
            </a:solidFill>
            <a:prstDash val="solid"/>
          </a:ln>
        </p:spPr>
      </p:sp>
      <p:sp>
        <p:nvSpPr>
          <p:cNvPr id="3" name="Text 1"/>
          <p:cNvSpPr/>
          <p:nvPr>
            <p:ph idx="102" type="title" hasCustomPrompt="1"/>
          </p:nvPr>
        </p:nvSpPr>
        <p:spPr>
          <a:xfrm>
            <a:off x="1463040" y="2103120"/>
            <a:ext cx="14447520" cy="23774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4" name="Text 1"/>
          <p:cNvSpPr/>
          <p:nvPr>
            <p:ph idx="103" type="body" hasCustomPrompt="1"/>
          </p:nvPr>
        </p:nvSpPr>
        <p:spPr>
          <a:xfrm>
            <a:off x="1463040" y="4754880"/>
            <a:ext cx="12984480" cy="1188720"/>
          </a:xfrm>
          <a:prstGeom prst="rect">
            <a:avLst/>
          </a:prstGeom>
          <a:noFill/>
          <a:ln/>
        </p:spPr>
        <p:txBody>
          <a:bodyPr wrap="square" rtlCol="0"/>
          <a:lstStyle>
            <a:lvl1pPr indent="0" marL="0">
              <a:buNone/>
              <a:defRPr lang="en-US" sz="2300" dirty="0">
                <a:solidFill>
                  <a:schemeClr val="tx1"/>
                </a:solidFill>
              </a:defRPr>
            </a:lvl1pPr>
          </a:lstStyle>
          <a:p>
            <a:pPr indent="0" marL="0">
              <a:buNone/>
            </a:pPr>
            <a:endParaRPr lang="en-US" sz="2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1463040" y="868680"/>
            <a:ext cx="15316200" cy="0"/>
          </a:xfrm>
          <a:prstGeom prst="line">
            <a:avLst/>
          </a:prstGeom>
          <a:noFill/>
          <a:ln w="13970">
            <a:solidFill>
              <a:schemeClr val="accent3"/>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rtlCol="0"/>
          <a:lstStyle>
            <a:lvl1pPr algn="l" indent="0" marL="0">
              <a:buNone/>
              <a:defRPr lang="en-US" sz="5200" b="1" dirty="0">
                <a:solidFill>
                  <a:schemeClr val="tx1"/>
                </a:solidFill>
              </a:defRPr>
            </a:lvl1pPr>
          </a:lstStyle>
          <a:p>
            <a:pPr algn="l" indent="0" marL="0">
              <a:buNone/>
            </a:pP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rtlCol="0"/>
          <a:lstStyle>
            <a:lvl1pPr indent="0" marL="0">
              <a:buNone/>
              <a:defRPr lang="en-US" sz="2200" dirty="0">
                <a:solidFill>
                  <a:schemeClr val="tx1"/>
                </a:solidFill>
              </a:defRPr>
            </a:lvl1pPr>
          </a:lstStyle>
          <a:p>
            <a:pPr indent="0" marL="0">
              <a:buNone/>
            </a:pPr>
            <a:endParaRPr lang="en-US" sz="220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SLID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1463040" y="868680"/>
            <a:ext cx="15316200" cy="0"/>
          </a:xfrm>
          <a:prstGeom prst="line">
            <a:avLst/>
          </a:prstGeom>
          <a:noFill/>
          <a:ln w="27940">
            <a:solidFill>
              <a:schemeClr val="tx2"/>
            </a:solidFill>
            <a:prstDash val="solid"/>
          </a:ln>
        </p:spPr>
      </p:sp>
      <p:sp>
        <p:nvSpPr>
          <p:cNvPr id="3" name="Text 1"/>
          <p:cNvSpPr/>
          <p:nvPr>
            <p:ph idx="101" type="title" hasCustomPrompt="1"/>
          </p:nvPr>
        </p:nvSpPr>
        <p:spPr>
          <a:xfrm>
            <a:off x="1828800" y="3840480"/>
            <a:ext cx="14630400" cy="1828800"/>
          </a:xfrm>
          <a:prstGeom prst="rect">
            <a:avLst/>
          </a:prstGeom>
          <a:noFill/>
          <a:ln/>
        </p:spPr>
        <p:txBody>
          <a:bodyPr wrap="square" rtlCol="0"/>
          <a:lstStyle>
            <a:lvl1pPr algn="ctr" indent="0" marL="0">
              <a:buNone/>
              <a:defRPr lang="en-US" sz="6600" b="1" dirty="0">
                <a:solidFill>
                  <a:schemeClr val="tx1"/>
                </a:solidFill>
              </a:defRPr>
            </a:lvl1pPr>
          </a:lstStyle>
          <a:p>
            <a:pPr algn="ctr"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asek postępu"/>
          <p:cNvSpPr/>
          <p:nvPr/>
        </p:nvSpPr>
        <p:spPr>
          <a:xfrm>
            <a:off x="1463040" y="868680"/>
            <a:ext cx="1178169" cy="0"/>
          </a:xfrm>
          <a:prstGeom prst="line">
            <a:avLst/>
          </a:prstGeom>
          <a:noFill/>
          <a:ln w="27940">
            <a:solidFill>
              <a:schemeClr val="tx2"/>
            </a:solidFill>
            <a:prstDash val="solid"/>
          </a:ln>
        </p:spPr>
      </p:sp>
      <p:sp>
        <p:nvSpPr>
          <p:cNvPr id="3" name="Text 1"/>
          <p:cNvSpPr/>
          <p:nvPr>
            <p:ph idx="102" type="title" hasCustomPrompt="1"/>
          </p:nvPr>
        </p:nvSpPr>
        <p:spPr>
          <a:xfrm>
            <a:off x="1463040" y="2103120"/>
            <a:ext cx="14447520" cy="2377440"/>
          </a:xfrm>
          <a:prstGeom prst="rect">
            <a:avLst/>
          </a:prstGeom>
          <a:noFill/>
          <a:ln/>
        </p:spPr>
        <p:txBody>
          <a:bodyPr wrap="square" lIns="0" tIns="0" rIns="0" bIns="0" rtlCol="0" anchor="b"/>
          <a:lstStyle/>
          <a:p>
            <a:pPr algn="l" indent="0" marL="0">
              <a:buNone/>
            </a:pPr>
            <a:r>
              <a:rPr lang="en-US" sz="5400" b="1" dirty="0">
                <a:solidFill>
                  <a:schemeClr val="tx1"/>
                </a:solidFill>
              </a:rPr>
              <a:t>Wystąpienie 3 - aktualny postęp prac</a:t>
            </a:r>
            <a:endParaRPr lang="en-US" sz="5400" dirty="0"/>
          </a:p>
        </p:txBody>
      </p:sp>
      <p:sp>
        <p:nvSpPr>
          <p:cNvPr id="4" name="Text 1"/>
          <p:cNvSpPr/>
          <p:nvPr>
            <p:ph idx="103" type="body" hasCustomPrompt="1"/>
          </p:nvPr>
        </p:nvSpPr>
        <p:spPr>
          <a:xfrm>
            <a:off x="1463040" y="4754880"/>
            <a:ext cx="12984480" cy="1188720"/>
          </a:xfrm>
          <a:prstGeom prst="rect">
            <a:avLst/>
          </a:prstGeom>
          <a:noFill/>
          <a:ln/>
        </p:spPr>
        <p:txBody>
          <a:bodyPr wrap="square" lIns="0" tIns="0" rIns="0" bIns="0" rtlCol="0" anchor="t"/>
          <a:lstStyle/>
          <a:p>
            <a:pPr indent="0" marL="0">
              <a:buNone/>
            </a:pPr>
            <a:r>
              <a:rPr lang="en-US" sz="2300" dirty="0">
                <a:solidFill>
                  <a:schemeClr val="tx1"/>
                </a:solidFill>
              </a:rPr>
              <a:t>Projekt i implementacja aplikacji webowej do analizy danych dotyczących snu i dziennego samopoczucia użytkownika z generowaniem rekomendacji</a:t>
            </a:r>
            <a:endParaRPr lang="en-US" sz="2300" dirty="0"/>
          </a:p>
        </p:txBody>
      </p:sp>
      <p:sp>
        <p:nvSpPr>
          <p:cNvPr id="5" name="Autor"/>
          <p:cNvSpPr/>
          <p:nvPr/>
        </p:nvSpPr>
        <p:spPr>
          <a:xfrm>
            <a:off x="1508760" y="8092440"/>
            <a:ext cx="2743200" cy="457200"/>
          </a:xfrm>
          <a:prstGeom prst="roundRect">
            <a:avLst>
              <a:gd name="adj" fmla="val 50000"/>
            </a:avLst>
          </a:prstGeom>
          <a:solidFill>
            <a:schemeClr val="bg1"/>
          </a:solidFill>
          <a:ln w="13970">
            <a:solidFill>
              <a:schemeClr val="tx1"/>
            </a:solidFill>
            <a:prstDash val="solid"/>
          </a:ln>
        </p:spPr>
      </p:sp>
      <p:sp>
        <p:nvSpPr>
          <p:cNvPr id="6" name="Text 4"/>
          <p:cNvSpPr txBox="1"/>
          <p:nvPr/>
        </p:nvSpPr>
        <p:spPr>
          <a:xfrm>
            <a:off x="1508760" y="8092440"/>
            <a:ext cx="2743200" cy="457200"/>
          </a:xfrm>
          <a:prstGeom prst="rect">
            <a:avLst/>
          </a:prstGeom>
          <a:noFill/>
          <a:ln/>
        </p:spPr>
        <p:txBody>
          <a:bodyPr wrap="square" lIns="0" tIns="0" rIns="0" bIns="0" rtlCol="0" anchor="ctr"/>
          <a:lstStyle/>
          <a:p>
            <a:pPr algn="ctr" indent="0" marL="0">
              <a:lnSpc>
                <a:spcPct val="100000"/>
              </a:lnSpc>
              <a:buNone/>
            </a:pPr>
            <a:r>
              <a:rPr lang="en-US" sz="1700" dirty="0">
                <a:solidFill>
                  <a:schemeClr val="tx1"/>
                </a:solidFill>
              </a:rPr>
              <a:t>Maciej Zadrożny</a:t>
            </a:r>
            <a:endParaRPr lang="en-US" sz="1700" dirty="0"/>
          </a:p>
        </p:txBody>
      </p:sp>
      <p:sp>
        <p:nvSpPr>
          <p:cNvPr id="7" name="Text 5"/>
          <p:cNvSpPr txBox="1"/>
          <p:nvPr/>
        </p:nvSpPr>
        <p:spPr>
          <a:xfrm>
            <a:off x="10607040" y="8138160"/>
            <a:ext cx="6035040" cy="411480"/>
          </a:xfrm>
          <a:prstGeom prst="rect">
            <a:avLst/>
          </a:prstGeom>
          <a:noFill/>
          <a:ln/>
        </p:spPr>
        <p:txBody>
          <a:bodyPr wrap="square" lIns="0" tIns="0" rIns="0" bIns="0" rtlCol="0" anchor="ctr"/>
          <a:lstStyle/>
          <a:p>
            <a:pPr algn="r" indent="0" marL="0">
              <a:lnSpc>
                <a:spcPct val="100000"/>
              </a:lnSpc>
              <a:buNone/>
            </a:pPr>
            <a:r>
              <a:rPr lang="en-US" sz="1700" dirty="0">
                <a:solidFill>
                  <a:schemeClr val="tx1"/>
                </a:solidFill>
              </a:rPr>
              <a:t>Promotor: dr inż. Tomasz Łukaszuk</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sek postępu"/>
          <p:cNvSpPr/>
          <p:nvPr/>
        </p:nvSpPr>
        <p:spPr>
          <a:xfrm>
            <a:off x="1463040" y="868680"/>
            <a:ext cx="2356338"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Problem i cel</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Dane o śnie i samopoczuciu istnieją, ale rzadko są łączone w jedną, zrozumiałą całość.</a:t>
            </a:r>
            <a:endParaRPr lang="en-US" sz="2200" dirty="0"/>
          </a:p>
        </p:txBody>
      </p:sp>
      <p:sp>
        <p:nvSpPr>
          <p:cNvPr id="5" name="Text 3"/>
          <p:cNvSpPr txBox="1"/>
          <p:nvPr/>
        </p:nvSpPr>
        <p:spPr>
          <a:xfrm>
            <a:off x="1463040" y="3703320"/>
            <a:ext cx="731520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tx1"/>
                </a:solidFill>
              </a:rPr>
              <a:t>Problem</a:t>
            </a:r>
            <a:endParaRPr lang="en-US" sz="2300" dirty="0"/>
          </a:p>
        </p:txBody>
      </p:sp>
      <p:sp>
        <p:nvSpPr>
          <p:cNvPr id="6" name="Punktor"/>
          <p:cNvSpPr/>
          <p:nvPr/>
        </p:nvSpPr>
        <p:spPr>
          <a:xfrm>
            <a:off x="1508760" y="4455414"/>
            <a:ext cx="128016" cy="128016"/>
          </a:xfrm>
          <a:prstGeom prst="ellipse">
            <a:avLst/>
          </a:prstGeom>
          <a:solidFill>
            <a:schemeClr val="accent1"/>
          </a:solidFill>
          <a:ln w="19050">
            <a:solidFill>
              <a:schemeClr val="accent1"/>
            </a:solidFill>
            <a:prstDash val="solid"/>
          </a:ln>
        </p:spPr>
      </p:sp>
      <p:sp>
        <p:nvSpPr>
          <p:cNvPr id="7" name="Text 5"/>
          <p:cNvSpPr txBox="1"/>
          <p:nvPr/>
        </p:nvSpPr>
        <p:spPr>
          <a:xfrm>
            <a:off x="1856232" y="4343400"/>
            <a:ext cx="8247888" cy="749808"/>
          </a:xfrm>
          <a:prstGeom prst="rect">
            <a:avLst/>
          </a:prstGeom>
          <a:noFill/>
          <a:ln/>
        </p:spPr>
        <p:txBody>
          <a:bodyPr wrap="square" lIns="0" tIns="0" rIns="0" bIns="0" rtlCol="0" anchor="t"/>
          <a:lstStyle/>
          <a:p>
            <a:pPr algn="l" indent="0" marL="0">
              <a:lnSpc>
                <a:spcPct val="100000"/>
              </a:lnSpc>
              <a:buNone/>
            </a:pPr>
            <a:r>
              <a:rPr lang="en-US" sz="2100" dirty="0">
                <a:solidFill>
                  <a:schemeClr val="tx1"/>
                </a:solidFill>
              </a:rPr>
              <a:t>użytkownik nie wie, które nawyki (kawa, alkohol, ekrany, stres) realnie pogarszają jego sen,</a:t>
            </a:r>
            <a:endParaRPr lang="en-US" sz="2100" dirty="0"/>
          </a:p>
        </p:txBody>
      </p:sp>
      <p:sp>
        <p:nvSpPr>
          <p:cNvPr id="8" name="Punktor"/>
          <p:cNvSpPr/>
          <p:nvPr/>
        </p:nvSpPr>
        <p:spPr>
          <a:xfrm>
            <a:off x="1508760" y="5205222"/>
            <a:ext cx="128016" cy="128016"/>
          </a:xfrm>
          <a:prstGeom prst="ellipse">
            <a:avLst/>
          </a:prstGeom>
          <a:solidFill>
            <a:schemeClr val="accent1"/>
          </a:solidFill>
          <a:ln w="19050">
            <a:solidFill>
              <a:schemeClr val="accent1"/>
            </a:solidFill>
            <a:prstDash val="solid"/>
          </a:ln>
        </p:spPr>
      </p:sp>
      <p:sp>
        <p:nvSpPr>
          <p:cNvPr id="9" name="Text 7"/>
          <p:cNvSpPr txBox="1"/>
          <p:nvPr/>
        </p:nvSpPr>
        <p:spPr>
          <a:xfrm>
            <a:off x="1856232" y="5093208"/>
            <a:ext cx="8247888" cy="749808"/>
          </a:xfrm>
          <a:prstGeom prst="rect">
            <a:avLst/>
          </a:prstGeom>
          <a:noFill/>
          <a:ln/>
        </p:spPr>
        <p:txBody>
          <a:bodyPr wrap="square" lIns="0" tIns="0" rIns="0" bIns="0" rtlCol="0" anchor="t"/>
          <a:lstStyle/>
          <a:p>
            <a:pPr algn="l" indent="0" marL="0">
              <a:lnSpc>
                <a:spcPct val="100000"/>
              </a:lnSpc>
              <a:buNone/>
            </a:pPr>
            <a:r>
              <a:rPr lang="en-US" sz="2100" dirty="0">
                <a:solidFill>
                  <a:schemeClr val="tx1"/>
                </a:solidFill>
              </a:rPr>
              <a:t>zmęczenie odczuwane rano nie wskazuje przyczyny gorszego dnia,</a:t>
            </a:r>
            <a:endParaRPr lang="en-US" sz="2100" dirty="0"/>
          </a:p>
        </p:txBody>
      </p:sp>
      <p:sp>
        <p:nvSpPr>
          <p:cNvPr id="10" name="Punktor"/>
          <p:cNvSpPr/>
          <p:nvPr/>
        </p:nvSpPr>
        <p:spPr>
          <a:xfrm>
            <a:off x="1508760" y="5955030"/>
            <a:ext cx="128016" cy="128016"/>
          </a:xfrm>
          <a:prstGeom prst="ellipse">
            <a:avLst/>
          </a:prstGeom>
          <a:solidFill>
            <a:schemeClr val="accent1"/>
          </a:solidFill>
          <a:ln w="19050">
            <a:solidFill>
              <a:schemeClr val="accent1"/>
            </a:solidFill>
            <a:prstDash val="solid"/>
          </a:ln>
        </p:spPr>
      </p:sp>
      <p:sp>
        <p:nvSpPr>
          <p:cNvPr id="11" name="Text 9"/>
          <p:cNvSpPr txBox="1"/>
          <p:nvPr/>
        </p:nvSpPr>
        <p:spPr>
          <a:xfrm>
            <a:off x="1856232" y="5843016"/>
            <a:ext cx="8247888" cy="749808"/>
          </a:xfrm>
          <a:prstGeom prst="rect">
            <a:avLst/>
          </a:prstGeom>
          <a:noFill/>
          <a:ln/>
        </p:spPr>
        <p:txBody>
          <a:bodyPr wrap="square" lIns="0" tIns="0" rIns="0" bIns="0" rtlCol="0" anchor="t"/>
          <a:lstStyle/>
          <a:p>
            <a:pPr algn="l" indent="0" marL="0">
              <a:lnSpc>
                <a:spcPct val="100000"/>
              </a:lnSpc>
              <a:buNone/>
            </a:pPr>
            <a:r>
              <a:rPr lang="en-US" sz="2100" dirty="0">
                <a:solidFill>
                  <a:schemeClr val="tx1"/>
                </a:solidFill>
              </a:rPr>
              <a:t>istniejące narzędzia obejmują tylko fragment problemu.</a:t>
            </a:r>
            <a:endParaRPr lang="en-US" sz="2100" dirty="0"/>
          </a:p>
        </p:txBody>
      </p:sp>
      <p:sp>
        <p:nvSpPr>
          <p:cNvPr id="12" name="Cel pracy"/>
          <p:cNvSpPr/>
          <p:nvPr/>
        </p:nvSpPr>
        <p:spPr>
          <a:xfrm>
            <a:off x="10607040" y="3657600"/>
            <a:ext cx="6217920" cy="2514600"/>
          </a:xfrm>
          <a:prstGeom prst="roundRect">
            <a:avLst>
              <a:gd name="adj" fmla="val 5091"/>
            </a:avLst>
          </a:prstGeom>
          <a:solidFill>
            <a:schemeClr val="accent2"/>
          </a:solidFill>
          <a:ln w="16510">
            <a:solidFill>
              <a:schemeClr val="accent1"/>
            </a:solidFill>
            <a:prstDash val="solid"/>
          </a:ln>
        </p:spPr>
      </p:sp>
      <p:sp>
        <p:nvSpPr>
          <p:cNvPr id="13" name="Text 11"/>
          <p:cNvSpPr txBox="1"/>
          <p:nvPr/>
        </p:nvSpPr>
        <p:spPr>
          <a:xfrm>
            <a:off x="10972800" y="3886200"/>
            <a:ext cx="548640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accent1"/>
                </a:solidFill>
              </a:rPr>
              <a:t>Cel pracy</a:t>
            </a:r>
            <a:endParaRPr lang="en-US" sz="2300" dirty="0"/>
          </a:p>
        </p:txBody>
      </p:sp>
      <p:sp>
        <p:nvSpPr>
          <p:cNvPr id="14" name="Text 12"/>
          <p:cNvSpPr txBox="1"/>
          <p:nvPr/>
        </p:nvSpPr>
        <p:spPr>
          <a:xfrm>
            <a:off x="10972800" y="4434840"/>
            <a:ext cx="5532120" cy="1645920"/>
          </a:xfrm>
          <a:prstGeom prst="rect">
            <a:avLst/>
          </a:prstGeom>
          <a:noFill/>
          <a:ln/>
        </p:spPr>
        <p:txBody>
          <a:bodyPr wrap="square" lIns="0" tIns="0" rIns="0" bIns="0" rtlCol="0" anchor="t"/>
          <a:lstStyle/>
          <a:p>
            <a:pPr algn="l" indent="0" marL="0">
              <a:lnSpc>
                <a:spcPct val="105000"/>
              </a:lnSpc>
              <a:buNone/>
            </a:pPr>
            <a:r>
              <a:rPr lang="en-US" sz="1900" dirty="0">
                <a:solidFill>
                  <a:schemeClr val="tx1"/>
                </a:solidFill>
              </a:rPr>
              <a:t>Aplikacja webowa łącząca raport poranny i wieczorny w jeden dzienny log, wyliczająca DayScore, statystyki oraz rekomendacje o charakterze informacyjnym (nie diagnostycznym).</a:t>
            </a:r>
            <a:endParaRPr lang="en-US" sz="1900" dirty="0"/>
          </a:p>
        </p:txBody>
      </p:sp>
      <p:sp>
        <p:nvSpPr>
          <p:cNvPr id="15" name="Text 13"/>
          <p:cNvSpPr txBox="1"/>
          <p:nvPr/>
        </p:nvSpPr>
        <p:spPr>
          <a:xfrm>
            <a:off x="1463040" y="6675120"/>
            <a:ext cx="1097280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accent4"/>
                </a:solidFill>
              </a:rPr>
              <a:t>Przegląd istniejących rozwiązań (rozdz. 2 pracy)</a:t>
            </a:r>
            <a:endParaRPr lang="en-US" sz="1900" dirty="0"/>
          </a:p>
        </p:txBody>
      </p:sp>
      <p:sp>
        <p:nvSpPr>
          <p:cNvPr id="16" name="Karta"/>
          <p:cNvSpPr/>
          <p:nvPr/>
        </p:nvSpPr>
        <p:spPr>
          <a:xfrm>
            <a:off x="1463040" y="7223760"/>
            <a:ext cx="4846320" cy="2103120"/>
          </a:xfrm>
          <a:prstGeom prst="roundRect">
            <a:avLst>
              <a:gd name="adj" fmla="val 6087"/>
            </a:avLst>
          </a:prstGeom>
          <a:solidFill>
            <a:schemeClr val="bg1"/>
          </a:solidFill>
          <a:ln w="12700">
            <a:solidFill>
              <a:schemeClr val="accent3"/>
            </a:solidFill>
            <a:prstDash val="solid"/>
          </a:ln>
        </p:spPr>
      </p:sp>
      <p:sp>
        <p:nvSpPr>
          <p:cNvPr id="17" name="Text 15"/>
          <p:cNvSpPr txBox="1"/>
          <p:nvPr/>
        </p:nvSpPr>
        <p:spPr>
          <a:xfrm>
            <a:off x="1737360" y="7406640"/>
            <a:ext cx="4297680" cy="41148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Kalkulatory snu</a:t>
            </a:r>
            <a:endParaRPr lang="en-US" sz="2000" dirty="0"/>
          </a:p>
        </p:txBody>
      </p:sp>
      <p:sp>
        <p:nvSpPr>
          <p:cNvPr id="18" name="Text 16"/>
          <p:cNvSpPr txBox="1"/>
          <p:nvPr/>
        </p:nvSpPr>
        <p:spPr>
          <a:xfrm>
            <a:off x="1737360" y="7882128"/>
            <a:ext cx="4343400" cy="132588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uniwersalny wzór 90 min, brak historii i danych o samopoczuciu</a:t>
            </a:r>
            <a:endParaRPr lang="en-US" sz="1700" dirty="0"/>
          </a:p>
        </p:txBody>
      </p:sp>
      <p:sp>
        <p:nvSpPr>
          <p:cNvPr id="19" name="Karta"/>
          <p:cNvSpPr/>
          <p:nvPr/>
        </p:nvSpPr>
        <p:spPr>
          <a:xfrm>
            <a:off x="6629400" y="7223760"/>
            <a:ext cx="4846320" cy="2103120"/>
          </a:xfrm>
          <a:prstGeom prst="roundRect">
            <a:avLst>
              <a:gd name="adj" fmla="val 6087"/>
            </a:avLst>
          </a:prstGeom>
          <a:solidFill>
            <a:schemeClr val="bg1"/>
          </a:solidFill>
          <a:ln w="12700">
            <a:solidFill>
              <a:schemeClr val="accent3"/>
            </a:solidFill>
            <a:prstDash val="solid"/>
          </a:ln>
        </p:spPr>
      </p:sp>
      <p:sp>
        <p:nvSpPr>
          <p:cNvPr id="20" name="Text 18"/>
          <p:cNvSpPr txBox="1"/>
          <p:nvPr/>
        </p:nvSpPr>
        <p:spPr>
          <a:xfrm>
            <a:off x="6903720" y="7406640"/>
            <a:ext cx="4297680" cy="41148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Sleep as Android</a:t>
            </a:r>
            <a:endParaRPr lang="en-US" sz="2000" dirty="0"/>
          </a:p>
        </p:txBody>
      </p:sp>
      <p:sp>
        <p:nvSpPr>
          <p:cNvPr id="21" name="Text 19"/>
          <p:cNvSpPr txBox="1"/>
          <p:nvPr/>
        </p:nvSpPr>
        <p:spPr>
          <a:xfrm>
            <a:off x="6903720" y="7882128"/>
            <a:ext cx="4343400" cy="132588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szczegółowa analiza nocy z sensorów, słabe powiązanie z oceną dnia; część funkcji płatna</a:t>
            </a:r>
            <a:endParaRPr lang="en-US" sz="1700" dirty="0"/>
          </a:p>
        </p:txBody>
      </p:sp>
      <p:sp>
        <p:nvSpPr>
          <p:cNvPr id="22" name="Karta"/>
          <p:cNvSpPr/>
          <p:nvPr/>
        </p:nvSpPr>
        <p:spPr>
          <a:xfrm>
            <a:off x="11795760" y="7223760"/>
            <a:ext cx="4846320" cy="2103120"/>
          </a:xfrm>
          <a:prstGeom prst="roundRect">
            <a:avLst>
              <a:gd name="adj" fmla="val 6087"/>
            </a:avLst>
          </a:prstGeom>
          <a:solidFill>
            <a:schemeClr val="bg1"/>
          </a:solidFill>
          <a:ln w="12700">
            <a:solidFill>
              <a:schemeClr val="accent3"/>
            </a:solidFill>
            <a:prstDash val="solid"/>
          </a:ln>
        </p:spPr>
      </p:sp>
      <p:sp>
        <p:nvSpPr>
          <p:cNvPr id="23" name="Text 21"/>
          <p:cNvSpPr txBox="1"/>
          <p:nvPr/>
        </p:nvSpPr>
        <p:spPr>
          <a:xfrm>
            <a:off x="12070080" y="7406640"/>
            <a:ext cx="4297680" cy="41148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Daylio</a:t>
            </a:r>
            <a:endParaRPr lang="en-US" sz="2000" dirty="0"/>
          </a:p>
        </p:txBody>
      </p:sp>
      <p:sp>
        <p:nvSpPr>
          <p:cNvPr id="24" name="Text 22"/>
          <p:cNvSpPr txBox="1"/>
          <p:nvPr/>
        </p:nvSpPr>
        <p:spPr>
          <a:xfrm>
            <a:off x="12070080" y="7882128"/>
            <a:ext cx="4343400" cy="132588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nastrój i aktywności, brak szczegółów snu (godziny, wybudzenia, realny czas snu)</a:t>
            </a:r>
            <a:endParaRPr lang="en-US" sz="170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sek postępu"/>
          <p:cNvSpPr/>
          <p:nvPr/>
        </p:nvSpPr>
        <p:spPr>
          <a:xfrm>
            <a:off x="1463040" y="868680"/>
            <a:ext cx="3534508"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Najważniejsze wymagania</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Wymagania funkcjonalne opisują ścieżkę użytkownika, niefunkcjonalne - jakość i bezpieczeństwo danych.</a:t>
            </a:r>
            <a:endParaRPr lang="en-US" sz="2200" dirty="0"/>
          </a:p>
        </p:txBody>
      </p:sp>
      <p:sp>
        <p:nvSpPr>
          <p:cNvPr id="5" name="Karta"/>
          <p:cNvSpPr/>
          <p:nvPr/>
        </p:nvSpPr>
        <p:spPr>
          <a:xfrm>
            <a:off x="1463040" y="3611880"/>
            <a:ext cx="7452360" cy="5806440"/>
          </a:xfrm>
          <a:prstGeom prst="roundRect">
            <a:avLst>
              <a:gd name="adj" fmla="val 2205"/>
            </a:avLst>
          </a:prstGeom>
          <a:solidFill>
            <a:schemeClr val="bg1"/>
          </a:solidFill>
          <a:ln w="12700">
            <a:solidFill>
              <a:schemeClr val="accent3"/>
            </a:solidFill>
            <a:prstDash val="solid"/>
          </a:ln>
        </p:spPr>
      </p:sp>
      <p:sp>
        <p:nvSpPr>
          <p:cNvPr id="6" name="Text 4"/>
          <p:cNvSpPr txBox="1"/>
          <p:nvPr/>
        </p:nvSpPr>
        <p:spPr>
          <a:xfrm>
            <a:off x="1828800" y="3840480"/>
            <a:ext cx="676656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tx1"/>
                </a:solidFill>
              </a:rPr>
              <a:t>Funkcjonalne</a:t>
            </a:r>
            <a:endParaRPr lang="en-US" sz="2300" dirty="0"/>
          </a:p>
        </p:txBody>
      </p:sp>
      <p:sp>
        <p:nvSpPr>
          <p:cNvPr id="7" name="Etykieta"/>
          <p:cNvSpPr/>
          <p:nvPr/>
        </p:nvSpPr>
        <p:spPr>
          <a:xfrm>
            <a:off x="1828800" y="4562856"/>
            <a:ext cx="658368" cy="365760"/>
          </a:xfrm>
          <a:prstGeom prst="roundRect">
            <a:avLst>
              <a:gd name="adj" fmla="val 50000"/>
            </a:avLst>
          </a:prstGeom>
          <a:solidFill>
            <a:schemeClr val="accent1"/>
          </a:solidFill>
          <a:ln w="15240">
            <a:solidFill>
              <a:schemeClr val="accent1"/>
            </a:solidFill>
            <a:prstDash val="solid"/>
          </a:ln>
        </p:spPr>
      </p:sp>
      <p:sp>
        <p:nvSpPr>
          <p:cNvPr id="8" name="Text 6"/>
          <p:cNvSpPr txBox="1"/>
          <p:nvPr/>
        </p:nvSpPr>
        <p:spPr>
          <a:xfrm>
            <a:off x="1828800" y="4562856"/>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F1</a:t>
            </a:r>
            <a:endParaRPr lang="en-US" sz="1500" dirty="0"/>
          </a:p>
        </p:txBody>
      </p:sp>
      <p:sp>
        <p:nvSpPr>
          <p:cNvPr id="9" name="Text 7"/>
          <p:cNvSpPr txBox="1"/>
          <p:nvPr/>
        </p:nvSpPr>
        <p:spPr>
          <a:xfrm>
            <a:off x="2697480" y="4526280"/>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Rejestracja i logowanie (token JWT)</a:t>
            </a:r>
            <a:endParaRPr lang="en-US" sz="1900" dirty="0"/>
          </a:p>
        </p:txBody>
      </p:sp>
      <p:sp>
        <p:nvSpPr>
          <p:cNvPr id="10" name="Etykieta"/>
          <p:cNvSpPr/>
          <p:nvPr/>
        </p:nvSpPr>
        <p:spPr>
          <a:xfrm>
            <a:off x="1828800" y="5349240"/>
            <a:ext cx="658368" cy="365760"/>
          </a:xfrm>
          <a:prstGeom prst="roundRect">
            <a:avLst>
              <a:gd name="adj" fmla="val 50000"/>
            </a:avLst>
          </a:prstGeom>
          <a:solidFill>
            <a:schemeClr val="accent1"/>
          </a:solidFill>
          <a:ln w="15240">
            <a:solidFill>
              <a:schemeClr val="accent1"/>
            </a:solidFill>
            <a:prstDash val="solid"/>
          </a:ln>
        </p:spPr>
      </p:sp>
      <p:sp>
        <p:nvSpPr>
          <p:cNvPr id="11" name="Text 9"/>
          <p:cNvSpPr txBox="1"/>
          <p:nvPr/>
        </p:nvSpPr>
        <p:spPr>
          <a:xfrm>
            <a:off x="1828800" y="5349240"/>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F2</a:t>
            </a:r>
            <a:endParaRPr lang="en-US" sz="1500" dirty="0"/>
          </a:p>
        </p:txBody>
      </p:sp>
      <p:sp>
        <p:nvSpPr>
          <p:cNvPr id="12" name="Text 10"/>
          <p:cNvSpPr txBox="1"/>
          <p:nvPr/>
        </p:nvSpPr>
        <p:spPr>
          <a:xfrm>
            <a:off x="2697480" y="5312664"/>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Raport poranny: godziny snu, jakość, wybudzenia, energia</a:t>
            </a:r>
            <a:endParaRPr lang="en-US" sz="1900" dirty="0"/>
          </a:p>
        </p:txBody>
      </p:sp>
      <p:sp>
        <p:nvSpPr>
          <p:cNvPr id="13" name="Etykieta"/>
          <p:cNvSpPr/>
          <p:nvPr/>
        </p:nvSpPr>
        <p:spPr>
          <a:xfrm>
            <a:off x="1828800" y="6135624"/>
            <a:ext cx="658368" cy="365760"/>
          </a:xfrm>
          <a:prstGeom prst="roundRect">
            <a:avLst>
              <a:gd name="adj" fmla="val 50000"/>
            </a:avLst>
          </a:prstGeom>
          <a:solidFill>
            <a:schemeClr val="accent1"/>
          </a:solidFill>
          <a:ln w="15240">
            <a:solidFill>
              <a:schemeClr val="accent1"/>
            </a:solidFill>
            <a:prstDash val="solid"/>
          </a:ln>
        </p:spPr>
      </p:sp>
      <p:sp>
        <p:nvSpPr>
          <p:cNvPr id="14" name="Text 12"/>
          <p:cNvSpPr txBox="1"/>
          <p:nvPr/>
        </p:nvSpPr>
        <p:spPr>
          <a:xfrm>
            <a:off x="1828800" y="6135624"/>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F3</a:t>
            </a:r>
            <a:endParaRPr lang="en-US" sz="1500" dirty="0"/>
          </a:p>
        </p:txBody>
      </p:sp>
      <p:sp>
        <p:nvSpPr>
          <p:cNvPr id="15" name="Text 13"/>
          <p:cNvSpPr txBox="1"/>
          <p:nvPr/>
        </p:nvSpPr>
        <p:spPr>
          <a:xfrm>
            <a:off x="2697480" y="6099048"/>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Raport wieczorny: ocena dnia, stres, kawa, alkohol, ekrany, drzemka</a:t>
            </a:r>
            <a:endParaRPr lang="en-US" sz="1900" dirty="0"/>
          </a:p>
        </p:txBody>
      </p:sp>
      <p:sp>
        <p:nvSpPr>
          <p:cNvPr id="16" name="Etykieta"/>
          <p:cNvSpPr/>
          <p:nvPr/>
        </p:nvSpPr>
        <p:spPr>
          <a:xfrm>
            <a:off x="1828800" y="6922008"/>
            <a:ext cx="658368" cy="365760"/>
          </a:xfrm>
          <a:prstGeom prst="roundRect">
            <a:avLst>
              <a:gd name="adj" fmla="val 50000"/>
            </a:avLst>
          </a:prstGeom>
          <a:solidFill>
            <a:schemeClr val="accent1"/>
          </a:solidFill>
          <a:ln w="15240">
            <a:solidFill>
              <a:schemeClr val="accent1"/>
            </a:solidFill>
            <a:prstDash val="solid"/>
          </a:ln>
        </p:spPr>
      </p:sp>
      <p:sp>
        <p:nvSpPr>
          <p:cNvPr id="17" name="Text 15"/>
          <p:cNvSpPr txBox="1"/>
          <p:nvPr/>
        </p:nvSpPr>
        <p:spPr>
          <a:xfrm>
            <a:off x="1828800" y="6922008"/>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F4</a:t>
            </a:r>
            <a:endParaRPr lang="en-US" sz="1500" dirty="0"/>
          </a:p>
        </p:txBody>
      </p:sp>
      <p:sp>
        <p:nvSpPr>
          <p:cNvPr id="18" name="Text 16"/>
          <p:cNvSpPr txBox="1"/>
          <p:nvPr/>
        </p:nvSpPr>
        <p:spPr>
          <a:xfrm>
            <a:off x="2697480" y="6885432"/>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Historia wpisów z podglądem i edycją</a:t>
            </a:r>
            <a:endParaRPr lang="en-US" sz="1900" dirty="0"/>
          </a:p>
        </p:txBody>
      </p:sp>
      <p:sp>
        <p:nvSpPr>
          <p:cNvPr id="19" name="Etykieta"/>
          <p:cNvSpPr/>
          <p:nvPr/>
        </p:nvSpPr>
        <p:spPr>
          <a:xfrm>
            <a:off x="1828800" y="7708392"/>
            <a:ext cx="658368" cy="365760"/>
          </a:xfrm>
          <a:prstGeom prst="roundRect">
            <a:avLst>
              <a:gd name="adj" fmla="val 50000"/>
            </a:avLst>
          </a:prstGeom>
          <a:solidFill>
            <a:schemeClr val="accent1"/>
          </a:solidFill>
          <a:ln w="15240">
            <a:solidFill>
              <a:schemeClr val="accent1"/>
            </a:solidFill>
            <a:prstDash val="solid"/>
          </a:ln>
        </p:spPr>
      </p:sp>
      <p:sp>
        <p:nvSpPr>
          <p:cNvPr id="20" name="Text 18"/>
          <p:cNvSpPr txBox="1"/>
          <p:nvPr/>
        </p:nvSpPr>
        <p:spPr>
          <a:xfrm>
            <a:off x="1828800" y="7708392"/>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F5</a:t>
            </a:r>
            <a:endParaRPr lang="en-US" sz="1500" dirty="0"/>
          </a:p>
        </p:txBody>
      </p:sp>
      <p:sp>
        <p:nvSpPr>
          <p:cNvPr id="21" name="Text 19"/>
          <p:cNvSpPr txBox="1"/>
          <p:nvPr/>
        </p:nvSpPr>
        <p:spPr>
          <a:xfrm>
            <a:off x="2697480" y="7671816"/>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Statystyki i wykresy dla wybranego zakresu dat</a:t>
            </a:r>
            <a:endParaRPr lang="en-US" sz="1900" dirty="0"/>
          </a:p>
        </p:txBody>
      </p:sp>
      <p:sp>
        <p:nvSpPr>
          <p:cNvPr id="22" name="Etykieta"/>
          <p:cNvSpPr/>
          <p:nvPr/>
        </p:nvSpPr>
        <p:spPr>
          <a:xfrm>
            <a:off x="1828800" y="8494776"/>
            <a:ext cx="658368" cy="365760"/>
          </a:xfrm>
          <a:prstGeom prst="roundRect">
            <a:avLst>
              <a:gd name="adj" fmla="val 50000"/>
            </a:avLst>
          </a:prstGeom>
          <a:solidFill>
            <a:schemeClr val="accent1"/>
          </a:solidFill>
          <a:ln w="15240">
            <a:solidFill>
              <a:schemeClr val="accent1"/>
            </a:solidFill>
            <a:prstDash val="solid"/>
          </a:ln>
        </p:spPr>
      </p:sp>
      <p:sp>
        <p:nvSpPr>
          <p:cNvPr id="23" name="Text 21"/>
          <p:cNvSpPr txBox="1"/>
          <p:nvPr/>
        </p:nvSpPr>
        <p:spPr>
          <a:xfrm>
            <a:off x="1828800" y="8494776"/>
            <a:ext cx="658368" cy="365760"/>
          </a:xfrm>
          <a:prstGeom prst="rect">
            <a:avLst/>
          </a:prstGeom>
          <a:noFill/>
          <a:ln/>
        </p:spPr>
        <p:txBody>
          <a:bodyPr wrap="square" lIns="0" tIns="0" rIns="0" bIns="0" rtlCol="0" anchor="ctr"/>
          <a:lstStyle/>
          <a:p>
            <a:pPr algn="ctr" indent="0" marL="0">
              <a:buNone/>
            </a:pPr>
            <a:r>
              <a:rPr lang="en-US" sz="1500" b="1" dirty="0">
                <a:solidFill>
                  <a:schemeClr val="bg1"/>
                </a:solidFill>
              </a:rPr>
              <a:t>F6</a:t>
            </a:r>
            <a:endParaRPr lang="en-US" sz="1500" dirty="0"/>
          </a:p>
        </p:txBody>
      </p:sp>
      <p:sp>
        <p:nvSpPr>
          <p:cNvPr id="24" name="Text 22"/>
          <p:cNvSpPr txBox="1"/>
          <p:nvPr/>
        </p:nvSpPr>
        <p:spPr>
          <a:xfrm>
            <a:off x="2697480" y="8458200"/>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Rekomendacje na podstawie historii użytkownika</a:t>
            </a:r>
            <a:endParaRPr lang="en-US" sz="1900" dirty="0"/>
          </a:p>
        </p:txBody>
      </p:sp>
      <p:sp>
        <p:nvSpPr>
          <p:cNvPr id="25" name="Karta"/>
          <p:cNvSpPr/>
          <p:nvPr/>
        </p:nvSpPr>
        <p:spPr>
          <a:xfrm>
            <a:off x="9372600" y="3611880"/>
            <a:ext cx="7452360" cy="5806440"/>
          </a:xfrm>
          <a:prstGeom prst="roundRect">
            <a:avLst>
              <a:gd name="adj" fmla="val 2205"/>
            </a:avLst>
          </a:prstGeom>
          <a:solidFill>
            <a:schemeClr val="bg1"/>
          </a:solidFill>
          <a:ln w="12700">
            <a:solidFill>
              <a:schemeClr val="accent3"/>
            </a:solidFill>
            <a:prstDash val="solid"/>
          </a:ln>
        </p:spPr>
      </p:sp>
      <p:sp>
        <p:nvSpPr>
          <p:cNvPr id="26" name="Text 24"/>
          <p:cNvSpPr txBox="1"/>
          <p:nvPr/>
        </p:nvSpPr>
        <p:spPr>
          <a:xfrm>
            <a:off x="9738360" y="3840480"/>
            <a:ext cx="676656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tx1"/>
                </a:solidFill>
              </a:rPr>
              <a:t>Niefunkcjonalne</a:t>
            </a:r>
            <a:endParaRPr lang="en-US" sz="2300" dirty="0"/>
          </a:p>
        </p:txBody>
      </p:sp>
      <p:sp>
        <p:nvSpPr>
          <p:cNvPr id="27" name="Etykieta"/>
          <p:cNvSpPr/>
          <p:nvPr/>
        </p:nvSpPr>
        <p:spPr>
          <a:xfrm>
            <a:off x="9738360" y="4562856"/>
            <a:ext cx="658368" cy="365760"/>
          </a:xfrm>
          <a:prstGeom prst="roundRect">
            <a:avLst>
              <a:gd name="adj" fmla="val 50000"/>
            </a:avLst>
          </a:prstGeom>
          <a:solidFill>
            <a:schemeClr val="accent2"/>
          </a:solidFill>
          <a:ln w="15240">
            <a:solidFill>
              <a:schemeClr val="accent1"/>
            </a:solidFill>
            <a:prstDash val="solid"/>
          </a:ln>
        </p:spPr>
      </p:sp>
      <p:sp>
        <p:nvSpPr>
          <p:cNvPr id="28" name="Text 26"/>
          <p:cNvSpPr txBox="1"/>
          <p:nvPr/>
        </p:nvSpPr>
        <p:spPr>
          <a:xfrm>
            <a:off x="9738360" y="4562856"/>
            <a:ext cx="658368" cy="365760"/>
          </a:xfrm>
          <a:prstGeom prst="rect">
            <a:avLst/>
          </a:prstGeom>
          <a:noFill/>
          <a:ln/>
        </p:spPr>
        <p:txBody>
          <a:bodyPr wrap="square" lIns="0" tIns="0" rIns="0" bIns="0" rtlCol="0" anchor="ctr"/>
          <a:lstStyle/>
          <a:p>
            <a:pPr algn="ctr" indent="0" marL="0">
              <a:buNone/>
            </a:pPr>
            <a:r>
              <a:rPr lang="en-US" sz="1500" b="1" dirty="0">
                <a:solidFill>
                  <a:schemeClr val="accent1"/>
                </a:solidFill>
              </a:rPr>
              <a:t>N1</a:t>
            </a:r>
            <a:endParaRPr lang="en-US" sz="1500" dirty="0"/>
          </a:p>
        </p:txBody>
      </p:sp>
      <p:sp>
        <p:nvSpPr>
          <p:cNvPr id="29" name="Text 27"/>
          <p:cNvSpPr txBox="1"/>
          <p:nvPr/>
        </p:nvSpPr>
        <p:spPr>
          <a:xfrm>
            <a:off x="10607040" y="4526280"/>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Bezpieczeństwo: hasła bcrypt, dostęp tylko do własnych wpisów</a:t>
            </a:r>
            <a:endParaRPr lang="en-US" sz="1900" dirty="0"/>
          </a:p>
        </p:txBody>
      </p:sp>
      <p:sp>
        <p:nvSpPr>
          <p:cNvPr id="30" name="Etykieta"/>
          <p:cNvSpPr/>
          <p:nvPr/>
        </p:nvSpPr>
        <p:spPr>
          <a:xfrm>
            <a:off x="9738360" y="5349240"/>
            <a:ext cx="658368" cy="365760"/>
          </a:xfrm>
          <a:prstGeom prst="roundRect">
            <a:avLst>
              <a:gd name="adj" fmla="val 50000"/>
            </a:avLst>
          </a:prstGeom>
          <a:solidFill>
            <a:schemeClr val="accent2"/>
          </a:solidFill>
          <a:ln w="15240">
            <a:solidFill>
              <a:schemeClr val="accent1"/>
            </a:solidFill>
            <a:prstDash val="solid"/>
          </a:ln>
        </p:spPr>
      </p:sp>
      <p:sp>
        <p:nvSpPr>
          <p:cNvPr id="31" name="Text 29"/>
          <p:cNvSpPr txBox="1"/>
          <p:nvPr/>
        </p:nvSpPr>
        <p:spPr>
          <a:xfrm>
            <a:off x="9738360" y="5349240"/>
            <a:ext cx="658368" cy="365760"/>
          </a:xfrm>
          <a:prstGeom prst="rect">
            <a:avLst/>
          </a:prstGeom>
          <a:noFill/>
          <a:ln/>
        </p:spPr>
        <p:txBody>
          <a:bodyPr wrap="square" lIns="0" tIns="0" rIns="0" bIns="0" rtlCol="0" anchor="ctr"/>
          <a:lstStyle/>
          <a:p>
            <a:pPr algn="ctr" indent="0" marL="0">
              <a:buNone/>
            </a:pPr>
            <a:r>
              <a:rPr lang="en-US" sz="1500" b="1" dirty="0">
                <a:solidFill>
                  <a:schemeClr val="accent1"/>
                </a:solidFill>
              </a:rPr>
              <a:t>N2</a:t>
            </a:r>
            <a:endParaRPr lang="en-US" sz="1500" dirty="0"/>
          </a:p>
        </p:txBody>
      </p:sp>
      <p:sp>
        <p:nvSpPr>
          <p:cNvPr id="32" name="Text 30"/>
          <p:cNvSpPr txBox="1"/>
          <p:nvPr/>
        </p:nvSpPr>
        <p:spPr>
          <a:xfrm>
            <a:off x="10607040" y="5312664"/>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Poprawność danych: walidacja zakresów ocen i czasu w łóżku (maks. 18 h)</a:t>
            </a:r>
            <a:endParaRPr lang="en-US" sz="1900" dirty="0"/>
          </a:p>
        </p:txBody>
      </p:sp>
      <p:sp>
        <p:nvSpPr>
          <p:cNvPr id="33" name="Etykieta"/>
          <p:cNvSpPr/>
          <p:nvPr/>
        </p:nvSpPr>
        <p:spPr>
          <a:xfrm>
            <a:off x="9738360" y="6135624"/>
            <a:ext cx="658368" cy="365760"/>
          </a:xfrm>
          <a:prstGeom prst="roundRect">
            <a:avLst>
              <a:gd name="adj" fmla="val 50000"/>
            </a:avLst>
          </a:prstGeom>
          <a:solidFill>
            <a:schemeClr val="accent2"/>
          </a:solidFill>
          <a:ln w="15240">
            <a:solidFill>
              <a:schemeClr val="accent1"/>
            </a:solidFill>
            <a:prstDash val="solid"/>
          </a:ln>
        </p:spPr>
      </p:sp>
      <p:sp>
        <p:nvSpPr>
          <p:cNvPr id="34" name="Text 32"/>
          <p:cNvSpPr txBox="1"/>
          <p:nvPr/>
        </p:nvSpPr>
        <p:spPr>
          <a:xfrm>
            <a:off x="9738360" y="6135624"/>
            <a:ext cx="658368" cy="365760"/>
          </a:xfrm>
          <a:prstGeom prst="rect">
            <a:avLst/>
          </a:prstGeom>
          <a:noFill/>
          <a:ln/>
        </p:spPr>
        <p:txBody>
          <a:bodyPr wrap="square" lIns="0" tIns="0" rIns="0" bIns="0" rtlCol="0" anchor="ctr"/>
          <a:lstStyle/>
          <a:p>
            <a:pPr algn="ctr" indent="0" marL="0">
              <a:buNone/>
            </a:pPr>
            <a:r>
              <a:rPr lang="en-US" sz="1500" b="1" dirty="0">
                <a:solidFill>
                  <a:schemeClr val="accent1"/>
                </a:solidFill>
              </a:rPr>
              <a:t>N3</a:t>
            </a:r>
            <a:endParaRPr lang="en-US" sz="1500" dirty="0"/>
          </a:p>
        </p:txBody>
      </p:sp>
      <p:sp>
        <p:nvSpPr>
          <p:cNvPr id="35" name="Text 33"/>
          <p:cNvSpPr txBox="1"/>
          <p:nvPr/>
        </p:nvSpPr>
        <p:spPr>
          <a:xfrm>
            <a:off x="10607040" y="6099048"/>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Szybki wpis: krótkie formularze, wartości kategoryczne</a:t>
            </a:r>
            <a:endParaRPr lang="en-US" sz="1900" dirty="0"/>
          </a:p>
        </p:txBody>
      </p:sp>
      <p:sp>
        <p:nvSpPr>
          <p:cNvPr id="36" name="Etykieta"/>
          <p:cNvSpPr/>
          <p:nvPr/>
        </p:nvSpPr>
        <p:spPr>
          <a:xfrm>
            <a:off x="9738360" y="6922008"/>
            <a:ext cx="658368" cy="365760"/>
          </a:xfrm>
          <a:prstGeom prst="roundRect">
            <a:avLst>
              <a:gd name="adj" fmla="val 50000"/>
            </a:avLst>
          </a:prstGeom>
          <a:solidFill>
            <a:schemeClr val="accent2"/>
          </a:solidFill>
          <a:ln w="15240">
            <a:solidFill>
              <a:schemeClr val="accent1"/>
            </a:solidFill>
            <a:prstDash val="solid"/>
          </a:ln>
        </p:spPr>
      </p:sp>
      <p:sp>
        <p:nvSpPr>
          <p:cNvPr id="37" name="Text 35"/>
          <p:cNvSpPr txBox="1"/>
          <p:nvPr/>
        </p:nvSpPr>
        <p:spPr>
          <a:xfrm>
            <a:off x="9738360" y="6922008"/>
            <a:ext cx="658368" cy="365760"/>
          </a:xfrm>
          <a:prstGeom prst="rect">
            <a:avLst/>
          </a:prstGeom>
          <a:noFill/>
          <a:ln/>
        </p:spPr>
        <p:txBody>
          <a:bodyPr wrap="square" lIns="0" tIns="0" rIns="0" bIns="0" rtlCol="0" anchor="ctr"/>
          <a:lstStyle/>
          <a:p>
            <a:pPr algn="ctr" indent="0" marL="0">
              <a:buNone/>
            </a:pPr>
            <a:r>
              <a:rPr lang="en-US" sz="1500" b="1" dirty="0">
                <a:solidFill>
                  <a:schemeClr val="accent1"/>
                </a:solidFill>
              </a:rPr>
              <a:t>N4</a:t>
            </a:r>
            <a:endParaRPr lang="en-US" sz="1500" dirty="0"/>
          </a:p>
        </p:txBody>
      </p:sp>
      <p:sp>
        <p:nvSpPr>
          <p:cNvPr id="38" name="Text 36"/>
          <p:cNvSpPr txBox="1"/>
          <p:nvPr/>
        </p:nvSpPr>
        <p:spPr>
          <a:xfrm>
            <a:off x="10607040" y="6885432"/>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Rozszerzalność: warstwowy backend, migracje Alembic</a:t>
            </a:r>
            <a:endParaRPr lang="en-US" sz="1900" dirty="0"/>
          </a:p>
        </p:txBody>
      </p:sp>
      <p:sp>
        <p:nvSpPr>
          <p:cNvPr id="39" name="Etykieta"/>
          <p:cNvSpPr/>
          <p:nvPr/>
        </p:nvSpPr>
        <p:spPr>
          <a:xfrm>
            <a:off x="9738360" y="7708392"/>
            <a:ext cx="658368" cy="365760"/>
          </a:xfrm>
          <a:prstGeom prst="roundRect">
            <a:avLst>
              <a:gd name="adj" fmla="val 50000"/>
            </a:avLst>
          </a:prstGeom>
          <a:solidFill>
            <a:schemeClr val="accent2"/>
          </a:solidFill>
          <a:ln w="15240">
            <a:solidFill>
              <a:schemeClr val="accent1"/>
            </a:solidFill>
            <a:prstDash val="solid"/>
          </a:ln>
        </p:spPr>
      </p:sp>
      <p:sp>
        <p:nvSpPr>
          <p:cNvPr id="40" name="Text 38"/>
          <p:cNvSpPr txBox="1"/>
          <p:nvPr/>
        </p:nvSpPr>
        <p:spPr>
          <a:xfrm>
            <a:off x="9738360" y="7708392"/>
            <a:ext cx="658368" cy="365760"/>
          </a:xfrm>
          <a:prstGeom prst="rect">
            <a:avLst/>
          </a:prstGeom>
          <a:noFill/>
          <a:ln/>
        </p:spPr>
        <p:txBody>
          <a:bodyPr wrap="square" lIns="0" tIns="0" rIns="0" bIns="0" rtlCol="0" anchor="ctr"/>
          <a:lstStyle/>
          <a:p>
            <a:pPr algn="ctr" indent="0" marL="0">
              <a:buNone/>
            </a:pPr>
            <a:r>
              <a:rPr lang="en-US" sz="1500" b="1" dirty="0">
                <a:solidFill>
                  <a:schemeClr val="accent1"/>
                </a:solidFill>
              </a:rPr>
              <a:t>N5</a:t>
            </a:r>
            <a:endParaRPr lang="en-US" sz="1500" dirty="0"/>
          </a:p>
        </p:txBody>
      </p:sp>
      <p:sp>
        <p:nvSpPr>
          <p:cNvPr id="41" name="Text 39"/>
          <p:cNvSpPr txBox="1"/>
          <p:nvPr/>
        </p:nvSpPr>
        <p:spPr>
          <a:xfrm>
            <a:off x="10607040" y="7671816"/>
            <a:ext cx="5943600" cy="749808"/>
          </a:xfrm>
          <a:prstGeom prst="rect">
            <a:avLst/>
          </a:prstGeom>
          <a:noFill/>
          <a:ln/>
        </p:spPr>
        <p:txBody>
          <a:bodyPr wrap="square" lIns="0" tIns="0" rIns="0" bIns="0" rtlCol="0" anchor="t"/>
          <a:lstStyle/>
          <a:p>
            <a:pPr algn="l" indent="0" marL="0">
              <a:lnSpc>
                <a:spcPct val="100000"/>
              </a:lnSpc>
              <a:buNone/>
            </a:pPr>
            <a:r>
              <a:rPr lang="en-US" sz="1900" dirty="0">
                <a:solidFill>
                  <a:schemeClr val="tx1"/>
                </a:solidFill>
              </a:rPr>
              <a:t>Charakter informacyjny, bez funkcji diagnostycznych</a:t>
            </a:r>
            <a:endParaRPr lang="en-US" sz="190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sek postępu"/>
          <p:cNvSpPr/>
          <p:nvPr/>
        </p:nvSpPr>
        <p:spPr>
          <a:xfrm>
            <a:off x="1463040" y="868680"/>
            <a:ext cx="4712677"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Architektura rozwiązania</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Klient-serwer: frontend SPA, warstwowe REST API w FastAPI i relacyjna baza danych.</a:t>
            </a:r>
            <a:endParaRPr lang="en-US" sz="2200" dirty="0"/>
          </a:p>
        </p:txBody>
      </p:sp>
      <p:sp>
        <p:nvSpPr>
          <p:cNvPr id="5" name="Karta"/>
          <p:cNvSpPr/>
          <p:nvPr/>
        </p:nvSpPr>
        <p:spPr>
          <a:xfrm>
            <a:off x="1463040" y="4160520"/>
            <a:ext cx="3383280" cy="2377440"/>
          </a:xfrm>
          <a:prstGeom prst="roundRect">
            <a:avLst>
              <a:gd name="adj" fmla="val 5385"/>
            </a:avLst>
          </a:prstGeom>
          <a:solidFill>
            <a:schemeClr val="bg1"/>
          </a:solidFill>
          <a:ln w="16510">
            <a:solidFill>
              <a:schemeClr val="accent1"/>
            </a:solidFill>
            <a:prstDash val="solid"/>
          </a:ln>
        </p:spPr>
      </p:sp>
      <p:sp>
        <p:nvSpPr>
          <p:cNvPr id="6" name="Text 4"/>
          <p:cNvSpPr txBox="1"/>
          <p:nvPr/>
        </p:nvSpPr>
        <p:spPr>
          <a:xfrm>
            <a:off x="1645920" y="4343400"/>
            <a:ext cx="3017520" cy="411480"/>
          </a:xfrm>
          <a:prstGeom prst="rect">
            <a:avLst/>
          </a:prstGeom>
          <a:noFill/>
          <a:ln/>
        </p:spPr>
        <p:txBody>
          <a:bodyPr wrap="square" lIns="0" tIns="0" rIns="0" bIns="0" rtlCol="0" anchor="t"/>
          <a:lstStyle/>
          <a:p>
            <a:pPr algn="ctr" indent="0" marL="0">
              <a:lnSpc>
                <a:spcPct val="100000"/>
              </a:lnSpc>
              <a:buNone/>
            </a:pPr>
            <a:r>
              <a:rPr lang="en-US" sz="2100" b="1" dirty="0">
                <a:solidFill>
                  <a:schemeClr val="tx1"/>
                </a:solidFill>
              </a:rPr>
              <a:t>Frontend</a:t>
            </a:r>
            <a:endParaRPr lang="en-US" sz="2100" dirty="0"/>
          </a:p>
        </p:txBody>
      </p:sp>
      <p:sp>
        <p:nvSpPr>
          <p:cNvPr id="7" name="Text 5"/>
          <p:cNvSpPr txBox="1"/>
          <p:nvPr/>
        </p:nvSpPr>
        <p:spPr>
          <a:xfrm>
            <a:off x="1645920" y="4846320"/>
            <a:ext cx="3017520" cy="1600200"/>
          </a:xfrm>
          <a:prstGeom prst="rect">
            <a:avLst/>
          </a:prstGeom>
          <a:noFill/>
          <a:ln/>
        </p:spPr>
        <p:txBody>
          <a:bodyPr wrap="square" lIns="0" tIns="0" rIns="0" bIns="0" rtlCol="0" anchor="t"/>
          <a:lstStyle/>
          <a:p>
            <a:pPr algn="ctr" indent="0" marL="0">
              <a:lnSpc>
                <a:spcPct val="110000"/>
              </a:lnSpc>
              <a:buNone/>
            </a:pPr>
            <a:r>
              <a:rPr lang="en-US" sz="1650" dirty="0">
                <a:solidFill>
                  <a:schemeClr val="tx1"/>
                </a:solidFill>
              </a:rPr>
              <a:t>React 19 + TypeScript</a:t>
            </a:r>
            <a:endParaRPr lang="en-US" sz="1650" dirty="0"/>
          </a:p>
          <a:p>
            <a:pPr algn="ctr" indent="0" marL="0">
              <a:lnSpc>
                <a:spcPct val="110000"/>
              </a:lnSpc>
              <a:buNone/>
            </a:pPr>
            <a:r>
              <a:rPr lang="en-US" sz="1650" dirty="0">
                <a:solidFill>
                  <a:schemeClr val="tx1"/>
                </a:solidFill>
              </a:rPr>
              <a:t>Vite • React Router</a:t>
            </a:r>
            <a:endParaRPr lang="en-US" sz="1650" dirty="0"/>
          </a:p>
          <a:p>
            <a:pPr algn="ctr" indent="0" marL="0">
              <a:lnSpc>
                <a:spcPct val="110000"/>
              </a:lnSpc>
              <a:buNone/>
            </a:pPr>
            <a:r>
              <a:rPr lang="en-US" sz="1650" dirty="0">
                <a:solidFill>
                  <a:schemeClr val="tx1"/>
                </a:solidFill>
              </a:rPr>
              <a:t>Recharts (wykresy)</a:t>
            </a:r>
            <a:endParaRPr lang="en-US" sz="1650" dirty="0"/>
          </a:p>
          <a:p>
            <a:pPr algn="ctr" indent="0" marL="0">
              <a:lnSpc>
                <a:spcPct val="110000"/>
              </a:lnSpc>
              <a:buNone/>
            </a:pPr>
            <a:r>
              <a:rPr lang="en-US" sz="1650" dirty="0">
                <a:solidFill>
                  <a:schemeClr val="tx1"/>
                </a:solidFill>
              </a:rPr>
              <a:t>7 widoków</a:t>
            </a:r>
            <a:endParaRPr lang="en-US" sz="1650" dirty="0"/>
          </a:p>
        </p:txBody>
      </p:sp>
      <p:sp>
        <p:nvSpPr>
          <p:cNvPr id="8" name="Strzałka"/>
          <p:cNvSpPr/>
          <p:nvPr/>
        </p:nvSpPr>
        <p:spPr>
          <a:xfrm>
            <a:off x="4892040" y="5349240"/>
            <a:ext cx="1600200" cy="0"/>
          </a:xfrm>
          <a:prstGeom prst="line">
            <a:avLst/>
          </a:prstGeom>
          <a:noFill/>
          <a:ln w="27940">
            <a:solidFill>
              <a:schemeClr val="accent1"/>
            </a:solidFill>
            <a:prstDash val="solid"/>
            <a:tailEnd type="triangle"/>
          </a:ln>
        </p:spPr>
      </p:sp>
      <p:sp>
        <p:nvSpPr>
          <p:cNvPr id="9" name="Text 7"/>
          <p:cNvSpPr txBox="1"/>
          <p:nvPr/>
        </p:nvSpPr>
        <p:spPr>
          <a:xfrm>
            <a:off x="4800600" y="4754880"/>
            <a:ext cx="1783080" cy="365760"/>
          </a:xfrm>
          <a:prstGeom prst="rect">
            <a:avLst/>
          </a:prstGeom>
          <a:noFill/>
          <a:ln/>
        </p:spPr>
        <p:txBody>
          <a:bodyPr wrap="square" lIns="0" tIns="0" rIns="0" bIns="0" rtlCol="0" anchor="t"/>
          <a:lstStyle/>
          <a:p>
            <a:pPr algn="ctr" indent="0" marL="0">
              <a:lnSpc>
                <a:spcPct val="100000"/>
              </a:lnSpc>
              <a:buNone/>
            </a:pPr>
            <a:r>
              <a:rPr lang="en-US" sz="1500" b="1" dirty="0">
                <a:solidFill>
                  <a:schemeClr val="accent1"/>
                </a:solidFill>
              </a:rPr>
              <a:t>REST + JWT</a:t>
            </a:r>
            <a:endParaRPr lang="en-US" sz="1500" dirty="0"/>
          </a:p>
        </p:txBody>
      </p:sp>
      <p:sp>
        <p:nvSpPr>
          <p:cNvPr id="10" name="Backend"/>
          <p:cNvSpPr/>
          <p:nvPr/>
        </p:nvSpPr>
        <p:spPr>
          <a:xfrm>
            <a:off x="6537960" y="3611880"/>
            <a:ext cx="6400800" cy="3703320"/>
          </a:xfrm>
          <a:prstGeom prst="roundRect">
            <a:avLst>
              <a:gd name="adj" fmla="val 3457"/>
            </a:avLst>
          </a:prstGeom>
          <a:solidFill>
            <a:schemeClr val="accent2"/>
          </a:solidFill>
          <a:ln w="16510">
            <a:solidFill>
              <a:schemeClr val="accent1"/>
            </a:solidFill>
            <a:prstDash val="solid"/>
          </a:ln>
        </p:spPr>
      </p:sp>
      <p:sp>
        <p:nvSpPr>
          <p:cNvPr id="11" name="Text 9"/>
          <p:cNvSpPr txBox="1"/>
          <p:nvPr/>
        </p:nvSpPr>
        <p:spPr>
          <a:xfrm>
            <a:off x="6812280" y="3749040"/>
            <a:ext cx="5852160" cy="411480"/>
          </a:xfrm>
          <a:prstGeom prst="rect">
            <a:avLst/>
          </a:prstGeom>
          <a:noFill/>
          <a:ln/>
        </p:spPr>
        <p:txBody>
          <a:bodyPr wrap="square" lIns="0" tIns="0" rIns="0" bIns="0" rtlCol="0" anchor="t"/>
          <a:lstStyle/>
          <a:p>
            <a:pPr algn="l" indent="0" marL="0">
              <a:lnSpc>
                <a:spcPct val="100000"/>
              </a:lnSpc>
              <a:buNone/>
            </a:pPr>
            <a:r>
              <a:rPr lang="en-US" sz="2000" b="1" dirty="0">
                <a:solidFill>
                  <a:schemeClr val="accent1"/>
                </a:solidFill>
              </a:rPr>
              <a:t>Backend - FastAPI + Uvicorn</a:t>
            </a:r>
            <a:endParaRPr lang="en-US" sz="2000" dirty="0"/>
          </a:p>
        </p:txBody>
      </p:sp>
      <p:sp>
        <p:nvSpPr>
          <p:cNvPr id="12" name="Karta"/>
          <p:cNvSpPr/>
          <p:nvPr/>
        </p:nvSpPr>
        <p:spPr>
          <a:xfrm>
            <a:off x="6812280" y="4297680"/>
            <a:ext cx="5852160" cy="822960"/>
          </a:xfrm>
          <a:prstGeom prst="roundRect">
            <a:avLst>
              <a:gd name="adj" fmla="val 11111"/>
            </a:avLst>
          </a:prstGeom>
          <a:solidFill>
            <a:schemeClr val="bg1"/>
          </a:solidFill>
          <a:ln w="12700">
            <a:solidFill>
              <a:schemeClr val="accent3"/>
            </a:solidFill>
            <a:prstDash val="solid"/>
          </a:ln>
        </p:spPr>
      </p:sp>
      <p:sp>
        <p:nvSpPr>
          <p:cNvPr id="13" name="Text 11"/>
          <p:cNvSpPr txBox="1"/>
          <p:nvPr/>
        </p:nvSpPr>
        <p:spPr>
          <a:xfrm>
            <a:off x="6995160" y="4352544"/>
            <a:ext cx="2103120" cy="713232"/>
          </a:xfrm>
          <a:prstGeom prst="rect">
            <a:avLst/>
          </a:prstGeom>
          <a:noFill/>
          <a:ln/>
        </p:spPr>
        <p:txBody>
          <a:bodyPr wrap="square" lIns="0" tIns="0" rIns="0" bIns="0" rtlCol="0" anchor="ctr"/>
          <a:lstStyle/>
          <a:p>
            <a:pPr algn="l" indent="0" marL="0">
              <a:lnSpc>
                <a:spcPct val="100000"/>
              </a:lnSpc>
              <a:buNone/>
            </a:pPr>
            <a:r>
              <a:rPr lang="en-US" sz="1700" b="1" dirty="0">
                <a:solidFill>
                  <a:schemeClr val="tx1"/>
                </a:solidFill>
              </a:rPr>
              <a:t>routers</a:t>
            </a:r>
            <a:endParaRPr lang="en-US" sz="1700" dirty="0"/>
          </a:p>
        </p:txBody>
      </p:sp>
      <p:sp>
        <p:nvSpPr>
          <p:cNvPr id="14" name="Text 12"/>
          <p:cNvSpPr txBox="1"/>
          <p:nvPr/>
        </p:nvSpPr>
        <p:spPr>
          <a:xfrm>
            <a:off x="9006840" y="4352544"/>
            <a:ext cx="3566160" cy="713232"/>
          </a:xfrm>
          <a:prstGeom prst="rect">
            <a:avLst/>
          </a:prstGeom>
          <a:noFill/>
          <a:ln/>
        </p:spPr>
        <p:txBody>
          <a:bodyPr wrap="square" lIns="0" tIns="0" rIns="0" bIns="0" rtlCol="0" anchor="ctr"/>
          <a:lstStyle/>
          <a:p>
            <a:pPr algn="l" indent="0" marL="0">
              <a:lnSpc>
                <a:spcPct val="100000"/>
              </a:lnSpc>
              <a:buNone/>
            </a:pPr>
            <a:r>
              <a:rPr lang="en-US" sz="1550" dirty="0">
                <a:solidFill>
                  <a:schemeClr val="tx1"/>
                </a:solidFill>
              </a:rPr>
              <a:t>auth • daily-logs • statistics</a:t>
            </a:r>
            <a:endParaRPr lang="en-US" sz="1550" dirty="0"/>
          </a:p>
        </p:txBody>
      </p:sp>
      <p:sp>
        <p:nvSpPr>
          <p:cNvPr id="15" name="Karta"/>
          <p:cNvSpPr/>
          <p:nvPr/>
        </p:nvSpPr>
        <p:spPr>
          <a:xfrm>
            <a:off x="6812280" y="5276088"/>
            <a:ext cx="5852160" cy="822960"/>
          </a:xfrm>
          <a:prstGeom prst="roundRect">
            <a:avLst>
              <a:gd name="adj" fmla="val 11111"/>
            </a:avLst>
          </a:prstGeom>
          <a:solidFill>
            <a:schemeClr val="bg1"/>
          </a:solidFill>
          <a:ln w="12700">
            <a:solidFill>
              <a:schemeClr val="accent3"/>
            </a:solidFill>
            <a:prstDash val="solid"/>
          </a:ln>
        </p:spPr>
      </p:sp>
      <p:sp>
        <p:nvSpPr>
          <p:cNvPr id="16" name="Text 14"/>
          <p:cNvSpPr txBox="1"/>
          <p:nvPr/>
        </p:nvSpPr>
        <p:spPr>
          <a:xfrm>
            <a:off x="6995160" y="5330952"/>
            <a:ext cx="2103120" cy="713232"/>
          </a:xfrm>
          <a:prstGeom prst="rect">
            <a:avLst/>
          </a:prstGeom>
          <a:noFill/>
          <a:ln/>
        </p:spPr>
        <p:txBody>
          <a:bodyPr wrap="square" lIns="0" tIns="0" rIns="0" bIns="0" rtlCol="0" anchor="ctr"/>
          <a:lstStyle/>
          <a:p>
            <a:pPr algn="l" indent="0" marL="0">
              <a:lnSpc>
                <a:spcPct val="100000"/>
              </a:lnSpc>
              <a:buNone/>
            </a:pPr>
            <a:r>
              <a:rPr lang="en-US" sz="1700" b="1" dirty="0">
                <a:solidFill>
                  <a:schemeClr val="tx1"/>
                </a:solidFill>
              </a:rPr>
              <a:t>crud / services</a:t>
            </a:r>
            <a:endParaRPr lang="en-US" sz="1700" dirty="0"/>
          </a:p>
        </p:txBody>
      </p:sp>
      <p:sp>
        <p:nvSpPr>
          <p:cNvPr id="17" name="Text 15"/>
          <p:cNvSpPr txBox="1"/>
          <p:nvPr/>
        </p:nvSpPr>
        <p:spPr>
          <a:xfrm>
            <a:off x="9006840" y="5330952"/>
            <a:ext cx="3566160" cy="713232"/>
          </a:xfrm>
          <a:prstGeom prst="rect">
            <a:avLst/>
          </a:prstGeom>
          <a:noFill/>
          <a:ln/>
        </p:spPr>
        <p:txBody>
          <a:bodyPr wrap="square" lIns="0" tIns="0" rIns="0" bIns="0" rtlCol="0" anchor="ctr"/>
          <a:lstStyle/>
          <a:p>
            <a:pPr algn="l" indent="0" marL="0">
              <a:lnSpc>
                <a:spcPct val="100000"/>
              </a:lnSpc>
              <a:buNone/>
            </a:pPr>
            <a:r>
              <a:rPr lang="en-US" sz="1550" dirty="0">
                <a:solidFill>
                  <a:schemeClr val="tx1"/>
                </a:solidFill>
              </a:rPr>
              <a:t>zapis raportów, czas snu, DayScore, agregaty</a:t>
            </a:r>
            <a:endParaRPr lang="en-US" sz="1550" dirty="0"/>
          </a:p>
        </p:txBody>
      </p:sp>
      <p:sp>
        <p:nvSpPr>
          <p:cNvPr id="18" name="Karta"/>
          <p:cNvSpPr/>
          <p:nvPr/>
        </p:nvSpPr>
        <p:spPr>
          <a:xfrm>
            <a:off x="6812280" y="6254496"/>
            <a:ext cx="5852160" cy="822960"/>
          </a:xfrm>
          <a:prstGeom prst="roundRect">
            <a:avLst>
              <a:gd name="adj" fmla="val 11111"/>
            </a:avLst>
          </a:prstGeom>
          <a:solidFill>
            <a:schemeClr val="bg1"/>
          </a:solidFill>
          <a:ln w="12700">
            <a:solidFill>
              <a:schemeClr val="accent3"/>
            </a:solidFill>
            <a:prstDash val="solid"/>
          </a:ln>
        </p:spPr>
      </p:sp>
      <p:sp>
        <p:nvSpPr>
          <p:cNvPr id="19" name="Text 17"/>
          <p:cNvSpPr txBox="1"/>
          <p:nvPr/>
        </p:nvSpPr>
        <p:spPr>
          <a:xfrm>
            <a:off x="6995160" y="6309360"/>
            <a:ext cx="2103120" cy="713232"/>
          </a:xfrm>
          <a:prstGeom prst="rect">
            <a:avLst/>
          </a:prstGeom>
          <a:noFill/>
          <a:ln/>
        </p:spPr>
        <p:txBody>
          <a:bodyPr wrap="square" lIns="0" tIns="0" rIns="0" bIns="0" rtlCol="0" anchor="ctr"/>
          <a:lstStyle/>
          <a:p>
            <a:pPr algn="l" indent="0" marL="0">
              <a:lnSpc>
                <a:spcPct val="100000"/>
              </a:lnSpc>
              <a:buNone/>
            </a:pPr>
            <a:r>
              <a:rPr lang="en-US" sz="1700" b="1" dirty="0">
                <a:solidFill>
                  <a:schemeClr val="tx1"/>
                </a:solidFill>
              </a:rPr>
              <a:t>models / schemas</a:t>
            </a:r>
            <a:endParaRPr lang="en-US" sz="1700" dirty="0"/>
          </a:p>
        </p:txBody>
      </p:sp>
      <p:sp>
        <p:nvSpPr>
          <p:cNvPr id="20" name="Text 18"/>
          <p:cNvSpPr txBox="1"/>
          <p:nvPr/>
        </p:nvSpPr>
        <p:spPr>
          <a:xfrm>
            <a:off x="9006840" y="6309360"/>
            <a:ext cx="3566160" cy="713232"/>
          </a:xfrm>
          <a:prstGeom prst="rect">
            <a:avLst/>
          </a:prstGeom>
          <a:noFill/>
          <a:ln/>
        </p:spPr>
        <p:txBody>
          <a:bodyPr wrap="square" lIns="0" tIns="0" rIns="0" bIns="0" rtlCol="0" anchor="ctr"/>
          <a:lstStyle/>
          <a:p>
            <a:pPr algn="l" indent="0" marL="0">
              <a:lnSpc>
                <a:spcPct val="100000"/>
              </a:lnSpc>
              <a:buNone/>
            </a:pPr>
            <a:r>
              <a:rPr lang="en-US" sz="1550" dirty="0">
                <a:solidFill>
                  <a:schemeClr val="tx1"/>
                </a:solidFill>
              </a:rPr>
              <a:t>SQLModel + walidacja Pydantic</a:t>
            </a:r>
            <a:endParaRPr lang="en-US" sz="1550" dirty="0"/>
          </a:p>
        </p:txBody>
      </p:sp>
      <p:sp>
        <p:nvSpPr>
          <p:cNvPr id="21" name="Strzałka"/>
          <p:cNvSpPr/>
          <p:nvPr/>
        </p:nvSpPr>
        <p:spPr>
          <a:xfrm>
            <a:off x="12984480" y="5349240"/>
            <a:ext cx="1600200" cy="0"/>
          </a:xfrm>
          <a:prstGeom prst="line">
            <a:avLst/>
          </a:prstGeom>
          <a:noFill/>
          <a:ln w="27940">
            <a:solidFill>
              <a:schemeClr val="accent1"/>
            </a:solidFill>
            <a:prstDash val="solid"/>
            <a:tailEnd type="triangle"/>
          </a:ln>
        </p:spPr>
      </p:sp>
      <p:sp>
        <p:nvSpPr>
          <p:cNvPr id="22" name="Text 20"/>
          <p:cNvSpPr txBox="1"/>
          <p:nvPr/>
        </p:nvSpPr>
        <p:spPr>
          <a:xfrm>
            <a:off x="12893040" y="4754880"/>
            <a:ext cx="1783080" cy="365760"/>
          </a:xfrm>
          <a:prstGeom prst="rect">
            <a:avLst/>
          </a:prstGeom>
          <a:noFill/>
          <a:ln/>
        </p:spPr>
        <p:txBody>
          <a:bodyPr wrap="square" lIns="0" tIns="0" rIns="0" bIns="0" rtlCol="0" anchor="t"/>
          <a:lstStyle/>
          <a:p>
            <a:pPr algn="ctr" indent="0" marL="0">
              <a:lnSpc>
                <a:spcPct val="100000"/>
              </a:lnSpc>
              <a:buNone/>
            </a:pPr>
            <a:r>
              <a:rPr lang="en-US" sz="1500" b="1" dirty="0">
                <a:solidFill>
                  <a:schemeClr val="accent1"/>
                </a:solidFill>
              </a:rPr>
              <a:t>SQLAlchemy</a:t>
            </a:r>
            <a:endParaRPr lang="en-US" sz="1500" dirty="0"/>
          </a:p>
        </p:txBody>
      </p:sp>
      <p:sp>
        <p:nvSpPr>
          <p:cNvPr id="23" name="Karta"/>
          <p:cNvSpPr/>
          <p:nvPr/>
        </p:nvSpPr>
        <p:spPr>
          <a:xfrm>
            <a:off x="14630400" y="4160520"/>
            <a:ext cx="2194560" cy="2377440"/>
          </a:xfrm>
          <a:prstGeom prst="roundRect">
            <a:avLst>
              <a:gd name="adj" fmla="val 5833"/>
            </a:avLst>
          </a:prstGeom>
          <a:solidFill>
            <a:schemeClr val="bg1"/>
          </a:solidFill>
          <a:ln w="16510">
            <a:solidFill>
              <a:schemeClr val="accent1"/>
            </a:solidFill>
            <a:prstDash val="solid"/>
          </a:ln>
        </p:spPr>
      </p:sp>
      <p:sp>
        <p:nvSpPr>
          <p:cNvPr id="24" name="Text 22"/>
          <p:cNvSpPr txBox="1"/>
          <p:nvPr/>
        </p:nvSpPr>
        <p:spPr>
          <a:xfrm>
            <a:off x="14676120" y="4343400"/>
            <a:ext cx="2103120" cy="411480"/>
          </a:xfrm>
          <a:prstGeom prst="rect">
            <a:avLst/>
          </a:prstGeom>
          <a:noFill/>
          <a:ln/>
        </p:spPr>
        <p:txBody>
          <a:bodyPr wrap="square" lIns="0" tIns="0" rIns="0" bIns="0" rtlCol="0" anchor="t"/>
          <a:lstStyle/>
          <a:p>
            <a:pPr algn="ctr" indent="0" marL="0">
              <a:lnSpc>
                <a:spcPct val="100000"/>
              </a:lnSpc>
              <a:buNone/>
            </a:pPr>
            <a:r>
              <a:rPr lang="en-US" sz="2000" b="1" dirty="0">
                <a:solidFill>
                  <a:schemeClr val="tx1"/>
                </a:solidFill>
              </a:rPr>
              <a:t>PostgreSQL</a:t>
            </a:r>
            <a:endParaRPr lang="en-US" sz="2000" dirty="0"/>
          </a:p>
        </p:txBody>
      </p:sp>
      <p:sp>
        <p:nvSpPr>
          <p:cNvPr id="25" name="Text 23"/>
          <p:cNvSpPr txBox="1"/>
          <p:nvPr/>
        </p:nvSpPr>
        <p:spPr>
          <a:xfrm>
            <a:off x="14676120" y="4846320"/>
            <a:ext cx="2103120" cy="1463040"/>
          </a:xfrm>
          <a:prstGeom prst="rect">
            <a:avLst/>
          </a:prstGeom>
          <a:noFill/>
          <a:ln/>
        </p:spPr>
        <p:txBody>
          <a:bodyPr wrap="square" lIns="0" tIns="0" rIns="0" bIns="0" rtlCol="0" anchor="t"/>
          <a:lstStyle/>
          <a:p>
            <a:pPr algn="ctr" indent="0" marL="0">
              <a:lnSpc>
                <a:spcPct val="110000"/>
              </a:lnSpc>
              <a:buNone/>
            </a:pPr>
            <a:r>
              <a:rPr lang="en-US" sz="1600" dirty="0">
                <a:solidFill>
                  <a:schemeClr val="tx1"/>
                </a:solidFill>
              </a:rPr>
              <a:t>users</a:t>
            </a:r>
            <a:endParaRPr lang="en-US" sz="1600" dirty="0"/>
          </a:p>
          <a:p>
            <a:pPr algn="ctr" indent="0" marL="0">
              <a:lnSpc>
                <a:spcPct val="110000"/>
              </a:lnSpc>
              <a:buNone/>
            </a:pPr>
            <a:r>
              <a:rPr lang="en-US" sz="1600" dirty="0">
                <a:solidFill>
                  <a:schemeClr val="tx1"/>
                </a:solidFill>
              </a:rPr>
              <a:t>daily_logs</a:t>
            </a:r>
            <a:endParaRPr lang="en-US" sz="1600" dirty="0"/>
          </a:p>
          <a:p>
            <a:pPr algn="ctr" indent="0" marL="0">
              <a:lnSpc>
                <a:spcPct val="110000"/>
              </a:lnSpc>
              <a:buNone/>
            </a:pPr>
            <a:r>
              <a:rPr lang="en-US" sz="1600" dirty="0">
                <a:solidFill>
                  <a:schemeClr val="tx1"/>
                </a:solidFill>
              </a:rPr>
              <a:t>migracje Alembic</a:t>
            </a:r>
            <a:endParaRPr lang="en-US" sz="1600" dirty="0"/>
          </a:p>
        </p:txBody>
      </p:sp>
      <p:sp>
        <p:nvSpPr>
          <p:cNvPr id="26" name="Moduł rekomendacji"/>
          <p:cNvSpPr/>
          <p:nvPr/>
        </p:nvSpPr>
        <p:spPr>
          <a:xfrm>
            <a:off x="6537960" y="7818120"/>
            <a:ext cx="6400800" cy="1417320"/>
          </a:xfrm>
          <a:prstGeom prst="roundRect">
            <a:avLst>
              <a:gd name="adj" fmla="val 9032"/>
            </a:avLst>
          </a:prstGeom>
          <a:solidFill>
            <a:schemeClr val="bg1"/>
          </a:solidFill>
          <a:ln w="16510">
            <a:solidFill>
              <a:schemeClr val="accent1"/>
            </a:solidFill>
            <a:prstDash val="dash"/>
          </a:ln>
        </p:spPr>
      </p:sp>
      <p:sp>
        <p:nvSpPr>
          <p:cNvPr id="27" name="Text 25"/>
          <p:cNvSpPr txBox="1"/>
          <p:nvPr/>
        </p:nvSpPr>
        <p:spPr>
          <a:xfrm>
            <a:off x="6812280" y="7955280"/>
            <a:ext cx="58521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Moduł rekomendacji (planowany)</a:t>
            </a:r>
            <a:endParaRPr lang="en-US" sz="1900" dirty="0"/>
          </a:p>
        </p:txBody>
      </p:sp>
      <p:sp>
        <p:nvSpPr>
          <p:cNvPr id="28" name="Text 26"/>
          <p:cNvSpPr txBox="1"/>
          <p:nvPr/>
        </p:nvSpPr>
        <p:spPr>
          <a:xfrm>
            <a:off x="6812280" y="8412480"/>
            <a:ext cx="5852160" cy="68580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reguły na historii wpisów → opis przez LLM</a:t>
            </a:r>
            <a:endParaRPr lang="en-US" sz="1700" dirty="0"/>
          </a:p>
        </p:txBody>
      </p:sp>
      <p:sp>
        <p:nvSpPr>
          <p:cNvPr id="29" name="Strzałka"/>
          <p:cNvSpPr/>
          <p:nvPr/>
        </p:nvSpPr>
        <p:spPr>
          <a:xfrm>
            <a:off x="9738360" y="7360920"/>
            <a:ext cx="0" cy="411480"/>
          </a:xfrm>
          <a:prstGeom prst="line">
            <a:avLst/>
          </a:prstGeom>
          <a:noFill/>
          <a:ln w="27940">
            <a:solidFill>
              <a:schemeClr val="accent1"/>
            </a:solidFill>
            <a:prstDash val="dash"/>
            <a:tailEnd type="triangle"/>
          </a:ln>
        </p:spPr>
      </p:sp>
      <p:sp>
        <p:nvSpPr>
          <p:cNvPr id="30" name="Generator danych"/>
          <p:cNvSpPr/>
          <p:nvPr/>
        </p:nvSpPr>
        <p:spPr>
          <a:xfrm>
            <a:off x="13898880" y="7818120"/>
            <a:ext cx="2926080" cy="1417320"/>
          </a:xfrm>
          <a:prstGeom prst="roundRect">
            <a:avLst>
              <a:gd name="adj" fmla="val 9032"/>
            </a:avLst>
          </a:prstGeom>
          <a:solidFill>
            <a:schemeClr val="bg1"/>
          </a:solidFill>
          <a:ln w="12700">
            <a:solidFill>
              <a:schemeClr val="accent3"/>
            </a:solidFill>
            <a:prstDash val="solid"/>
          </a:ln>
        </p:spPr>
      </p:sp>
      <p:sp>
        <p:nvSpPr>
          <p:cNvPr id="31" name="Text 29"/>
          <p:cNvSpPr txBox="1"/>
          <p:nvPr/>
        </p:nvSpPr>
        <p:spPr>
          <a:xfrm>
            <a:off x="14036040" y="7955280"/>
            <a:ext cx="2651760" cy="411480"/>
          </a:xfrm>
          <a:prstGeom prst="rect">
            <a:avLst/>
          </a:prstGeom>
          <a:noFill/>
          <a:ln/>
        </p:spPr>
        <p:txBody>
          <a:bodyPr wrap="square" lIns="0" tIns="0" rIns="0" bIns="0" rtlCol="0" anchor="t"/>
          <a:lstStyle/>
          <a:p>
            <a:pPr algn="ctr" indent="0" marL="0">
              <a:lnSpc>
                <a:spcPct val="100000"/>
              </a:lnSpc>
              <a:buNone/>
            </a:pPr>
            <a:r>
              <a:rPr lang="en-US" sz="1700" b="1" dirty="0">
                <a:solidFill>
                  <a:schemeClr val="tx1"/>
                </a:solidFill>
              </a:rPr>
              <a:t>Generator danych</a:t>
            </a:r>
            <a:endParaRPr lang="en-US" sz="1700" dirty="0"/>
          </a:p>
        </p:txBody>
      </p:sp>
      <p:sp>
        <p:nvSpPr>
          <p:cNvPr id="32" name="Text 30"/>
          <p:cNvSpPr txBox="1"/>
          <p:nvPr/>
        </p:nvSpPr>
        <p:spPr>
          <a:xfrm>
            <a:off x="14036040" y="8412480"/>
            <a:ext cx="2651760" cy="548640"/>
          </a:xfrm>
          <a:prstGeom prst="rect">
            <a:avLst/>
          </a:prstGeom>
          <a:noFill/>
          <a:ln/>
        </p:spPr>
        <p:txBody>
          <a:bodyPr wrap="square" lIns="0" tIns="0" rIns="0" bIns="0" rtlCol="0" anchor="t"/>
          <a:lstStyle/>
          <a:p>
            <a:pPr algn="ctr" indent="0" marL="0">
              <a:lnSpc>
                <a:spcPct val="100000"/>
              </a:lnSpc>
              <a:buNone/>
            </a:pPr>
            <a:r>
              <a:rPr lang="en-US" sz="1550" dirty="0">
                <a:solidFill>
                  <a:schemeClr val="tx1"/>
                </a:solidFill>
              </a:rPr>
              <a:t>profile JSON → seed</a:t>
            </a:r>
            <a:endParaRPr lang="en-US" sz="1550" dirty="0"/>
          </a:p>
        </p:txBody>
      </p:sp>
      <p:sp>
        <p:nvSpPr>
          <p:cNvPr id="33" name="Strzałka"/>
          <p:cNvSpPr/>
          <p:nvPr/>
        </p:nvSpPr>
        <p:spPr>
          <a:xfrm flipV="1">
            <a:off x="15361920" y="6583680"/>
            <a:ext cx="0" cy="1188720"/>
          </a:xfrm>
          <a:prstGeom prst="line">
            <a:avLst/>
          </a:prstGeom>
          <a:noFill/>
          <a:ln w="20320">
            <a:solidFill>
              <a:schemeClr val="accent3"/>
            </a:solidFill>
            <a:prstDash val="solid"/>
            <a:tailEnd type="triangle"/>
          </a:ln>
        </p:spPr>
      </p:sp>
      <p:sp>
        <p:nvSpPr>
          <p:cNvPr id="34" name="Legenda"/>
          <p:cNvSpPr/>
          <p:nvPr/>
        </p:nvSpPr>
        <p:spPr>
          <a:xfrm>
            <a:off x="1463040" y="8275320"/>
            <a:ext cx="640080" cy="0"/>
          </a:xfrm>
          <a:prstGeom prst="line">
            <a:avLst/>
          </a:prstGeom>
          <a:noFill/>
          <a:ln w="20320">
            <a:solidFill>
              <a:schemeClr val="accent1"/>
            </a:solidFill>
            <a:prstDash val="solid"/>
          </a:ln>
        </p:spPr>
      </p:sp>
      <p:sp>
        <p:nvSpPr>
          <p:cNvPr id="35" name="Text 33"/>
          <p:cNvSpPr txBox="1"/>
          <p:nvPr/>
        </p:nvSpPr>
        <p:spPr>
          <a:xfrm>
            <a:off x="2240280" y="8092440"/>
            <a:ext cx="3291840" cy="365760"/>
          </a:xfrm>
          <a:prstGeom prst="rect">
            <a:avLst/>
          </a:prstGeom>
          <a:noFill/>
          <a:ln/>
        </p:spPr>
        <p:txBody>
          <a:bodyPr wrap="square" lIns="0" tIns="0" rIns="0" bIns="0" rtlCol="0" anchor="t"/>
          <a:lstStyle/>
          <a:p>
            <a:pPr algn="l" indent="0" marL="0">
              <a:lnSpc>
                <a:spcPct val="100000"/>
              </a:lnSpc>
              <a:buNone/>
            </a:pPr>
            <a:r>
              <a:rPr lang="en-US" sz="1500" dirty="0">
                <a:solidFill>
                  <a:schemeClr val="accent4"/>
                </a:solidFill>
              </a:rPr>
              <a:t>zaimplementowane</a:t>
            </a:r>
            <a:endParaRPr lang="en-US" sz="1500" dirty="0"/>
          </a:p>
        </p:txBody>
      </p:sp>
      <p:sp>
        <p:nvSpPr>
          <p:cNvPr id="36" name="Legenda"/>
          <p:cNvSpPr/>
          <p:nvPr/>
        </p:nvSpPr>
        <p:spPr>
          <a:xfrm>
            <a:off x="1463040" y="8778240"/>
            <a:ext cx="640080" cy="0"/>
          </a:xfrm>
          <a:prstGeom prst="line">
            <a:avLst/>
          </a:prstGeom>
          <a:noFill/>
          <a:ln w="20320">
            <a:solidFill>
              <a:schemeClr val="accent1"/>
            </a:solidFill>
            <a:prstDash val="dash"/>
          </a:ln>
        </p:spPr>
      </p:sp>
      <p:sp>
        <p:nvSpPr>
          <p:cNvPr id="37" name="Text 35"/>
          <p:cNvSpPr txBox="1"/>
          <p:nvPr/>
        </p:nvSpPr>
        <p:spPr>
          <a:xfrm>
            <a:off x="2240280" y="8595360"/>
            <a:ext cx="3291840" cy="365760"/>
          </a:xfrm>
          <a:prstGeom prst="rect">
            <a:avLst/>
          </a:prstGeom>
          <a:noFill/>
          <a:ln/>
        </p:spPr>
        <p:txBody>
          <a:bodyPr wrap="square" lIns="0" tIns="0" rIns="0" bIns="0" rtlCol="0" anchor="t"/>
          <a:lstStyle/>
          <a:p>
            <a:pPr algn="l" indent="0" marL="0">
              <a:lnSpc>
                <a:spcPct val="100000"/>
              </a:lnSpc>
              <a:buNone/>
            </a:pPr>
            <a:r>
              <a:rPr lang="en-US" sz="1500" dirty="0">
                <a:solidFill>
                  <a:schemeClr val="accent4"/>
                </a:solidFill>
              </a:rPr>
              <a:t>planowane</a:t>
            </a:r>
            <a:endParaRPr lang="en-US" sz="150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sek postępu"/>
          <p:cNvSpPr/>
          <p:nvPr/>
        </p:nvSpPr>
        <p:spPr>
          <a:xfrm>
            <a:off x="1463040" y="868680"/>
            <a:ext cx="5890846"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Model danych i przepływ raportów</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Jeden rekord DailyLog opisuje noc oraz dzień, który po niej nastąpił.</a:t>
            </a:r>
            <a:endParaRPr lang="en-US" sz="2200" dirty="0"/>
          </a:p>
        </p:txBody>
      </p:sp>
      <p:sp>
        <p:nvSpPr>
          <p:cNvPr id="5" name="Karta"/>
          <p:cNvSpPr/>
          <p:nvPr/>
        </p:nvSpPr>
        <p:spPr>
          <a:xfrm>
            <a:off x="1463040" y="3657600"/>
            <a:ext cx="3931920" cy="1600200"/>
          </a:xfrm>
          <a:prstGeom prst="roundRect">
            <a:avLst>
              <a:gd name="adj" fmla="val 8000"/>
            </a:avLst>
          </a:prstGeom>
          <a:solidFill>
            <a:schemeClr val="bg1"/>
          </a:solidFill>
          <a:ln w="16510">
            <a:solidFill>
              <a:schemeClr val="accent1"/>
            </a:solidFill>
            <a:prstDash val="solid"/>
          </a:ln>
        </p:spPr>
      </p:sp>
      <p:sp>
        <p:nvSpPr>
          <p:cNvPr id="6" name="Text 4"/>
          <p:cNvSpPr txBox="1"/>
          <p:nvPr/>
        </p:nvSpPr>
        <p:spPr>
          <a:xfrm>
            <a:off x="1691640" y="3794760"/>
            <a:ext cx="347472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Raport poranny (D)</a:t>
            </a:r>
            <a:endParaRPr lang="en-US" sz="1900" dirty="0"/>
          </a:p>
        </p:txBody>
      </p:sp>
      <p:sp>
        <p:nvSpPr>
          <p:cNvPr id="7" name="Text 5"/>
          <p:cNvSpPr txBox="1"/>
          <p:nvPr/>
        </p:nvSpPr>
        <p:spPr>
          <a:xfrm>
            <a:off x="1691640" y="4251960"/>
            <a:ext cx="3474720" cy="86868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godziny snu, jakość, wybudzenia, energia</a:t>
            </a:r>
            <a:endParaRPr lang="en-US" sz="1650" dirty="0"/>
          </a:p>
        </p:txBody>
      </p:sp>
      <p:sp>
        <p:nvSpPr>
          <p:cNvPr id="8" name="Karta"/>
          <p:cNvSpPr/>
          <p:nvPr/>
        </p:nvSpPr>
        <p:spPr>
          <a:xfrm>
            <a:off x="1463040" y="5715000"/>
            <a:ext cx="3931920" cy="1600200"/>
          </a:xfrm>
          <a:prstGeom prst="roundRect">
            <a:avLst>
              <a:gd name="adj" fmla="val 8000"/>
            </a:avLst>
          </a:prstGeom>
          <a:solidFill>
            <a:schemeClr val="bg1"/>
          </a:solidFill>
          <a:ln w="16510">
            <a:solidFill>
              <a:schemeClr val="accent1"/>
            </a:solidFill>
            <a:prstDash val="solid"/>
          </a:ln>
        </p:spPr>
      </p:sp>
      <p:sp>
        <p:nvSpPr>
          <p:cNvPr id="9" name="Text 7"/>
          <p:cNvSpPr txBox="1"/>
          <p:nvPr/>
        </p:nvSpPr>
        <p:spPr>
          <a:xfrm>
            <a:off x="1691640" y="5852160"/>
            <a:ext cx="347472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Raport wieczorny (D)</a:t>
            </a:r>
            <a:endParaRPr lang="en-US" sz="1900" dirty="0"/>
          </a:p>
        </p:txBody>
      </p:sp>
      <p:sp>
        <p:nvSpPr>
          <p:cNvPr id="10" name="Text 8"/>
          <p:cNvSpPr txBox="1"/>
          <p:nvPr/>
        </p:nvSpPr>
        <p:spPr>
          <a:xfrm>
            <a:off x="1691640" y="6309360"/>
            <a:ext cx="3474720" cy="86868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ocena dnia</a:t>
            </a:r>
            <a:endParaRPr lang="en-US" sz="1650" dirty="0"/>
          </a:p>
        </p:txBody>
      </p:sp>
      <p:sp>
        <p:nvSpPr>
          <p:cNvPr id="11" name="Karta"/>
          <p:cNvSpPr/>
          <p:nvPr/>
        </p:nvSpPr>
        <p:spPr>
          <a:xfrm>
            <a:off x="1463040" y="7772400"/>
            <a:ext cx="3931920" cy="1600200"/>
          </a:xfrm>
          <a:prstGeom prst="roundRect">
            <a:avLst>
              <a:gd name="adj" fmla="val 8000"/>
            </a:avLst>
          </a:prstGeom>
          <a:solidFill>
            <a:schemeClr val="bg1"/>
          </a:solidFill>
          <a:ln w="16510">
            <a:solidFill>
              <a:schemeClr val="accent1"/>
            </a:solidFill>
            <a:prstDash val="solid"/>
          </a:ln>
        </p:spPr>
      </p:sp>
      <p:sp>
        <p:nvSpPr>
          <p:cNvPr id="12" name="Text 10"/>
          <p:cNvSpPr txBox="1"/>
          <p:nvPr/>
        </p:nvSpPr>
        <p:spPr>
          <a:xfrm>
            <a:off x="1691640" y="7909560"/>
            <a:ext cx="347472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Raport wieczorny (D)</a:t>
            </a:r>
            <a:endParaRPr lang="en-US" sz="1900" dirty="0"/>
          </a:p>
        </p:txBody>
      </p:sp>
      <p:sp>
        <p:nvSpPr>
          <p:cNvPr id="13" name="Text 11"/>
          <p:cNvSpPr txBox="1"/>
          <p:nvPr/>
        </p:nvSpPr>
        <p:spPr>
          <a:xfrm>
            <a:off x="1691640" y="8366760"/>
            <a:ext cx="3474720" cy="86868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stres, kawa, alkohol, ekrany, drzemka</a:t>
            </a:r>
            <a:endParaRPr lang="en-US" sz="1650" dirty="0"/>
          </a:p>
        </p:txBody>
      </p:sp>
      <p:sp>
        <p:nvSpPr>
          <p:cNvPr id="14" name="Karta"/>
          <p:cNvSpPr/>
          <p:nvPr/>
        </p:nvSpPr>
        <p:spPr>
          <a:xfrm>
            <a:off x="6766560" y="3657600"/>
            <a:ext cx="3566160" cy="3657600"/>
          </a:xfrm>
          <a:prstGeom prst="roundRect">
            <a:avLst>
              <a:gd name="adj" fmla="val 3590"/>
            </a:avLst>
          </a:prstGeom>
          <a:solidFill>
            <a:schemeClr val="accent2"/>
          </a:solidFill>
          <a:ln w="16510">
            <a:solidFill>
              <a:schemeClr val="accent1"/>
            </a:solidFill>
            <a:prstDash val="solid"/>
          </a:ln>
        </p:spPr>
      </p:sp>
      <p:sp>
        <p:nvSpPr>
          <p:cNvPr id="15" name="Text 13"/>
          <p:cNvSpPr txBox="1"/>
          <p:nvPr/>
        </p:nvSpPr>
        <p:spPr>
          <a:xfrm>
            <a:off x="6995160" y="3794760"/>
            <a:ext cx="31089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DailyLog [D]</a:t>
            </a:r>
            <a:endParaRPr lang="en-US" sz="1900" dirty="0"/>
          </a:p>
        </p:txBody>
      </p:sp>
      <p:sp>
        <p:nvSpPr>
          <p:cNvPr id="16" name="Text 14"/>
          <p:cNvSpPr txBox="1"/>
          <p:nvPr/>
        </p:nvSpPr>
        <p:spPr>
          <a:xfrm>
            <a:off x="6995160" y="4251960"/>
            <a:ext cx="3108960" cy="292608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dane nocy z D-1 na D</a:t>
            </a:r>
            <a:endParaRPr lang="en-US" sz="1650" dirty="0"/>
          </a:p>
          <a:p>
            <a:pPr algn="l" indent="0" marL="0">
              <a:lnSpc>
                <a:spcPct val="100000"/>
              </a:lnSpc>
              <a:buNone/>
            </a:pPr>
            <a:r>
              <a:rPr lang="en-US" sz="1650" dirty="0">
                <a:solidFill>
                  <a:schemeClr val="tx1"/>
                </a:solidFill>
              </a:rPr>
              <a:t>+ ocena dnia D</a:t>
            </a:r>
            <a:endParaRPr lang="en-US" sz="1650" dirty="0"/>
          </a:p>
          <a:p>
            <a:pPr algn="l" indent="0" marL="0">
              <a:lnSpc>
                <a:spcPct val="100000"/>
              </a:lnSpc>
              <a:buNone/>
            </a:pPr>
            <a:r>
              <a:rPr lang="en-US" sz="1650" dirty="0">
                <a:solidFill>
                  <a:schemeClr val="tx1"/>
                </a:solidFill>
              </a:rPr>
              <a:t>+ nawyki z wieczoru D-1</a:t>
            </a:r>
            <a:endParaRPr lang="en-US" sz="1650" dirty="0"/>
          </a:p>
        </p:txBody>
      </p:sp>
      <p:sp>
        <p:nvSpPr>
          <p:cNvPr id="17" name="Karta"/>
          <p:cNvSpPr/>
          <p:nvPr/>
        </p:nvSpPr>
        <p:spPr>
          <a:xfrm>
            <a:off x="6766560" y="7772400"/>
            <a:ext cx="3566160" cy="1600200"/>
          </a:xfrm>
          <a:prstGeom prst="roundRect">
            <a:avLst>
              <a:gd name="adj" fmla="val 8000"/>
            </a:avLst>
          </a:prstGeom>
          <a:solidFill>
            <a:schemeClr val="accent2"/>
          </a:solidFill>
          <a:ln w="16510">
            <a:solidFill>
              <a:schemeClr val="accent1"/>
            </a:solidFill>
            <a:prstDash val="solid"/>
          </a:ln>
        </p:spPr>
      </p:sp>
      <p:sp>
        <p:nvSpPr>
          <p:cNvPr id="18" name="Text 16"/>
          <p:cNvSpPr txBox="1"/>
          <p:nvPr/>
        </p:nvSpPr>
        <p:spPr>
          <a:xfrm>
            <a:off x="6995160" y="7909560"/>
            <a:ext cx="31089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DailyLog [D+1]</a:t>
            </a:r>
            <a:endParaRPr lang="en-US" sz="1900" dirty="0"/>
          </a:p>
        </p:txBody>
      </p:sp>
      <p:sp>
        <p:nvSpPr>
          <p:cNvPr id="19" name="Text 17"/>
          <p:cNvSpPr txBox="1"/>
          <p:nvPr/>
        </p:nvSpPr>
        <p:spPr>
          <a:xfrm>
            <a:off x="6995160" y="8366760"/>
            <a:ext cx="3108960" cy="86868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nawyki, które wpłyną na kolejną noc</a:t>
            </a:r>
            <a:endParaRPr lang="en-US" sz="1650" dirty="0"/>
          </a:p>
        </p:txBody>
      </p:sp>
      <p:sp>
        <p:nvSpPr>
          <p:cNvPr id="20" name="Strzałka"/>
          <p:cNvSpPr/>
          <p:nvPr/>
        </p:nvSpPr>
        <p:spPr>
          <a:xfrm>
            <a:off x="5440680" y="4453128"/>
            <a:ext cx="1280160" cy="0"/>
          </a:xfrm>
          <a:prstGeom prst="line">
            <a:avLst/>
          </a:prstGeom>
          <a:noFill/>
          <a:ln w="27940">
            <a:solidFill>
              <a:schemeClr val="accent1"/>
            </a:solidFill>
            <a:prstDash val="solid"/>
            <a:tailEnd type="triangle"/>
          </a:ln>
        </p:spPr>
      </p:sp>
      <p:sp>
        <p:nvSpPr>
          <p:cNvPr id="21" name="Strzałka"/>
          <p:cNvSpPr/>
          <p:nvPr/>
        </p:nvSpPr>
        <p:spPr>
          <a:xfrm>
            <a:off x="5440680" y="6510528"/>
            <a:ext cx="1280160" cy="0"/>
          </a:xfrm>
          <a:prstGeom prst="line">
            <a:avLst/>
          </a:prstGeom>
          <a:noFill/>
          <a:ln w="27940">
            <a:solidFill>
              <a:schemeClr val="accent1"/>
            </a:solidFill>
            <a:prstDash val="solid"/>
            <a:tailEnd type="triangle"/>
          </a:ln>
        </p:spPr>
      </p:sp>
      <p:sp>
        <p:nvSpPr>
          <p:cNvPr id="22" name="Strzałka"/>
          <p:cNvSpPr/>
          <p:nvPr/>
        </p:nvSpPr>
        <p:spPr>
          <a:xfrm>
            <a:off x="5440680" y="8567928"/>
            <a:ext cx="1280160" cy="0"/>
          </a:xfrm>
          <a:prstGeom prst="line">
            <a:avLst/>
          </a:prstGeom>
          <a:noFill/>
          <a:ln w="27940">
            <a:solidFill>
              <a:schemeClr val="accent1"/>
            </a:solidFill>
            <a:prstDash val="solid"/>
            <a:tailEnd type="triangle"/>
          </a:ln>
        </p:spPr>
      </p:sp>
      <p:sp>
        <p:nvSpPr>
          <p:cNvPr id="23" name="Karta"/>
          <p:cNvSpPr/>
          <p:nvPr/>
        </p:nvSpPr>
        <p:spPr>
          <a:xfrm>
            <a:off x="11247120" y="3657600"/>
            <a:ext cx="5577840" cy="5715000"/>
          </a:xfrm>
          <a:prstGeom prst="roundRect">
            <a:avLst>
              <a:gd name="adj" fmla="val 2295"/>
            </a:avLst>
          </a:prstGeom>
          <a:solidFill>
            <a:schemeClr val="bg1"/>
          </a:solidFill>
          <a:ln w="12700">
            <a:solidFill>
              <a:schemeClr val="accent3"/>
            </a:solidFill>
            <a:prstDash val="solid"/>
          </a:ln>
        </p:spPr>
      </p:sp>
      <p:sp>
        <p:nvSpPr>
          <p:cNvPr id="24" name="Text 22"/>
          <p:cNvSpPr txBox="1"/>
          <p:nvPr/>
        </p:nvSpPr>
        <p:spPr>
          <a:xfrm>
            <a:off x="11521440" y="3794760"/>
            <a:ext cx="502920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accent1"/>
                </a:solidFill>
              </a:rPr>
              <a:t>Tabela daily_logs</a:t>
            </a:r>
            <a:endParaRPr lang="en-US" sz="1900" dirty="0"/>
          </a:p>
        </p:txBody>
      </p:sp>
      <p:sp>
        <p:nvSpPr>
          <p:cNvPr id="25" name="Text 23"/>
          <p:cNvSpPr txBox="1"/>
          <p:nvPr/>
        </p:nvSpPr>
        <p:spPr>
          <a:xfrm>
            <a:off x="11521440" y="4343400"/>
            <a:ext cx="1600200" cy="731520"/>
          </a:xfrm>
          <a:prstGeom prst="rect">
            <a:avLst/>
          </a:prstGeom>
          <a:noFill/>
          <a:ln/>
        </p:spPr>
        <p:txBody>
          <a:bodyPr wrap="square" lIns="0" tIns="0" rIns="0" bIns="0" rtlCol="0" anchor="t"/>
          <a:lstStyle/>
          <a:p>
            <a:pPr algn="l" indent="0" marL="0">
              <a:lnSpc>
                <a:spcPct val="100000"/>
              </a:lnSpc>
              <a:buNone/>
            </a:pPr>
            <a:r>
              <a:rPr lang="en-US" sz="1550" b="1" dirty="0">
                <a:solidFill>
                  <a:schemeClr val="tx1"/>
                </a:solidFill>
              </a:rPr>
              <a:t>Identyfikacja</a:t>
            </a:r>
            <a:endParaRPr lang="en-US" sz="1550" dirty="0"/>
          </a:p>
        </p:txBody>
      </p:sp>
      <p:sp>
        <p:nvSpPr>
          <p:cNvPr id="26" name="Text 24"/>
          <p:cNvSpPr txBox="1"/>
          <p:nvPr/>
        </p:nvSpPr>
        <p:spPr>
          <a:xfrm>
            <a:off x="13121640" y="4343400"/>
            <a:ext cx="3520440" cy="731520"/>
          </a:xfrm>
          <a:prstGeom prst="rect">
            <a:avLst/>
          </a:prstGeom>
          <a:noFill/>
          <a:ln/>
        </p:spPr>
        <p:txBody>
          <a:bodyPr wrap="square" lIns="0" tIns="0" rIns="0" bIns="0" rtlCol="0" anchor="t"/>
          <a:lstStyle/>
          <a:p>
            <a:pPr algn="l" indent="0" marL="0">
              <a:lnSpc>
                <a:spcPct val="100000"/>
              </a:lnSpc>
              <a:buNone/>
            </a:pPr>
            <a:r>
              <a:rPr lang="en-US" sz="1550" dirty="0">
                <a:solidFill>
                  <a:schemeClr val="tx1"/>
                </a:solidFill>
              </a:rPr>
              <a:t>user_id → users, date</a:t>
            </a:r>
            <a:endParaRPr lang="en-US" sz="1550" dirty="0"/>
          </a:p>
        </p:txBody>
      </p:sp>
      <p:sp>
        <p:nvSpPr>
          <p:cNvPr id="27" name="Text 25"/>
          <p:cNvSpPr txBox="1"/>
          <p:nvPr/>
        </p:nvSpPr>
        <p:spPr>
          <a:xfrm>
            <a:off x="11521440" y="5184648"/>
            <a:ext cx="1600200" cy="1325880"/>
          </a:xfrm>
          <a:prstGeom prst="rect">
            <a:avLst/>
          </a:prstGeom>
          <a:noFill/>
          <a:ln/>
        </p:spPr>
        <p:txBody>
          <a:bodyPr wrap="square" lIns="0" tIns="0" rIns="0" bIns="0" rtlCol="0" anchor="t"/>
          <a:lstStyle/>
          <a:p>
            <a:pPr algn="l" indent="0" marL="0">
              <a:lnSpc>
                <a:spcPct val="100000"/>
              </a:lnSpc>
              <a:buNone/>
            </a:pPr>
            <a:r>
              <a:rPr lang="en-US" sz="1550" b="1" dirty="0">
                <a:solidFill>
                  <a:schemeClr val="tx1"/>
                </a:solidFill>
              </a:rPr>
              <a:t>Rano</a:t>
            </a:r>
            <a:endParaRPr lang="en-US" sz="1550" dirty="0"/>
          </a:p>
        </p:txBody>
      </p:sp>
      <p:sp>
        <p:nvSpPr>
          <p:cNvPr id="28" name="Text 26"/>
          <p:cNvSpPr txBox="1"/>
          <p:nvPr/>
        </p:nvSpPr>
        <p:spPr>
          <a:xfrm>
            <a:off x="13121640" y="5184648"/>
            <a:ext cx="3520440" cy="1325880"/>
          </a:xfrm>
          <a:prstGeom prst="rect">
            <a:avLst/>
          </a:prstGeom>
          <a:noFill/>
          <a:ln/>
        </p:spPr>
        <p:txBody>
          <a:bodyPr wrap="square" lIns="0" tIns="0" rIns="0" bIns="0" rtlCol="0" anchor="t"/>
          <a:lstStyle/>
          <a:p>
            <a:pPr algn="l" indent="0" marL="0">
              <a:lnSpc>
                <a:spcPct val="100000"/>
              </a:lnSpc>
              <a:buNone/>
            </a:pPr>
            <a:r>
              <a:rPr lang="en-US" sz="1550" dirty="0">
                <a:solidFill>
                  <a:schemeClr val="tx1"/>
                </a:solidFill>
              </a:rPr>
              <a:t>sleep_start, sleep_end, sleep_latency_extra, sleep_quality, night_awakenings, morning_energy</a:t>
            </a:r>
            <a:endParaRPr lang="en-US" sz="1550" dirty="0"/>
          </a:p>
        </p:txBody>
      </p:sp>
      <p:sp>
        <p:nvSpPr>
          <p:cNvPr id="29" name="Text 27"/>
          <p:cNvSpPr txBox="1"/>
          <p:nvPr/>
        </p:nvSpPr>
        <p:spPr>
          <a:xfrm>
            <a:off x="11521440" y="6620256"/>
            <a:ext cx="1600200" cy="1325880"/>
          </a:xfrm>
          <a:prstGeom prst="rect">
            <a:avLst/>
          </a:prstGeom>
          <a:noFill/>
          <a:ln/>
        </p:spPr>
        <p:txBody>
          <a:bodyPr wrap="square" lIns="0" tIns="0" rIns="0" bIns="0" rtlCol="0" anchor="t"/>
          <a:lstStyle/>
          <a:p>
            <a:pPr algn="l" indent="0" marL="0">
              <a:lnSpc>
                <a:spcPct val="100000"/>
              </a:lnSpc>
              <a:buNone/>
            </a:pPr>
            <a:r>
              <a:rPr lang="en-US" sz="1550" b="1" dirty="0">
                <a:solidFill>
                  <a:schemeClr val="tx1"/>
                </a:solidFill>
              </a:rPr>
              <a:t>Wieczór</a:t>
            </a:r>
            <a:endParaRPr lang="en-US" sz="1550" dirty="0"/>
          </a:p>
        </p:txBody>
      </p:sp>
      <p:sp>
        <p:nvSpPr>
          <p:cNvPr id="30" name="Text 28"/>
          <p:cNvSpPr txBox="1"/>
          <p:nvPr/>
        </p:nvSpPr>
        <p:spPr>
          <a:xfrm>
            <a:off x="13121640" y="6620256"/>
            <a:ext cx="3520440" cy="1325880"/>
          </a:xfrm>
          <a:prstGeom prst="rect">
            <a:avLst/>
          </a:prstGeom>
          <a:noFill/>
          <a:ln/>
        </p:spPr>
        <p:txBody>
          <a:bodyPr wrap="square" lIns="0" tIns="0" rIns="0" bIns="0" rtlCol="0" anchor="t"/>
          <a:lstStyle/>
          <a:p>
            <a:pPr algn="l" indent="0" marL="0">
              <a:lnSpc>
                <a:spcPct val="100000"/>
              </a:lnSpc>
              <a:buNone/>
            </a:pPr>
            <a:r>
              <a:rPr lang="en-US" sz="1550" dirty="0">
                <a:solidFill>
                  <a:schemeClr val="tx1"/>
                </a:solidFill>
              </a:rPr>
              <a:t>day_rating, stress_level, coffee_last_6h, alcohol_last_4h, screens_last_hour, nap_type</a:t>
            </a:r>
            <a:endParaRPr lang="en-US" sz="1550" dirty="0"/>
          </a:p>
        </p:txBody>
      </p:sp>
      <p:sp>
        <p:nvSpPr>
          <p:cNvPr id="31" name="Text 29"/>
          <p:cNvSpPr txBox="1"/>
          <p:nvPr/>
        </p:nvSpPr>
        <p:spPr>
          <a:xfrm>
            <a:off x="11521440" y="8055864"/>
            <a:ext cx="1600200" cy="731520"/>
          </a:xfrm>
          <a:prstGeom prst="rect">
            <a:avLst/>
          </a:prstGeom>
          <a:noFill/>
          <a:ln/>
        </p:spPr>
        <p:txBody>
          <a:bodyPr wrap="square" lIns="0" tIns="0" rIns="0" bIns="0" rtlCol="0" anchor="t"/>
          <a:lstStyle/>
          <a:p>
            <a:pPr algn="l" indent="0" marL="0">
              <a:lnSpc>
                <a:spcPct val="100000"/>
              </a:lnSpc>
              <a:buNone/>
            </a:pPr>
            <a:r>
              <a:rPr lang="en-US" sz="1550" b="1" dirty="0">
                <a:solidFill>
                  <a:schemeClr val="tx1"/>
                </a:solidFill>
              </a:rPr>
              <a:t>Wyliczane</a:t>
            </a:r>
            <a:endParaRPr lang="en-US" sz="1550" dirty="0"/>
          </a:p>
        </p:txBody>
      </p:sp>
      <p:sp>
        <p:nvSpPr>
          <p:cNvPr id="32" name="Text 30"/>
          <p:cNvSpPr txBox="1"/>
          <p:nvPr/>
        </p:nvSpPr>
        <p:spPr>
          <a:xfrm>
            <a:off x="13121640" y="8055864"/>
            <a:ext cx="3520440" cy="731520"/>
          </a:xfrm>
          <a:prstGeom prst="rect">
            <a:avLst/>
          </a:prstGeom>
          <a:noFill/>
          <a:ln/>
        </p:spPr>
        <p:txBody>
          <a:bodyPr wrap="square" lIns="0" tIns="0" rIns="0" bIns="0" rtlCol="0" anchor="t"/>
          <a:lstStyle/>
          <a:p>
            <a:pPr algn="l" indent="0" marL="0">
              <a:lnSpc>
                <a:spcPct val="100000"/>
              </a:lnSpc>
              <a:buNone/>
            </a:pPr>
            <a:r>
              <a:rPr lang="en-US" sz="1550" dirty="0">
                <a:solidFill>
                  <a:schemeClr val="tx1"/>
                </a:solidFill>
              </a:rPr>
              <a:t>sleep_duration, day_score</a:t>
            </a:r>
            <a:endParaRPr lang="en-US" sz="1550" dirty="0"/>
          </a:p>
        </p:txBody>
      </p:sp>
      <p:sp>
        <p:nvSpPr>
          <p:cNvPr id="33" name="Text 31"/>
          <p:cNvSpPr txBox="1"/>
          <p:nvPr/>
        </p:nvSpPr>
        <p:spPr>
          <a:xfrm>
            <a:off x="11521440" y="8686800"/>
            <a:ext cx="5120640" cy="640080"/>
          </a:xfrm>
          <a:prstGeom prst="rect">
            <a:avLst/>
          </a:prstGeom>
          <a:noFill/>
          <a:ln/>
        </p:spPr>
        <p:txBody>
          <a:bodyPr wrap="square" lIns="0" tIns="0" rIns="0" bIns="0" rtlCol="0" anchor="t"/>
          <a:lstStyle/>
          <a:p>
            <a:pPr algn="l" indent="0" marL="0">
              <a:lnSpc>
                <a:spcPct val="100000"/>
              </a:lnSpc>
              <a:buNone/>
            </a:pPr>
            <a:r>
              <a:rPr lang="en-US" sz="1450" dirty="0">
                <a:solidFill>
                  <a:schemeClr val="accent4"/>
                </a:solidFill>
              </a:rPr>
              <a:t>users: e-mail, hasło (hash), imię, płeć, wiek, typowy czas zasypiania • relacja 1:N</a:t>
            </a:r>
            <a:endParaRPr lang="en-US" sz="14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sek postępu"/>
          <p:cNvSpPr/>
          <p:nvPr/>
        </p:nvSpPr>
        <p:spPr>
          <a:xfrm>
            <a:off x="1463040" y="868680"/>
            <a:ext cx="7069015"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Decyzje projektowe: dane i obliczenia</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Każda decyzja upraszcza późniejszą analizę zależności między nawykami a snem.</a:t>
            </a:r>
            <a:endParaRPr lang="en-US" sz="2200" dirty="0"/>
          </a:p>
        </p:txBody>
      </p:sp>
      <p:sp>
        <p:nvSpPr>
          <p:cNvPr id="5" name="Karta"/>
          <p:cNvSpPr/>
          <p:nvPr/>
        </p:nvSpPr>
        <p:spPr>
          <a:xfrm>
            <a:off x="1463040" y="3657600"/>
            <a:ext cx="8778240" cy="1737360"/>
          </a:xfrm>
          <a:prstGeom prst="roundRect">
            <a:avLst>
              <a:gd name="adj" fmla="val 7368"/>
            </a:avLst>
          </a:prstGeom>
          <a:solidFill>
            <a:schemeClr val="bg1"/>
          </a:solidFill>
          <a:ln w="12700">
            <a:solidFill>
              <a:schemeClr val="accent3"/>
            </a:solidFill>
            <a:prstDash val="solid"/>
          </a:ln>
        </p:spPr>
      </p:sp>
      <p:sp>
        <p:nvSpPr>
          <p:cNvPr id="6" name="Numer"/>
          <p:cNvSpPr/>
          <p:nvPr/>
        </p:nvSpPr>
        <p:spPr>
          <a:xfrm>
            <a:off x="1737360" y="3858768"/>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1737360" y="385876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6"/>
          <p:cNvSpPr txBox="1"/>
          <p:nvPr/>
        </p:nvSpPr>
        <p:spPr>
          <a:xfrm>
            <a:off x="2560320" y="3858768"/>
            <a:ext cx="7406640" cy="4572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Jeden rekord na dzień (upsert)</a:t>
            </a:r>
            <a:endParaRPr lang="en-US" sz="2000" dirty="0"/>
          </a:p>
        </p:txBody>
      </p:sp>
      <p:sp>
        <p:nvSpPr>
          <p:cNvPr id="9" name="Text 7"/>
          <p:cNvSpPr txBox="1"/>
          <p:nvPr/>
        </p:nvSpPr>
        <p:spPr>
          <a:xfrm>
            <a:off x="2560320" y="4370832"/>
            <a:ext cx="7452360" cy="96012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Wpis identyfikowany przez użytkownika i datę. Raporty mogą przyjść w dowolnej kolejności lub tylko jeden z nich, a statystyki to proste zapytanie po zakresie dat.</a:t>
            </a:r>
            <a:endParaRPr lang="en-US" sz="1650" dirty="0"/>
          </a:p>
        </p:txBody>
      </p:sp>
      <p:sp>
        <p:nvSpPr>
          <p:cNvPr id="10" name="Karta"/>
          <p:cNvSpPr/>
          <p:nvPr/>
        </p:nvSpPr>
        <p:spPr>
          <a:xfrm>
            <a:off x="1463040" y="5605272"/>
            <a:ext cx="8778240" cy="1737360"/>
          </a:xfrm>
          <a:prstGeom prst="roundRect">
            <a:avLst>
              <a:gd name="adj" fmla="val 7368"/>
            </a:avLst>
          </a:prstGeom>
          <a:solidFill>
            <a:schemeClr val="bg1"/>
          </a:solidFill>
          <a:ln w="12700">
            <a:solidFill>
              <a:schemeClr val="accent3"/>
            </a:solidFill>
            <a:prstDash val="solid"/>
          </a:ln>
        </p:spPr>
      </p:sp>
      <p:sp>
        <p:nvSpPr>
          <p:cNvPr id="11" name="Numer"/>
          <p:cNvSpPr/>
          <p:nvPr/>
        </p:nvSpPr>
        <p:spPr>
          <a:xfrm>
            <a:off x="1737360" y="580644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1737360" y="58064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2560320" y="5806440"/>
            <a:ext cx="7406640" cy="4572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Nawyki wieczorne w rekordzie D+1</a:t>
            </a:r>
            <a:endParaRPr lang="en-US" sz="2000" dirty="0"/>
          </a:p>
        </p:txBody>
      </p:sp>
      <p:sp>
        <p:nvSpPr>
          <p:cNvPr id="14" name="Text 12"/>
          <p:cNvSpPr txBox="1"/>
          <p:nvPr/>
        </p:nvSpPr>
        <p:spPr>
          <a:xfrm>
            <a:off x="2560320" y="6318504"/>
            <a:ext cx="7452360" cy="96012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Kawa, alkohol czy ekrany wpływają na noc opisywaną następnego ranka, więc przyczyna i skutek leżą w jednym wierszu.</a:t>
            </a:r>
            <a:endParaRPr lang="en-US" sz="1650" dirty="0"/>
          </a:p>
        </p:txBody>
      </p:sp>
      <p:sp>
        <p:nvSpPr>
          <p:cNvPr id="15" name="Karta"/>
          <p:cNvSpPr/>
          <p:nvPr/>
        </p:nvSpPr>
        <p:spPr>
          <a:xfrm>
            <a:off x="1463040" y="7552944"/>
            <a:ext cx="8778240" cy="1737360"/>
          </a:xfrm>
          <a:prstGeom prst="roundRect">
            <a:avLst>
              <a:gd name="adj" fmla="val 7368"/>
            </a:avLst>
          </a:prstGeom>
          <a:solidFill>
            <a:schemeClr val="bg1"/>
          </a:solidFill>
          <a:ln w="12700">
            <a:solidFill>
              <a:schemeClr val="accent3"/>
            </a:solidFill>
            <a:prstDash val="solid"/>
          </a:ln>
        </p:spPr>
      </p:sp>
      <p:sp>
        <p:nvSpPr>
          <p:cNvPr id="16" name="Numer"/>
          <p:cNvSpPr/>
          <p:nvPr/>
        </p:nvSpPr>
        <p:spPr>
          <a:xfrm>
            <a:off x="1737360" y="7754112"/>
            <a:ext cx="566928" cy="566928"/>
          </a:xfrm>
          <a:prstGeom prst="ellipse">
            <a:avLst/>
          </a:prstGeom>
          <a:solidFill>
            <a:schemeClr val="accent1"/>
          </a:solidFill>
          <a:ln w="12700">
            <a:solidFill>
              <a:schemeClr val="accent1"/>
            </a:solidFill>
            <a:prstDash val="solid"/>
          </a:ln>
        </p:spPr>
      </p:sp>
      <p:sp>
        <p:nvSpPr>
          <p:cNvPr id="17" name="Text 15"/>
          <p:cNvSpPr txBox="1"/>
          <p:nvPr/>
        </p:nvSpPr>
        <p:spPr>
          <a:xfrm>
            <a:off x="1737360" y="775411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6"/>
          <p:cNvSpPr txBox="1"/>
          <p:nvPr/>
        </p:nvSpPr>
        <p:spPr>
          <a:xfrm>
            <a:off x="2560320" y="7754112"/>
            <a:ext cx="7406640" cy="457200"/>
          </a:xfrm>
          <a:prstGeom prst="rect">
            <a:avLst/>
          </a:prstGeom>
          <a:noFill/>
          <a:ln/>
        </p:spPr>
        <p:txBody>
          <a:bodyPr wrap="square" lIns="0" tIns="0" rIns="0" bIns="0" rtlCol="0" anchor="t"/>
          <a:lstStyle/>
          <a:p>
            <a:pPr algn="l" indent="0" marL="0">
              <a:lnSpc>
                <a:spcPct val="100000"/>
              </a:lnSpc>
              <a:buNone/>
            </a:pPr>
            <a:r>
              <a:rPr lang="en-US" sz="2000" b="1" dirty="0">
                <a:solidFill>
                  <a:schemeClr val="tx1"/>
                </a:solidFill>
              </a:rPr>
              <a:t>Realny czas snu z profilu</a:t>
            </a:r>
            <a:endParaRPr lang="en-US" sz="2000" dirty="0"/>
          </a:p>
        </p:txBody>
      </p:sp>
      <p:sp>
        <p:nvSpPr>
          <p:cNvPr id="19" name="Text 17"/>
          <p:cNvSpPr txBox="1"/>
          <p:nvPr/>
        </p:nvSpPr>
        <p:spPr>
          <a:xfrm>
            <a:off x="2560320" y="8266176"/>
            <a:ext cx="7452360" cy="96012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Czas w łóżku minus typowy czas zasypiania z profilu i dodatkowe opóźnienie. Użytkownik nie musi znać dokładnej godziny zaśnięcia.</a:t>
            </a:r>
            <a:endParaRPr lang="en-US" sz="1650" dirty="0"/>
          </a:p>
        </p:txBody>
      </p:sp>
      <p:sp>
        <p:nvSpPr>
          <p:cNvPr id="20" name="Karta"/>
          <p:cNvSpPr/>
          <p:nvPr/>
        </p:nvSpPr>
        <p:spPr>
          <a:xfrm>
            <a:off x="10744200" y="3657600"/>
            <a:ext cx="6080760" cy="5632704"/>
          </a:xfrm>
          <a:prstGeom prst="roundRect">
            <a:avLst>
              <a:gd name="adj" fmla="val 2273"/>
            </a:avLst>
          </a:prstGeom>
          <a:solidFill>
            <a:schemeClr val="accent2"/>
          </a:solidFill>
          <a:ln w="16510">
            <a:solidFill>
              <a:schemeClr val="accent1"/>
            </a:solidFill>
            <a:prstDash val="solid"/>
          </a:ln>
        </p:spPr>
      </p:sp>
      <p:sp>
        <p:nvSpPr>
          <p:cNvPr id="21" name="Numer"/>
          <p:cNvSpPr/>
          <p:nvPr/>
        </p:nvSpPr>
        <p:spPr>
          <a:xfrm>
            <a:off x="11064240" y="3886200"/>
            <a:ext cx="566928" cy="566928"/>
          </a:xfrm>
          <a:prstGeom prst="ellipse">
            <a:avLst/>
          </a:prstGeom>
          <a:solidFill>
            <a:schemeClr val="accent1"/>
          </a:solidFill>
          <a:ln w="12700">
            <a:solidFill>
              <a:schemeClr val="accent1"/>
            </a:solidFill>
            <a:prstDash val="solid"/>
          </a:ln>
        </p:spPr>
      </p:sp>
      <p:sp>
        <p:nvSpPr>
          <p:cNvPr id="22" name="Text 20"/>
          <p:cNvSpPr txBox="1"/>
          <p:nvPr/>
        </p:nvSpPr>
        <p:spPr>
          <a:xfrm>
            <a:off x="11064240" y="3886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3" name="Text 21"/>
          <p:cNvSpPr txBox="1"/>
          <p:nvPr/>
        </p:nvSpPr>
        <p:spPr>
          <a:xfrm>
            <a:off x="11887200" y="3886200"/>
            <a:ext cx="4754880" cy="566928"/>
          </a:xfrm>
          <a:prstGeom prst="rect">
            <a:avLst/>
          </a:prstGeom>
          <a:noFill/>
          <a:ln/>
        </p:spPr>
        <p:txBody>
          <a:bodyPr wrap="square" lIns="0" tIns="0" rIns="0" bIns="0" rtlCol="0" anchor="ctr"/>
          <a:lstStyle/>
          <a:p>
            <a:pPr algn="l" indent="0" marL="0">
              <a:lnSpc>
                <a:spcPct val="100000"/>
              </a:lnSpc>
              <a:buNone/>
            </a:pPr>
            <a:r>
              <a:rPr lang="en-US" sz="2100" b="1" dirty="0">
                <a:solidFill>
                  <a:schemeClr val="tx1"/>
                </a:solidFill>
              </a:rPr>
              <a:t>Wskaźnik DayScore</a:t>
            </a:r>
            <a:endParaRPr lang="en-US" sz="2100" dirty="0"/>
          </a:p>
        </p:txBody>
      </p:sp>
      <p:sp>
        <p:nvSpPr>
          <p:cNvPr id="24" name="Text 22"/>
          <p:cNvSpPr txBox="1"/>
          <p:nvPr/>
        </p:nvSpPr>
        <p:spPr>
          <a:xfrm>
            <a:off x="11064240" y="4846320"/>
            <a:ext cx="5394960" cy="457200"/>
          </a:xfrm>
          <a:prstGeom prst="rect">
            <a:avLst/>
          </a:prstGeom>
          <a:noFill/>
          <a:ln/>
        </p:spPr>
        <p:txBody>
          <a:bodyPr wrap="square" lIns="0" tIns="0" rIns="0" bIns="0" rtlCol="0" anchor="t"/>
          <a:lstStyle/>
          <a:p>
            <a:pPr algn="l" indent="0" marL="0">
              <a:lnSpc>
                <a:spcPct val="100000"/>
              </a:lnSpc>
              <a:buNone/>
            </a:pPr>
            <a:r>
              <a:rPr lang="en-US" sz="2000" dirty="0">
                <a:solidFill>
                  <a:schemeClr val="accent4"/>
                </a:solidFill>
              </a:rPr>
              <a:t>DayScore =</a:t>
            </a:r>
            <a:endParaRPr lang="en-US" sz="2000" dirty="0"/>
          </a:p>
        </p:txBody>
      </p:sp>
      <p:sp>
        <p:nvSpPr>
          <p:cNvPr id="25" name="Text 23"/>
          <p:cNvSpPr txBox="1"/>
          <p:nvPr/>
        </p:nvSpPr>
        <p:spPr>
          <a:xfrm>
            <a:off x="11064240" y="5349240"/>
            <a:ext cx="5394960" cy="1645920"/>
          </a:xfrm>
          <a:prstGeom prst="rect">
            <a:avLst/>
          </a:prstGeom>
          <a:noFill/>
          <a:ln/>
        </p:spPr>
        <p:txBody>
          <a:bodyPr wrap="square" lIns="0" tIns="0" rIns="0" bIns="0" rtlCol="0" anchor="t"/>
          <a:lstStyle/>
          <a:p>
            <a:pPr algn="l" indent="0" marL="0">
              <a:lnSpc>
                <a:spcPct val="110000"/>
              </a:lnSpc>
              <a:buNone/>
            </a:pPr>
            <a:r>
              <a:rPr lang="en-US" sz="2600" b="1" dirty="0">
                <a:solidFill>
                  <a:schemeClr val="accent1"/>
                </a:solidFill>
              </a:rPr>
              <a:t>0,25</a:t>
            </a:r>
            <a:pPr algn="l" indent="0" marL="0">
              <a:lnSpc>
                <a:spcPct val="110000"/>
              </a:lnSpc>
              <a:buNone/>
            </a:pPr>
            <a:r>
              <a:rPr lang="en-US" sz="2600" dirty="0">
                <a:solidFill>
                  <a:schemeClr val="tx1"/>
                </a:solidFill>
              </a:rPr>
              <a:t> · jakość snu
</a:t>
            </a:r>
            <a:pPr algn="l" indent="0" marL="0">
              <a:lnSpc>
                <a:spcPct val="110000"/>
              </a:lnSpc>
              <a:buNone/>
            </a:pPr>
            <a:r>
              <a:rPr lang="en-US" sz="2600" b="1" dirty="0">
                <a:solidFill>
                  <a:schemeClr val="accent1"/>
                </a:solidFill>
              </a:rPr>
              <a:t>+ 0,25</a:t>
            </a:r>
            <a:pPr algn="l" indent="0" marL="0">
              <a:lnSpc>
                <a:spcPct val="110000"/>
              </a:lnSpc>
              <a:buNone/>
            </a:pPr>
            <a:r>
              <a:rPr lang="en-US" sz="2600" dirty="0">
                <a:solidFill>
                  <a:schemeClr val="tx1"/>
                </a:solidFill>
              </a:rPr>
              <a:t> · energia rano
</a:t>
            </a:r>
            <a:pPr algn="l" indent="0" marL="0">
              <a:lnSpc>
                <a:spcPct val="110000"/>
              </a:lnSpc>
              <a:buNone/>
            </a:pPr>
            <a:r>
              <a:rPr lang="en-US" sz="2600" b="1" dirty="0">
                <a:solidFill>
                  <a:schemeClr val="accent1"/>
                </a:solidFill>
              </a:rPr>
              <a:t>+ 0,5</a:t>
            </a:r>
            <a:pPr algn="l" indent="0" marL="0">
              <a:lnSpc>
                <a:spcPct val="110000"/>
              </a:lnSpc>
              <a:buNone/>
            </a:pPr>
            <a:r>
              <a:rPr lang="en-US" sz="2600" dirty="0">
                <a:solidFill>
                  <a:schemeClr val="tx1"/>
                </a:solidFill>
              </a:rPr>
              <a:t> · ocena dnia</a:t>
            </a:r>
            <a:endParaRPr lang="en-US" sz="2600" dirty="0"/>
          </a:p>
        </p:txBody>
      </p:sp>
      <p:sp>
        <p:nvSpPr>
          <p:cNvPr id="26" name="Text 24"/>
          <p:cNvSpPr txBox="1"/>
          <p:nvPr/>
        </p:nvSpPr>
        <p:spPr>
          <a:xfrm>
            <a:off x="11064240" y="7086600"/>
            <a:ext cx="5440680" cy="192024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Połowa wyniku to całościowa ocena dnia, druga połowa opisuje regenerację po nocy. Skala 1-10, wartość zapisywana przy każdym zapisie i edycji wpisu.</a:t>
            </a:r>
            <a:endParaRPr lang="en-US" sz="16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sek postępu"/>
          <p:cNvSpPr/>
          <p:nvPr/>
        </p:nvSpPr>
        <p:spPr>
          <a:xfrm>
            <a:off x="1463040" y="868680"/>
            <a:ext cx="8247185"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Decyzje projektowe: testy i rekomendacje</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Wybory przygotowujące system do modułu rekomendacji.</a:t>
            </a:r>
            <a:endParaRPr lang="en-US" sz="2200" dirty="0"/>
          </a:p>
        </p:txBody>
      </p:sp>
      <p:sp>
        <p:nvSpPr>
          <p:cNvPr id="5" name="Text 3"/>
          <p:cNvSpPr txBox="1"/>
          <p:nvPr/>
        </p:nvSpPr>
        <p:spPr>
          <a:xfrm>
            <a:off x="2286000" y="3611880"/>
            <a:ext cx="5943600" cy="365760"/>
          </a:xfrm>
          <a:prstGeom prst="rect">
            <a:avLst/>
          </a:prstGeom>
          <a:noFill/>
          <a:ln/>
        </p:spPr>
        <p:txBody>
          <a:bodyPr wrap="square" lIns="0" tIns="0" rIns="0" bIns="0" rtlCol="0" anchor="t"/>
          <a:lstStyle/>
          <a:p>
            <a:pPr algn="l" indent="0" marL="0">
              <a:lnSpc>
                <a:spcPct val="100000"/>
              </a:lnSpc>
              <a:buNone/>
            </a:pPr>
            <a:r>
              <a:rPr lang="en-US" sz="1600" b="1" dirty="0">
                <a:solidFill>
                  <a:schemeClr val="accent4"/>
                </a:solidFill>
              </a:rPr>
              <a:t>Decyzja</a:t>
            </a:r>
            <a:endParaRPr lang="en-US" sz="1600" dirty="0"/>
          </a:p>
        </p:txBody>
      </p:sp>
      <p:sp>
        <p:nvSpPr>
          <p:cNvPr id="6" name="Text 4"/>
          <p:cNvSpPr txBox="1"/>
          <p:nvPr/>
        </p:nvSpPr>
        <p:spPr>
          <a:xfrm>
            <a:off x="10881360" y="3611880"/>
            <a:ext cx="5760720" cy="365760"/>
          </a:xfrm>
          <a:prstGeom prst="rect">
            <a:avLst/>
          </a:prstGeom>
          <a:noFill/>
          <a:ln/>
        </p:spPr>
        <p:txBody>
          <a:bodyPr wrap="square" lIns="0" tIns="0" rIns="0" bIns="0" rtlCol="0" anchor="t"/>
          <a:lstStyle/>
          <a:p>
            <a:pPr algn="l" indent="0" marL="0">
              <a:lnSpc>
                <a:spcPct val="100000"/>
              </a:lnSpc>
              <a:buNone/>
            </a:pPr>
            <a:r>
              <a:rPr lang="en-US" sz="1600" b="1" dirty="0">
                <a:solidFill>
                  <a:schemeClr val="accent4"/>
                </a:solidFill>
              </a:rPr>
              <a:t>Uzasadnienie</a:t>
            </a:r>
            <a:endParaRPr lang="en-US" sz="1600" dirty="0"/>
          </a:p>
        </p:txBody>
      </p:sp>
      <p:sp>
        <p:nvSpPr>
          <p:cNvPr id="7" name="Karta"/>
          <p:cNvSpPr/>
          <p:nvPr/>
        </p:nvSpPr>
        <p:spPr>
          <a:xfrm>
            <a:off x="1463040" y="4069080"/>
            <a:ext cx="15361920" cy="1234440"/>
          </a:xfrm>
          <a:prstGeom prst="roundRect">
            <a:avLst>
              <a:gd name="adj" fmla="val 7407"/>
            </a:avLst>
          </a:prstGeom>
          <a:solidFill>
            <a:schemeClr val="bg1"/>
          </a:solidFill>
          <a:ln w="12700">
            <a:solidFill>
              <a:schemeClr val="accent3"/>
            </a:solidFill>
            <a:prstDash val="solid"/>
          </a:ln>
        </p:spPr>
      </p:sp>
      <p:sp>
        <p:nvSpPr>
          <p:cNvPr id="8" name="Numer"/>
          <p:cNvSpPr/>
          <p:nvPr/>
        </p:nvSpPr>
        <p:spPr>
          <a:xfrm>
            <a:off x="1691640" y="4407408"/>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1691640" y="4407408"/>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5</a:t>
            </a:r>
            <a:endParaRPr lang="en-US" sz="1900" dirty="0"/>
          </a:p>
        </p:txBody>
      </p:sp>
      <p:sp>
        <p:nvSpPr>
          <p:cNvPr id="10" name="Text 8"/>
          <p:cNvSpPr txBox="1"/>
          <p:nvPr/>
        </p:nvSpPr>
        <p:spPr>
          <a:xfrm>
            <a:off x="2468880" y="4187952"/>
            <a:ext cx="81381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Nawyki jako wartości kategoryczne</a:t>
            </a:r>
            <a:endParaRPr lang="en-US" sz="1900" dirty="0"/>
          </a:p>
        </p:txBody>
      </p:sp>
      <p:sp>
        <p:nvSpPr>
          <p:cNvPr id="11" name="Text 9"/>
          <p:cNvSpPr txBox="1"/>
          <p:nvPr/>
        </p:nvSpPr>
        <p:spPr>
          <a:xfrm>
            <a:off x="2468880" y="4617720"/>
            <a:ext cx="8138160" cy="6400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kawa i alkohol: tak/nie w oknie 6 h / 4 h przed snem, ekrany: low/medium/high, drzemka: none/short/medium/long</a:t>
            </a:r>
            <a:endParaRPr lang="en-US" sz="1500" dirty="0"/>
          </a:p>
        </p:txBody>
      </p:sp>
      <p:sp>
        <p:nvSpPr>
          <p:cNvPr id="12" name="Uzasadnienie"/>
          <p:cNvSpPr/>
          <p:nvPr/>
        </p:nvSpPr>
        <p:spPr>
          <a:xfrm>
            <a:off x="10744200" y="4206240"/>
            <a:ext cx="5897880" cy="960120"/>
          </a:xfrm>
          <a:prstGeom prst="roundRect">
            <a:avLst>
              <a:gd name="adj" fmla="val 7619"/>
            </a:avLst>
          </a:prstGeom>
          <a:solidFill>
            <a:schemeClr val="accent2"/>
          </a:solidFill>
          <a:ln/>
        </p:spPr>
      </p:sp>
      <p:sp>
        <p:nvSpPr>
          <p:cNvPr id="13" name="Text 11"/>
          <p:cNvSpPr txBox="1"/>
          <p:nvPr/>
        </p:nvSpPr>
        <p:spPr>
          <a:xfrm>
            <a:off x="10927080" y="4206240"/>
            <a:ext cx="5577840" cy="960120"/>
          </a:xfrm>
          <a:prstGeom prst="rect">
            <a:avLst/>
          </a:prstGeom>
          <a:noFill/>
          <a:ln/>
        </p:spPr>
        <p:txBody>
          <a:bodyPr wrap="square" lIns="0" tIns="0" rIns="0" bIns="0" rtlCol="0" anchor="ctr"/>
          <a:lstStyle/>
          <a:p>
            <a:pPr algn="l" indent="0" marL="0">
              <a:lnSpc>
                <a:spcPct val="100000"/>
              </a:lnSpc>
              <a:buNone/>
            </a:pPr>
            <a:r>
              <a:rPr lang="en-US" sz="1600" dirty="0">
                <a:solidFill>
                  <a:schemeClr val="tx1"/>
                </a:solidFill>
              </a:rPr>
              <a:t>szybki wieczorny wpis, porównywalne dane, proste reguły (dni z kawą vs bez)</a:t>
            </a:r>
            <a:endParaRPr lang="en-US" sz="1600" dirty="0"/>
          </a:p>
        </p:txBody>
      </p:sp>
      <p:sp>
        <p:nvSpPr>
          <p:cNvPr id="14" name="Karta"/>
          <p:cNvSpPr/>
          <p:nvPr/>
        </p:nvSpPr>
        <p:spPr>
          <a:xfrm>
            <a:off x="1463040" y="5440680"/>
            <a:ext cx="15361920" cy="1234440"/>
          </a:xfrm>
          <a:prstGeom prst="roundRect">
            <a:avLst>
              <a:gd name="adj" fmla="val 7407"/>
            </a:avLst>
          </a:prstGeom>
          <a:solidFill>
            <a:schemeClr val="bg1"/>
          </a:solidFill>
          <a:ln w="12700">
            <a:solidFill>
              <a:schemeClr val="accent3"/>
            </a:solidFill>
            <a:prstDash val="solid"/>
          </a:ln>
        </p:spPr>
      </p:sp>
      <p:sp>
        <p:nvSpPr>
          <p:cNvPr id="15" name="Numer"/>
          <p:cNvSpPr/>
          <p:nvPr/>
        </p:nvSpPr>
        <p:spPr>
          <a:xfrm>
            <a:off x="1691640" y="5779008"/>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1691640" y="5779008"/>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6</a:t>
            </a:r>
            <a:endParaRPr lang="en-US" sz="1900" dirty="0"/>
          </a:p>
        </p:txBody>
      </p:sp>
      <p:sp>
        <p:nvSpPr>
          <p:cNvPr id="17" name="Text 15"/>
          <p:cNvSpPr txBox="1"/>
          <p:nvPr/>
        </p:nvSpPr>
        <p:spPr>
          <a:xfrm>
            <a:off x="2468880" y="5559552"/>
            <a:ext cx="81381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Dane syntetyczne z profili JSON</a:t>
            </a:r>
            <a:endParaRPr lang="en-US" sz="1900" dirty="0"/>
          </a:p>
        </p:txBody>
      </p:sp>
      <p:sp>
        <p:nvSpPr>
          <p:cNvPr id="18" name="Text 16"/>
          <p:cNvSpPr txBox="1"/>
          <p:nvPr/>
        </p:nvSpPr>
        <p:spPr>
          <a:xfrm>
            <a:off x="2468880" y="5989320"/>
            <a:ext cx="8138160" cy="6400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5 person z okresami specjalnymi (sesja, urlop, deadline) i stałym seedem</a:t>
            </a:r>
            <a:endParaRPr lang="en-US" sz="1500" dirty="0"/>
          </a:p>
        </p:txBody>
      </p:sp>
      <p:sp>
        <p:nvSpPr>
          <p:cNvPr id="19" name="Uzasadnienie"/>
          <p:cNvSpPr/>
          <p:nvPr/>
        </p:nvSpPr>
        <p:spPr>
          <a:xfrm>
            <a:off x="10744200" y="5577840"/>
            <a:ext cx="5897880" cy="960120"/>
          </a:xfrm>
          <a:prstGeom prst="roundRect">
            <a:avLst>
              <a:gd name="adj" fmla="val 7619"/>
            </a:avLst>
          </a:prstGeom>
          <a:solidFill>
            <a:schemeClr val="accent2"/>
          </a:solidFill>
          <a:ln/>
        </p:spPr>
      </p:sp>
      <p:sp>
        <p:nvSpPr>
          <p:cNvPr id="20" name="Text 18"/>
          <p:cNvSpPr txBox="1"/>
          <p:nvPr/>
        </p:nvSpPr>
        <p:spPr>
          <a:xfrm>
            <a:off x="10927080" y="5577840"/>
            <a:ext cx="5577840" cy="960120"/>
          </a:xfrm>
          <a:prstGeom prst="rect">
            <a:avLst/>
          </a:prstGeom>
          <a:noFill/>
          <a:ln/>
        </p:spPr>
        <p:txBody>
          <a:bodyPr wrap="square" lIns="0" tIns="0" rIns="0" bIns="0" rtlCol="0" anchor="ctr"/>
          <a:lstStyle/>
          <a:p>
            <a:pPr algn="l" indent="0" marL="0">
              <a:lnSpc>
                <a:spcPct val="100000"/>
              </a:lnSpc>
              <a:buNone/>
            </a:pPr>
            <a:r>
              <a:rPr lang="en-US" sz="1600" dirty="0">
                <a:solidFill>
                  <a:schemeClr val="tx1"/>
                </a:solidFill>
              </a:rPr>
              <a:t>brak realnych użytkowników na tym etapie, powtarzalne dane ze znanymi zależnościami</a:t>
            </a:r>
            <a:endParaRPr lang="en-US" sz="1600" dirty="0"/>
          </a:p>
        </p:txBody>
      </p:sp>
      <p:sp>
        <p:nvSpPr>
          <p:cNvPr id="21" name="Karta"/>
          <p:cNvSpPr/>
          <p:nvPr/>
        </p:nvSpPr>
        <p:spPr>
          <a:xfrm>
            <a:off x="1463040" y="6812280"/>
            <a:ext cx="15361920" cy="1234440"/>
          </a:xfrm>
          <a:prstGeom prst="roundRect">
            <a:avLst>
              <a:gd name="adj" fmla="val 7407"/>
            </a:avLst>
          </a:prstGeom>
          <a:solidFill>
            <a:schemeClr val="bg1"/>
          </a:solidFill>
          <a:ln w="12700">
            <a:solidFill>
              <a:schemeClr val="accent3"/>
            </a:solidFill>
            <a:prstDash val="solid"/>
          </a:ln>
        </p:spPr>
      </p:sp>
      <p:sp>
        <p:nvSpPr>
          <p:cNvPr id="22" name="Numer"/>
          <p:cNvSpPr/>
          <p:nvPr/>
        </p:nvSpPr>
        <p:spPr>
          <a:xfrm>
            <a:off x="1691640" y="7150608"/>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1691640" y="7150608"/>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7</a:t>
            </a:r>
            <a:endParaRPr lang="en-US" sz="1900" dirty="0"/>
          </a:p>
        </p:txBody>
      </p:sp>
      <p:sp>
        <p:nvSpPr>
          <p:cNvPr id="24" name="Text 22"/>
          <p:cNvSpPr txBox="1"/>
          <p:nvPr/>
        </p:nvSpPr>
        <p:spPr>
          <a:xfrm>
            <a:off x="2468880" y="6931152"/>
            <a:ext cx="81381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Rekomendacje: reguły + LLM (kierunek wstępny)</a:t>
            </a:r>
            <a:endParaRPr lang="en-US" sz="1900" dirty="0"/>
          </a:p>
        </p:txBody>
      </p:sp>
      <p:sp>
        <p:nvSpPr>
          <p:cNvPr id="25" name="Text 23"/>
          <p:cNvSpPr txBox="1"/>
          <p:nvPr/>
        </p:nvSpPr>
        <p:spPr>
          <a:xfrm>
            <a:off x="2468880" y="7360920"/>
            <a:ext cx="8138160" cy="6400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reguły liczą fakty z historii, LLM opisuje je językiem naturalnym; ML tylko opcjonalnie</a:t>
            </a:r>
            <a:endParaRPr lang="en-US" sz="1500" dirty="0"/>
          </a:p>
        </p:txBody>
      </p:sp>
      <p:sp>
        <p:nvSpPr>
          <p:cNvPr id="26" name="Uzasadnienie"/>
          <p:cNvSpPr/>
          <p:nvPr/>
        </p:nvSpPr>
        <p:spPr>
          <a:xfrm>
            <a:off x="10744200" y="6949440"/>
            <a:ext cx="5897880" cy="960120"/>
          </a:xfrm>
          <a:prstGeom prst="roundRect">
            <a:avLst>
              <a:gd name="adj" fmla="val 7619"/>
            </a:avLst>
          </a:prstGeom>
          <a:solidFill>
            <a:schemeClr val="accent2"/>
          </a:solidFill>
          <a:ln/>
        </p:spPr>
      </p:sp>
      <p:sp>
        <p:nvSpPr>
          <p:cNvPr id="27" name="Text 25"/>
          <p:cNvSpPr txBox="1"/>
          <p:nvPr/>
        </p:nvSpPr>
        <p:spPr>
          <a:xfrm>
            <a:off x="10927080" y="6949440"/>
            <a:ext cx="5577840" cy="960120"/>
          </a:xfrm>
          <a:prstGeom prst="rect">
            <a:avLst/>
          </a:prstGeom>
          <a:noFill/>
          <a:ln/>
        </p:spPr>
        <p:txBody>
          <a:bodyPr wrap="square" lIns="0" tIns="0" rIns="0" bIns="0" rtlCol="0" anchor="ctr"/>
          <a:lstStyle/>
          <a:p>
            <a:pPr algn="l" indent="0" marL="0">
              <a:lnSpc>
                <a:spcPct val="100000"/>
              </a:lnSpc>
              <a:buNone/>
            </a:pPr>
            <a:r>
              <a:rPr lang="en-US" sz="1600" dirty="0">
                <a:solidFill>
                  <a:schemeClr val="tx1"/>
                </a:solidFill>
              </a:rPr>
              <a:t>mniejsze ryzyko odpowiedzi niezgodnych z danymi, niezależność od jednego dostawcy</a:t>
            </a:r>
            <a:endParaRPr lang="en-US" sz="1600" dirty="0"/>
          </a:p>
        </p:txBody>
      </p:sp>
      <p:sp>
        <p:nvSpPr>
          <p:cNvPr id="28" name="Karta"/>
          <p:cNvSpPr/>
          <p:nvPr/>
        </p:nvSpPr>
        <p:spPr>
          <a:xfrm>
            <a:off x="1463040" y="8183880"/>
            <a:ext cx="15361920" cy="1234440"/>
          </a:xfrm>
          <a:prstGeom prst="roundRect">
            <a:avLst>
              <a:gd name="adj" fmla="val 7407"/>
            </a:avLst>
          </a:prstGeom>
          <a:solidFill>
            <a:schemeClr val="bg1"/>
          </a:solidFill>
          <a:ln w="12700">
            <a:solidFill>
              <a:schemeClr val="accent3"/>
            </a:solidFill>
            <a:prstDash val="solid"/>
          </a:ln>
        </p:spPr>
      </p:sp>
      <p:sp>
        <p:nvSpPr>
          <p:cNvPr id="29" name="Numer"/>
          <p:cNvSpPr/>
          <p:nvPr/>
        </p:nvSpPr>
        <p:spPr>
          <a:xfrm>
            <a:off x="1691640" y="8522208"/>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1691640" y="8522208"/>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8</a:t>
            </a:r>
            <a:endParaRPr lang="en-US" sz="1900" dirty="0"/>
          </a:p>
        </p:txBody>
      </p:sp>
      <p:sp>
        <p:nvSpPr>
          <p:cNvPr id="31" name="Text 29"/>
          <p:cNvSpPr txBox="1"/>
          <p:nvPr/>
        </p:nvSpPr>
        <p:spPr>
          <a:xfrm>
            <a:off x="2468880" y="8302752"/>
            <a:ext cx="8138160" cy="411480"/>
          </a:xfrm>
          <a:prstGeom prst="rect">
            <a:avLst/>
          </a:prstGeom>
          <a:noFill/>
          <a:ln/>
        </p:spPr>
        <p:txBody>
          <a:bodyPr wrap="square" lIns="0" tIns="0" rIns="0" bIns="0" rtlCol="0" anchor="t"/>
          <a:lstStyle/>
          <a:p>
            <a:pPr algn="l" indent="0" marL="0">
              <a:lnSpc>
                <a:spcPct val="100000"/>
              </a:lnSpc>
              <a:buNone/>
            </a:pPr>
            <a:r>
              <a:rPr lang="en-US" sz="1900" b="1" dirty="0">
                <a:solidFill>
                  <a:schemeClr val="tx1"/>
                </a:solidFill>
              </a:rPr>
              <a:t>Warstwowy backend i bezstanowe JWT</a:t>
            </a:r>
            <a:endParaRPr lang="en-US" sz="1900" dirty="0"/>
          </a:p>
        </p:txBody>
      </p:sp>
      <p:sp>
        <p:nvSpPr>
          <p:cNvPr id="32" name="Text 30"/>
          <p:cNvSpPr txBox="1"/>
          <p:nvPr/>
        </p:nvSpPr>
        <p:spPr>
          <a:xfrm>
            <a:off x="2468880" y="8732520"/>
            <a:ext cx="8138160" cy="640080"/>
          </a:xfrm>
          <a:prstGeom prst="rect">
            <a:avLst/>
          </a:prstGeom>
          <a:noFill/>
          <a:ln/>
        </p:spPr>
        <p:txBody>
          <a:bodyPr wrap="square" lIns="0" tIns="0" rIns="0" bIns="0" rtlCol="0" anchor="t"/>
          <a:lstStyle/>
          <a:p>
            <a:pPr algn="l" indent="0" marL="0">
              <a:lnSpc>
                <a:spcPct val="100000"/>
              </a:lnSpc>
              <a:buNone/>
            </a:pPr>
            <a:r>
              <a:rPr lang="en-US" sz="1500" dirty="0">
                <a:solidFill>
                  <a:schemeClr val="tx1"/>
                </a:solidFill>
              </a:rPr>
              <a:t>routers / crud / services / schemas, walidacja w schematach Pydantic</a:t>
            </a:r>
            <a:endParaRPr lang="en-US" sz="1500" dirty="0"/>
          </a:p>
        </p:txBody>
      </p:sp>
      <p:sp>
        <p:nvSpPr>
          <p:cNvPr id="33" name="Uzasadnienie"/>
          <p:cNvSpPr/>
          <p:nvPr/>
        </p:nvSpPr>
        <p:spPr>
          <a:xfrm>
            <a:off x="10744200" y="8321040"/>
            <a:ext cx="5897880" cy="960120"/>
          </a:xfrm>
          <a:prstGeom prst="roundRect">
            <a:avLst>
              <a:gd name="adj" fmla="val 7619"/>
            </a:avLst>
          </a:prstGeom>
          <a:solidFill>
            <a:schemeClr val="accent2"/>
          </a:solidFill>
          <a:ln/>
        </p:spPr>
      </p:sp>
      <p:sp>
        <p:nvSpPr>
          <p:cNvPr id="34" name="Text 32"/>
          <p:cNvSpPr txBox="1"/>
          <p:nvPr/>
        </p:nvSpPr>
        <p:spPr>
          <a:xfrm>
            <a:off x="10927080" y="8321040"/>
            <a:ext cx="5577840" cy="960120"/>
          </a:xfrm>
          <a:prstGeom prst="rect">
            <a:avLst/>
          </a:prstGeom>
          <a:noFill/>
          <a:ln/>
        </p:spPr>
        <p:txBody>
          <a:bodyPr wrap="square" lIns="0" tIns="0" rIns="0" bIns="0" rtlCol="0" anchor="ctr"/>
          <a:lstStyle/>
          <a:p>
            <a:pPr algn="l" indent="0" marL="0">
              <a:lnSpc>
                <a:spcPct val="100000"/>
              </a:lnSpc>
              <a:buNone/>
            </a:pPr>
            <a:r>
              <a:rPr lang="en-US" sz="1600" dirty="0">
                <a:solidFill>
                  <a:schemeClr val="tx1"/>
                </a:solidFill>
              </a:rPr>
              <a:t>logika statystyk i rekomendacji rozwijana niezależnie od API</a:t>
            </a:r>
            <a:endParaRPr lang="en-US" sz="160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sek postępu"/>
          <p:cNvSpPr/>
          <p:nvPr/>
        </p:nvSpPr>
        <p:spPr>
          <a:xfrm>
            <a:off x="1463040" y="868680"/>
            <a:ext cx="9425354"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Stan implementacji</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Pełna ścieżka użytkownika działa: od konta, przez raporty, po historię i statystyki.</a:t>
            </a:r>
            <a:endParaRPr lang="en-US" sz="2200" dirty="0"/>
          </a:p>
        </p:txBody>
      </p:sp>
      <p:sp>
        <p:nvSpPr>
          <p:cNvPr id="5" name="Status"/>
          <p:cNvSpPr/>
          <p:nvPr/>
        </p:nvSpPr>
        <p:spPr>
          <a:xfrm>
            <a:off x="1463040" y="3767328"/>
            <a:ext cx="219456" cy="219456"/>
          </a:xfrm>
          <a:prstGeom prst="ellipse">
            <a:avLst/>
          </a:prstGeom>
          <a:solidFill>
            <a:schemeClr val="accent1"/>
          </a:solidFill>
          <a:ln w="20320">
            <a:solidFill>
              <a:schemeClr val="accent1"/>
            </a:solidFill>
            <a:prstDash val="solid"/>
          </a:ln>
        </p:spPr>
      </p:sp>
      <p:sp>
        <p:nvSpPr>
          <p:cNvPr id="6" name="Łącznik"/>
          <p:cNvSpPr/>
          <p:nvPr/>
        </p:nvSpPr>
        <p:spPr>
          <a:xfrm>
            <a:off x="1572768" y="3986784"/>
            <a:ext cx="0" cy="402336"/>
          </a:xfrm>
          <a:prstGeom prst="line">
            <a:avLst/>
          </a:prstGeom>
          <a:noFill/>
          <a:ln w="13970">
            <a:solidFill>
              <a:schemeClr val="accent3"/>
            </a:solidFill>
            <a:prstDash val="solid"/>
          </a:ln>
        </p:spPr>
      </p:sp>
      <p:sp>
        <p:nvSpPr>
          <p:cNvPr id="7" name="Text 5"/>
          <p:cNvSpPr txBox="1"/>
          <p:nvPr/>
        </p:nvSpPr>
        <p:spPr>
          <a:xfrm>
            <a:off x="1965960" y="3675888"/>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Uwierzytelnianie: rejestracja, logowanie, JWT</a:t>
            </a:r>
            <a:endParaRPr lang="en-US" sz="1900" dirty="0"/>
          </a:p>
        </p:txBody>
      </p:sp>
      <p:sp>
        <p:nvSpPr>
          <p:cNvPr id="8" name="Text 6"/>
          <p:cNvSpPr txBox="1"/>
          <p:nvPr/>
        </p:nvSpPr>
        <p:spPr>
          <a:xfrm>
            <a:off x="8915400" y="3675888"/>
            <a:ext cx="2011680" cy="457200"/>
          </a:xfrm>
          <a:prstGeom prst="rect">
            <a:avLst/>
          </a:prstGeom>
          <a:noFill/>
          <a:ln/>
        </p:spPr>
        <p:txBody>
          <a:bodyPr wrap="square" lIns="0" tIns="0" rIns="0" bIns="0" rtlCol="0" anchor="ctr"/>
          <a:lstStyle/>
          <a:p>
            <a:pPr algn="r" indent="0" marL="0">
              <a:lnSpc>
                <a:spcPct val="100000"/>
              </a:lnSpc>
              <a:buNone/>
            </a:pPr>
            <a:r>
              <a:rPr lang="en-US" sz="1600" dirty="0">
                <a:solidFill>
                  <a:schemeClr val="accent4"/>
                </a:solidFill>
              </a:rPr>
              <a:t>gotowe</a:t>
            </a:r>
            <a:endParaRPr lang="en-US" sz="1600" dirty="0"/>
          </a:p>
        </p:txBody>
      </p:sp>
      <p:sp>
        <p:nvSpPr>
          <p:cNvPr id="9" name="Status"/>
          <p:cNvSpPr/>
          <p:nvPr/>
        </p:nvSpPr>
        <p:spPr>
          <a:xfrm>
            <a:off x="1463040" y="4389120"/>
            <a:ext cx="219456" cy="219456"/>
          </a:xfrm>
          <a:prstGeom prst="ellipse">
            <a:avLst/>
          </a:prstGeom>
          <a:solidFill>
            <a:schemeClr val="accent1"/>
          </a:solidFill>
          <a:ln w="20320">
            <a:solidFill>
              <a:schemeClr val="accent1"/>
            </a:solidFill>
            <a:prstDash val="solid"/>
          </a:ln>
        </p:spPr>
      </p:sp>
      <p:sp>
        <p:nvSpPr>
          <p:cNvPr id="10" name="Łącznik"/>
          <p:cNvSpPr/>
          <p:nvPr/>
        </p:nvSpPr>
        <p:spPr>
          <a:xfrm>
            <a:off x="1572768" y="4608576"/>
            <a:ext cx="0" cy="402336"/>
          </a:xfrm>
          <a:prstGeom prst="line">
            <a:avLst/>
          </a:prstGeom>
          <a:noFill/>
          <a:ln w="13970">
            <a:solidFill>
              <a:schemeClr val="accent3"/>
            </a:solidFill>
            <a:prstDash val="solid"/>
          </a:ln>
        </p:spPr>
      </p:sp>
      <p:sp>
        <p:nvSpPr>
          <p:cNvPr id="11" name="Text 9"/>
          <p:cNvSpPr txBox="1"/>
          <p:nvPr/>
        </p:nvSpPr>
        <p:spPr>
          <a:xfrm>
            <a:off x="1965960" y="4297680"/>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Raporty poranny i wieczorny (logika D / D+1)</a:t>
            </a:r>
            <a:endParaRPr lang="en-US" sz="1900" dirty="0"/>
          </a:p>
        </p:txBody>
      </p:sp>
      <p:sp>
        <p:nvSpPr>
          <p:cNvPr id="12" name="Text 10"/>
          <p:cNvSpPr txBox="1"/>
          <p:nvPr/>
        </p:nvSpPr>
        <p:spPr>
          <a:xfrm>
            <a:off x="8915400" y="4297680"/>
            <a:ext cx="2011680" cy="457200"/>
          </a:xfrm>
          <a:prstGeom prst="rect">
            <a:avLst/>
          </a:prstGeom>
          <a:noFill/>
          <a:ln/>
        </p:spPr>
        <p:txBody>
          <a:bodyPr wrap="square" lIns="0" tIns="0" rIns="0" bIns="0" rtlCol="0" anchor="ctr"/>
          <a:lstStyle/>
          <a:p>
            <a:pPr algn="r" indent="0" marL="0">
              <a:lnSpc>
                <a:spcPct val="100000"/>
              </a:lnSpc>
              <a:buNone/>
            </a:pPr>
            <a:r>
              <a:rPr lang="en-US" sz="1600" dirty="0">
                <a:solidFill>
                  <a:schemeClr val="accent4"/>
                </a:solidFill>
              </a:rPr>
              <a:t>gotowe</a:t>
            </a:r>
            <a:endParaRPr lang="en-US" sz="1600" dirty="0"/>
          </a:p>
        </p:txBody>
      </p:sp>
      <p:sp>
        <p:nvSpPr>
          <p:cNvPr id="13" name="Status"/>
          <p:cNvSpPr/>
          <p:nvPr/>
        </p:nvSpPr>
        <p:spPr>
          <a:xfrm>
            <a:off x="1463040" y="5010912"/>
            <a:ext cx="219456" cy="219456"/>
          </a:xfrm>
          <a:prstGeom prst="ellipse">
            <a:avLst/>
          </a:prstGeom>
          <a:solidFill>
            <a:schemeClr val="accent1"/>
          </a:solidFill>
          <a:ln w="20320">
            <a:solidFill>
              <a:schemeClr val="accent1"/>
            </a:solidFill>
            <a:prstDash val="solid"/>
          </a:ln>
        </p:spPr>
      </p:sp>
      <p:sp>
        <p:nvSpPr>
          <p:cNvPr id="14" name="Łącznik"/>
          <p:cNvSpPr/>
          <p:nvPr/>
        </p:nvSpPr>
        <p:spPr>
          <a:xfrm>
            <a:off x="1572768" y="5230368"/>
            <a:ext cx="0" cy="402336"/>
          </a:xfrm>
          <a:prstGeom prst="line">
            <a:avLst/>
          </a:prstGeom>
          <a:noFill/>
          <a:ln w="13970">
            <a:solidFill>
              <a:schemeClr val="accent3"/>
            </a:solidFill>
            <a:prstDash val="solid"/>
          </a:ln>
        </p:spPr>
      </p:sp>
      <p:sp>
        <p:nvSpPr>
          <p:cNvPr id="15" name="Text 13"/>
          <p:cNvSpPr txBox="1"/>
          <p:nvPr/>
        </p:nvSpPr>
        <p:spPr>
          <a:xfrm>
            <a:off x="1965960" y="4919472"/>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Czas snu i DayScore</a:t>
            </a:r>
            <a:endParaRPr lang="en-US" sz="1900" dirty="0"/>
          </a:p>
        </p:txBody>
      </p:sp>
      <p:sp>
        <p:nvSpPr>
          <p:cNvPr id="16" name="Text 14"/>
          <p:cNvSpPr txBox="1"/>
          <p:nvPr/>
        </p:nvSpPr>
        <p:spPr>
          <a:xfrm>
            <a:off x="8915400" y="4919472"/>
            <a:ext cx="2011680" cy="457200"/>
          </a:xfrm>
          <a:prstGeom prst="rect">
            <a:avLst/>
          </a:prstGeom>
          <a:noFill/>
          <a:ln/>
        </p:spPr>
        <p:txBody>
          <a:bodyPr wrap="square" lIns="0" tIns="0" rIns="0" bIns="0" rtlCol="0" anchor="ctr"/>
          <a:lstStyle/>
          <a:p>
            <a:pPr algn="r" indent="0" marL="0">
              <a:lnSpc>
                <a:spcPct val="100000"/>
              </a:lnSpc>
              <a:buNone/>
            </a:pPr>
            <a:r>
              <a:rPr lang="en-US" sz="1600" dirty="0">
                <a:solidFill>
                  <a:schemeClr val="accent4"/>
                </a:solidFill>
              </a:rPr>
              <a:t>gotowe</a:t>
            </a:r>
            <a:endParaRPr lang="en-US" sz="1600" dirty="0"/>
          </a:p>
        </p:txBody>
      </p:sp>
      <p:sp>
        <p:nvSpPr>
          <p:cNvPr id="17" name="Status"/>
          <p:cNvSpPr/>
          <p:nvPr/>
        </p:nvSpPr>
        <p:spPr>
          <a:xfrm>
            <a:off x="1463040" y="5632704"/>
            <a:ext cx="219456" cy="219456"/>
          </a:xfrm>
          <a:prstGeom prst="ellipse">
            <a:avLst/>
          </a:prstGeom>
          <a:solidFill>
            <a:schemeClr val="accent1"/>
          </a:solidFill>
          <a:ln w="20320">
            <a:solidFill>
              <a:schemeClr val="accent1"/>
            </a:solidFill>
            <a:prstDash val="solid"/>
          </a:ln>
        </p:spPr>
      </p:sp>
      <p:sp>
        <p:nvSpPr>
          <p:cNvPr id="18" name="Łącznik"/>
          <p:cNvSpPr/>
          <p:nvPr/>
        </p:nvSpPr>
        <p:spPr>
          <a:xfrm>
            <a:off x="1572768" y="5852160"/>
            <a:ext cx="0" cy="402336"/>
          </a:xfrm>
          <a:prstGeom prst="line">
            <a:avLst/>
          </a:prstGeom>
          <a:noFill/>
          <a:ln w="13970">
            <a:solidFill>
              <a:schemeClr val="accent3"/>
            </a:solidFill>
            <a:prstDash val="solid"/>
          </a:ln>
        </p:spPr>
      </p:sp>
      <p:sp>
        <p:nvSpPr>
          <p:cNvPr id="19" name="Text 17"/>
          <p:cNvSpPr txBox="1"/>
          <p:nvPr/>
        </p:nvSpPr>
        <p:spPr>
          <a:xfrm>
            <a:off x="1965960" y="5541264"/>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Historia wpisów: podgląd i edycja</a:t>
            </a:r>
            <a:endParaRPr lang="en-US" sz="1900" dirty="0"/>
          </a:p>
        </p:txBody>
      </p:sp>
      <p:sp>
        <p:nvSpPr>
          <p:cNvPr id="20" name="Text 18"/>
          <p:cNvSpPr txBox="1"/>
          <p:nvPr/>
        </p:nvSpPr>
        <p:spPr>
          <a:xfrm>
            <a:off x="8915400" y="5541264"/>
            <a:ext cx="2011680" cy="457200"/>
          </a:xfrm>
          <a:prstGeom prst="rect">
            <a:avLst/>
          </a:prstGeom>
          <a:noFill/>
          <a:ln/>
        </p:spPr>
        <p:txBody>
          <a:bodyPr wrap="square" lIns="0" tIns="0" rIns="0" bIns="0" rtlCol="0" anchor="ctr"/>
          <a:lstStyle/>
          <a:p>
            <a:pPr algn="r" indent="0" marL="0">
              <a:lnSpc>
                <a:spcPct val="100000"/>
              </a:lnSpc>
              <a:buNone/>
            </a:pPr>
            <a:r>
              <a:rPr lang="en-US" sz="1600" dirty="0">
                <a:solidFill>
                  <a:schemeClr val="accent4"/>
                </a:solidFill>
              </a:rPr>
              <a:t>gotowe</a:t>
            </a:r>
            <a:endParaRPr lang="en-US" sz="1600" dirty="0"/>
          </a:p>
        </p:txBody>
      </p:sp>
      <p:sp>
        <p:nvSpPr>
          <p:cNvPr id="21" name="Status"/>
          <p:cNvSpPr/>
          <p:nvPr/>
        </p:nvSpPr>
        <p:spPr>
          <a:xfrm>
            <a:off x="1463040" y="6254496"/>
            <a:ext cx="219456" cy="219456"/>
          </a:xfrm>
          <a:prstGeom prst="ellipse">
            <a:avLst/>
          </a:prstGeom>
          <a:solidFill>
            <a:schemeClr val="accent2"/>
          </a:solidFill>
          <a:ln w="20320">
            <a:solidFill>
              <a:schemeClr val="accent1"/>
            </a:solidFill>
            <a:prstDash val="solid"/>
          </a:ln>
        </p:spPr>
      </p:sp>
      <p:sp>
        <p:nvSpPr>
          <p:cNvPr id="22" name="Łącznik"/>
          <p:cNvSpPr/>
          <p:nvPr/>
        </p:nvSpPr>
        <p:spPr>
          <a:xfrm>
            <a:off x="1572768" y="6473952"/>
            <a:ext cx="0" cy="402336"/>
          </a:xfrm>
          <a:prstGeom prst="line">
            <a:avLst/>
          </a:prstGeom>
          <a:noFill/>
          <a:ln w="13970">
            <a:solidFill>
              <a:schemeClr val="accent3"/>
            </a:solidFill>
            <a:prstDash val="solid"/>
          </a:ln>
        </p:spPr>
      </p:sp>
      <p:sp>
        <p:nvSpPr>
          <p:cNvPr id="23" name="Text 21"/>
          <p:cNvSpPr txBox="1"/>
          <p:nvPr/>
        </p:nvSpPr>
        <p:spPr>
          <a:xfrm>
            <a:off x="1965960" y="6163056"/>
            <a:ext cx="6949440" cy="457200"/>
          </a:xfrm>
          <a:prstGeom prst="rect">
            <a:avLst/>
          </a:prstGeom>
          <a:noFill/>
          <a:ln/>
        </p:spPr>
        <p:txBody>
          <a:bodyPr wrap="square" lIns="0" tIns="0" rIns="0" bIns="0" rtlCol="0" anchor="ctr"/>
          <a:lstStyle/>
          <a:p>
            <a:pPr algn="l" indent="0" marL="0">
              <a:lnSpc>
                <a:spcPct val="100000"/>
              </a:lnSpc>
              <a:buNone/>
            </a:pPr>
            <a:r>
              <a:rPr lang="en-US" sz="1900" b="1" dirty="0">
                <a:solidFill>
                  <a:schemeClr val="tx1"/>
                </a:solidFill>
              </a:rPr>
              <a:t>Statystyki: API, średnie, wykresy</a:t>
            </a:r>
            <a:endParaRPr lang="en-US" sz="1900" dirty="0"/>
          </a:p>
        </p:txBody>
      </p:sp>
      <p:sp>
        <p:nvSpPr>
          <p:cNvPr id="24" name="Text 22"/>
          <p:cNvSpPr txBox="1"/>
          <p:nvPr/>
        </p:nvSpPr>
        <p:spPr>
          <a:xfrm>
            <a:off x="8915400" y="6163056"/>
            <a:ext cx="2011680" cy="457200"/>
          </a:xfrm>
          <a:prstGeom prst="rect">
            <a:avLst/>
          </a:prstGeom>
          <a:noFill/>
          <a:ln/>
        </p:spPr>
        <p:txBody>
          <a:bodyPr wrap="square" lIns="0" tIns="0" rIns="0" bIns="0" rtlCol="0" anchor="ctr"/>
          <a:lstStyle/>
          <a:p>
            <a:pPr algn="r" indent="0" marL="0">
              <a:lnSpc>
                <a:spcPct val="100000"/>
              </a:lnSpc>
              <a:buNone/>
            </a:pPr>
            <a:r>
              <a:rPr lang="en-US" sz="1600" b="1" dirty="0">
                <a:solidFill>
                  <a:schemeClr val="accent1"/>
                </a:solidFill>
              </a:rPr>
              <a:t>rozwijane</a:t>
            </a:r>
            <a:endParaRPr lang="en-US" sz="1600" dirty="0"/>
          </a:p>
        </p:txBody>
      </p:sp>
      <p:sp>
        <p:nvSpPr>
          <p:cNvPr id="25" name="Status"/>
          <p:cNvSpPr/>
          <p:nvPr/>
        </p:nvSpPr>
        <p:spPr>
          <a:xfrm>
            <a:off x="1463040" y="6876288"/>
            <a:ext cx="219456" cy="219456"/>
          </a:xfrm>
          <a:prstGeom prst="ellipse">
            <a:avLst/>
          </a:prstGeom>
          <a:solidFill>
            <a:schemeClr val="accent1"/>
          </a:solidFill>
          <a:ln w="20320">
            <a:solidFill>
              <a:schemeClr val="accent1"/>
            </a:solidFill>
            <a:prstDash val="solid"/>
          </a:ln>
        </p:spPr>
      </p:sp>
      <p:sp>
        <p:nvSpPr>
          <p:cNvPr id="26" name="Łącznik"/>
          <p:cNvSpPr/>
          <p:nvPr/>
        </p:nvSpPr>
        <p:spPr>
          <a:xfrm>
            <a:off x="1572768" y="7095744"/>
            <a:ext cx="0" cy="402336"/>
          </a:xfrm>
          <a:prstGeom prst="line">
            <a:avLst/>
          </a:prstGeom>
          <a:noFill/>
          <a:ln w="13970">
            <a:solidFill>
              <a:schemeClr val="accent3"/>
            </a:solidFill>
            <a:prstDash val="solid"/>
          </a:ln>
        </p:spPr>
      </p:sp>
      <p:sp>
        <p:nvSpPr>
          <p:cNvPr id="27" name="Text 25"/>
          <p:cNvSpPr txBox="1"/>
          <p:nvPr/>
        </p:nvSpPr>
        <p:spPr>
          <a:xfrm>
            <a:off x="1965960" y="6784848"/>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Generator danych syntetycznych + seeder</a:t>
            </a:r>
            <a:endParaRPr lang="en-US" sz="1900" dirty="0"/>
          </a:p>
        </p:txBody>
      </p:sp>
      <p:sp>
        <p:nvSpPr>
          <p:cNvPr id="28" name="Text 26"/>
          <p:cNvSpPr txBox="1"/>
          <p:nvPr/>
        </p:nvSpPr>
        <p:spPr>
          <a:xfrm>
            <a:off x="8915400" y="6784848"/>
            <a:ext cx="2011680" cy="457200"/>
          </a:xfrm>
          <a:prstGeom prst="rect">
            <a:avLst/>
          </a:prstGeom>
          <a:noFill/>
          <a:ln/>
        </p:spPr>
        <p:txBody>
          <a:bodyPr wrap="square" lIns="0" tIns="0" rIns="0" bIns="0" rtlCol="0" anchor="ctr"/>
          <a:lstStyle/>
          <a:p>
            <a:pPr algn="r" indent="0" marL="0">
              <a:lnSpc>
                <a:spcPct val="100000"/>
              </a:lnSpc>
              <a:buNone/>
            </a:pPr>
            <a:r>
              <a:rPr lang="en-US" sz="1600" dirty="0">
                <a:solidFill>
                  <a:schemeClr val="accent4"/>
                </a:solidFill>
              </a:rPr>
              <a:t>gotowe</a:t>
            </a:r>
            <a:endParaRPr lang="en-US" sz="1600" dirty="0"/>
          </a:p>
        </p:txBody>
      </p:sp>
      <p:sp>
        <p:nvSpPr>
          <p:cNvPr id="29" name="Status"/>
          <p:cNvSpPr/>
          <p:nvPr/>
        </p:nvSpPr>
        <p:spPr>
          <a:xfrm>
            <a:off x="1463040" y="7498080"/>
            <a:ext cx="219456" cy="219456"/>
          </a:xfrm>
          <a:prstGeom prst="ellipse">
            <a:avLst/>
          </a:prstGeom>
          <a:solidFill>
            <a:schemeClr val="accent2"/>
          </a:solidFill>
          <a:ln w="20320">
            <a:solidFill>
              <a:schemeClr val="accent1"/>
            </a:solidFill>
            <a:prstDash val="solid"/>
          </a:ln>
        </p:spPr>
      </p:sp>
      <p:sp>
        <p:nvSpPr>
          <p:cNvPr id="30" name="Łącznik"/>
          <p:cNvSpPr/>
          <p:nvPr/>
        </p:nvSpPr>
        <p:spPr>
          <a:xfrm>
            <a:off x="1572768" y="7717536"/>
            <a:ext cx="0" cy="402336"/>
          </a:xfrm>
          <a:prstGeom prst="line">
            <a:avLst/>
          </a:prstGeom>
          <a:noFill/>
          <a:ln w="13970">
            <a:solidFill>
              <a:schemeClr val="accent3"/>
            </a:solidFill>
            <a:prstDash val="solid"/>
          </a:ln>
        </p:spPr>
      </p:sp>
      <p:sp>
        <p:nvSpPr>
          <p:cNvPr id="31" name="Text 29"/>
          <p:cNvSpPr txBox="1"/>
          <p:nvPr/>
        </p:nvSpPr>
        <p:spPr>
          <a:xfrm>
            <a:off x="1965960" y="7406640"/>
            <a:ext cx="6949440" cy="457200"/>
          </a:xfrm>
          <a:prstGeom prst="rect">
            <a:avLst/>
          </a:prstGeom>
          <a:noFill/>
          <a:ln/>
        </p:spPr>
        <p:txBody>
          <a:bodyPr wrap="square" lIns="0" tIns="0" rIns="0" bIns="0" rtlCol="0" anchor="ctr"/>
          <a:lstStyle/>
          <a:p>
            <a:pPr algn="l" indent="0" marL="0">
              <a:lnSpc>
                <a:spcPct val="100000"/>
              </a:lnSpc>
              <a:buNone/>
            </a:pPr>
            <a:r>
              <a:rPr lang="en-US" sz="1900" b="1" dirty="0">
                <a:solidFill>
                  <a:schemeClr val="tx1"/>
                </a:solidFill>
              </a:rPr>
              <a:t>Panel główny i dopracowanie interfejsu</a:t>
            </a:r>
            <a:endParaRPr lang="en-US" sz="1900" dirty="0"/>
          </a:p>
        </p:txBody>
      </p:sp>
      <p:sp>
        <p:nvSpPr>
          <p:cNvPr id="32" name="Text 30"/>
          <p:cNvSpPr txBox="1"/>
          <p:nvPr/>
        </p:nvSpPr>
        <p:spPr>
          <a:xfrm>
            <a:off x="8915400" y="7406640"/>
            <a:ext cx="2011680" cy="457200"/>
          </a:xfrm>
          <a:prstGeom prst="rect">
            <a:avLst/>
          </a:prstGeom>
          <a:noFill/>
          <a:ln/>
        </p:spPr>
        <p:txBody>
          <a:bodyPr wrap="square" lIns="0" tIns="0" rIns="0" bIns="0" rtlCol="0" anchor="ctr"/>
          <a:lstStyle/>
          <a:p>
            <a:pPr algn="r" indent="0" marL="0">
              <a:lnSpc>
                <a:spcPct val="100000"/>
              </a:lnSpc>
              <a:buNone/>
            </a:pPr>
            <a:r>
              <a:rPr lang="en-US" sz="1600" b="1" dirty="0">
                <a:solidFill>
                  <a:schemeClr val="accent1"/>
                </a:solidFill>
              </a:rPr>
              <a:t>w trakcie</a:t>
            </a:r>
            <a:endParaRPr lang="en-US" sz="1600" dirty="0"/>
          </a:p>
        </p:txBody>
      </p:sp>
      <p:sp>
        <p:nvSpPr>
          <p:cNvPr id="33" name="Status"/>
          <p:cNvSpPr/>
          <p:nvPr/>
        </p:nvSpPr>
        <p:spPr>
          <a:xfrm>
            <a:off x="1463040" y="8119872"/>
            <a:ext cx="219456" cy="219456"/>
          </a:xfrm>
          <a:prstGeom prst="ellipse">
            <a:avLst/>
          </a:prstGeom>
          <a:solidFill>
            <a:schemeClr val="bg1"/>
          </a:solidFill>
          <a:ln w="20320">
            <a:solidFill>
              <a:schemeClr val="accent3"/>
            </a:solidFill>
            <a:prstDash val="solid"/>
          </a:ln>
        </p:spPr>
      </p:sp>
      <p:sp>
        <p:nvSpPr>
          <p:cNvPr id="34" name="Łącznik"/>
          <p:cNvSpPr/>
          <p:nvPr/>
        </p:nvSpPr>
        <p:spPr>
          <a:xfrm>
            <a:off x="1572768" y="8339328"/>
            <a:ext cx="0" cy="402336"/>
          </a:xfrm>
          <a:prstGeom prst="line">
            <a:avLst/>
          </a:prstGeom>
          <a:noFill/>
          <a:ln w="13970">
            <a:solidFill>
              <a:schemeClr val="accent3"/>
            </a:solidFill>
            <a:prstDash val="solid"/>
          </a:ln>
        </p:spPr>
      </p:sp>
      <p:sp>
        <p:nvSpPr>
          <p:cNvPr id="35" name="Text 33"/>
          <p:cNvSpPr txBox="1"/>
          <p:nvPr/>
        </p:nvSpPr>
        <p:spPr>
          <a:xfrm>
            <a:off x="1965960" y="8028432"/>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Moduł rekomendacji</a:t>
            </a:r>
            <a:endParaRPr lang="en-US" sz="1900" dirty="0"/>
          </a:p>
        </p:txBody>
      </p:sp>
      <p:sp>
        <p:nvSpPr>
          <p:cNvPr id="36" name="Text 34"/>
          <p:cNvSpPr txBox="1"/>
          <p:nvPr/>
        </p:nvSpPr>
        <p:spPr>
          <a:xfrm>
            <a:off x="8915400" y="8028432"/>
            <a:ext cx="2011680" cy="457200"/>
          </a:xfrm>
          <a:prstGeom prst="rect">
            <a:avLst/>
          </a:prstGeom>
          <a:noFill/>
          <a:ln/>
        </p:spPr>
        <p:txBody>
          <a:bodyPr wrap="square" lIns="0" tIns="0" rIns="0" bIns="0" rtlCol="0" anchor="ctr"/>
          <a:lstStyle/>
          <a:p>
            <a:pPr algn="r" indent="0" marL="0">
              <a:lnSpc>
                <a:spcPct val="100000"/>
              </a:lnSpc>
              <a:buNone/>
            </a:pPr>
            <a:r>
              <a:rPr lang="en-US" sz="1600" b="1" dirty="0">
                <a:solidFill>
                  <a:schemeClr val="accent1"/>
                </a:solidFill>
              </a:rPr>
              <a:t>kolejny etap</a:t>
            </a:r>
            <a:endParaRPr lang="en-US" sz="1600" dirty="0"/>
          </a:p>
        </p:txBody>
      </p:sp>
      <p:sp>
        <p:nvSpPr>
          <p:cNvPr id="37" name="Status"/>
          <p:cNvSpPr/>
          <p:nvPr/>
        </p:nvSpPr>
        <p:spPr>
          <a:xfrm>
            <a:off x="1463040" y="8741664"/>
            <a:ext cx="219456" cy="219456"/>
          </a:xfrm>
          <a:prstGeom prst="ellipse">
            <a:avLst/>
          </a:prstGeom>
          <a:solidFill>
            <a:schemeClr val="bg1"/>
          </a:solidFill>
          <a:ln w="20320">
            <a:solidFill>
              <a:schemeClr val="accent3"/>
            </a:solidFill>
            <a:prstDash val="solid"/>
          </a:ln>
        </p:spPr>
      </p:sp>
      <p:sp>
        <p:nvSpPr>
          <p:cNvPr id="38" name="Text 36"/>
          <p:cNvSpPr txBox="1"/>
          <p:nvPr/>
        </p:nvSpPr>
        <p:spPr>
          <a:xfrm>
            <a:off x="1965960" y="8650224"/>
            <a:ext cx="6949440" cy="457200"/>
          </a:xfrm>
          <a:prstGeom prst="rect">
            <a:avLst/>
          </a:prstGeom>
          <a:noFill/>
          <a:ln/>
        </p:spPr>
        <p:txBody>
          <a:bodyPr wrap="square" lIns="0" tIns="0" rIns="0" bIns="0" rtlCol="0" anchor="ctr"/>
          <a:lstStyle/>
          <a:p>
            <a:pPr algn="l" indent="0" marL="0">
              <a:lnSpc>
                <a:spcPct val="100000"/>
              </a:lnSpc>
              <a:buNone/>
            </a:pPr>
            <a:r>
              <a:rPr lang="en-US" sz="1900" dirty="0">
                <a:solidFill>
                  <a:schemeClr val="tx1"/>
                </a:solidFill>
              </a:rPr>
              <a:t>Testy automatyczne i scenariuszowe</a:t>
            </a:r>
            <a:endParaRPr lang="en-US" sz="1900" dirty="0"/>
          </a:p>
        </p:txBody>
      </p:sp>
      <p:sp>
        <p:nvSpPr>
          <p:cNvPr id="39" name="Text 37"/>
          <p:cNvSpPr txBox="1"/>
          <p:nvPr/>
        </p:nvSpPr>
        <p:spPr>
          <a:xfrm>
            <a:off x="8915400" y="8650224"/>
            <a:ext cx="2011680" cy="457200"/>
          </a:xfrm>
          <a:prstGeom prst="rect">
            <a:avLst/>
          </a:prstGeom>
          <a:noFill/>
          <a:ln/>
        </p:spPr>
        <p:txBody>
          <a:bodyPr wrap="square" lIns="0" tIns="0" rIns="0" bIns="0" rtlCol="0" anchor="ctr"/>
          <a:lstStyle/>
          <a:p>
            <a:pPr algn="r" indent="0" marL="0">
              <a:lnSpc>
                <a:spcPct val="100000"/>
              </a:lnSpc>
              <a:buNone/>
            </a:pPr>
            <a:r>
              <a:rPr lang="en-US" sz="1600" b="1" dirty="0">
                <a:solidFill>
                  <a:schemeClr val="accent1"/>
                </a:solidFill>
              </a:rPr>
              <a:t>planowane</a:t>
            </a:r>
            <a:endParaRPr lang="en-US" sz="1600" dirty="0"/>
          </a:p>
        </p:txBody>
      </p:sp>
      <p:sp>
        <p:nvSpPr>
          <p:cNvPr id="40" name="Karta"/>
          <p:cNvSpPr/>
          <p:nvPr/>
        </p:nvSpPr>
        <p:spPr>
          <a:xfrm>
            <a:off x="11475720" y="3657600"/>
            <a:ext cx="2606040" cy="2606040"/>
          </a:xfrm>
          <a:prstGeom prst="roundRect">
            <a:avLst>
              <a:gd name="adj" fmla="val 4912"/>
            </a:avLst>
          </a:prstGeom>
          <a:solidFill>
            <a:schemeClr val="bg1"/>
          </a:solidFill>
          <a:ln w="12700">
            <a:solidFill>
              <a:schemeClr val="accent3"/>
            </a:solidFill>
            <a:prstDash val="solid"/>
          </a:ln>
        </p:spPr>
      </p:sp>
      <p:sp>
        <p:nvSpPr>
          <p:cNvPr id="41" name="Text 39"/>
          <p:cNvSpPr txBox="1"/>
          <p:nvPr/>
        </p:nvSpPr>
        <p:spPr>
          <a:xfrm>
            <a:off x="11612880" y="3931920"/>
            <a:ext cx="2331720" cy="822960"/>
          </a:xfrm>
          <a:prstGeom prst="rect">
            <a:avLst/>
          </a:prstGeom>
          <a:noFill/>
          <a:ln/>
        </p:spPr>
        <p:txBody>
          <a:bodyPr wrap="square" lIns="0" tIns="0" rIns="0" bIns="0" rtlCol="0" anchor="ctr"/>
          <a:lstStyle/>
          <a:p>
            <a:pPr algn="ctr" indent="0" marL="0">
              <a:lnSpc>
                <a:spcPct val="100000"/>
              </a:lnSpc>
              <a:buNone/>
            </a:pPr>
            <a:r>
              <a:rPr lang="en-US" sz="4600" b="1" dirty="0">
                <a:solidFill>
                  <a:schemeClr val="accent1"/>
                </a:solidFill>
              </a:rPr>
              <a:t>9</a:t>
            </a:r>
            <a:endParaRPr lang="en-US" sz="4600" dirty="0"/>
          </a:p>
        </p:txBody>
      </p:sp>
      <p:sp>
        <p:nvSpPr>
          <p:cNvPr id="42" name="Text 40"/>
          <p:cNvSpPr txBox="1"/>
          <p:nvPr/>
        </p:nvSpPr>
        <p:spPr>
          <a:xfrm>
            <a:off x="11612880" y="4892040"/>
            <a:ext cx="2331720" cy="1234440"/>
          </a:xfrm>
          <a:prstGeom prst="rect">
            <a:avLst/>
          </a:prstGeom>
          <a:noFill/>
          <a:ln/>
        </p:spPr>
        <p:txBody>
          <a:bodyPr wrap="square" lIns="0" tIns="0" rIns="0" bIns="0" rtlCol="0" anchor="t"/>
          <a:lstStyle/>
          <a:p>
            <a:pPr algn="ctr" indent="0" marL="0">
              <a:lnSpc>
                <a:spcPct val="100000"/>
              </a:lnSpc>
              <a:buNone/>
            </a:pPr>
            <a:r>
              <a:rPr lang="en-US" sz="1450" dirty="0">
                <a:solidFill>
                  <a:schemeClr val="tx1"/>
                </a:solidFill>
              </a:rPr>
              <a:t>endpointów REST</a:t>
            </a:r>
            <a:endParaRPr lang="en-US" sz="1450" dirty="0"/>
          </a:p>
          <a:p>
            <a:pPr algn="ctr" indent="0" marL="0">
              <a:lnSpc>
                <a:spcPct val="100000"/>
              </a:lnSpc>
              <a:buNone/>
            </a:pPr>
            <a:r>
              <a:rPr lang="en-US" sz="1450" dirty="0">
                <a:solidFill>
                  <a:schemeClr val="tx1"/>
                </a:solidFill>
              </a:rPr>
              <a:t>(auth, daily-logs, statistics)</a:t>
            </a:r>
            <a:endParaRPr lang="en-US" sz="1450" dirty="0"/>
          </a:p>
        </p:txBody>
      </p:sp>
      <p:sp>
        <p:nvSpPr>
          <p:cNvPr id="43" name="Karta"/>
          <p:cNvSpPr/>
          <p:nvPr/>
        </p:nvSpPr>
        <p:spPr>
          <a:xfrm>
            <a:off x="14218920" y="3657600"/>
            <a:ext cx="2606040" cy="2606040"/>
          </a:xfrm>
          <a:prstGeom prst="roundRect">
            <a:avLst>
              <a:gd name="adj" fmla="val 4912"/>
            </a:avLst>
          </a:prstGeom>
          <a:solidFill>
            <a:schemeClr val="bg1"/>
          </a:solidFill>
          <a:ln w="12700">
            <a:solidFill>
              <a:schemeClr val="accent3"/>
            </a:solidFill>
            <a:prstDash val="solid"/>
          </a:ln>
        </p:spPr>
      </p:sp>
      <p:sp>
        <p:nvSpPr>
          <p:cNvPr id="44" name="Text 42"/>
          <p:cNvSpPr txBox="1"/>
          <p:nvPr/>
        </p:nvSpPr>
        <p:spPr>
          <a:xfrm>
            <a:off x="14356080" y="3931920"/>
            <a:ext cx="2331720" cy="822960"/>
          </a:xfrm>
          <a:prstGeom prst="rect">
            <a:avLst/>
          </a:prstGeom>
          <a:noFill/>
          <a:ln/>
        </p:spPr>
        <p:txBody>
          <a:bodyPr wrap="square" lIns="0" tIns="0" rIns="0" bIns="0" rtlCol="0" anchor="ctr"/>
          <a:lstStyle/>
          <a:p>
            <a:pPr algn="ctr" indent="0" marL="0">
              <a:lnSpc>
                <a:spcPct val="100000"/>
              </a:lnSpc>
              <a:buNone/>
            </a:pPr>
            <a:r>
              <a:rPr lang="en-US" sz="4600" b="1" dirty="0">
                <a:solidFill>
                  <a:schemeClr val="accent1"/>
                </a:solidFill>
              </a:rPr>
              <a:t>7</a:t>
            </a:r>
            <a:endParaRPr lang="en-US" sz="4600" dirty="0"/>
          </a:p>
        </p:txBody>
      </p:sp>
      <p:sp>
        <p:nvSpPr>
          <p:cNvPr id="45" name="Text 43"/>
          <p:cNvSpPr txBox="1"/>
          <p:nvPr/>
        </p:nvSpPr>
        <p:spPr>
          <a:xfrm>
            <a:off x="14356080" y="4892040"/>
            <a:ext cx="2331720" cy="1234440"/>
          </a:xfrm>
          <a:prstGeom prst="rect">
            <a:avLst/>
          </a:prstGeom>
          <a:noFill/>
          <a:ln/>
        </p:spPr>
        <p:txBody>
          <a:bodyPr wrap="square" lIns="0" tIns="0" rIns="0" bIns="0" rtlCol="0" anchor="t"/>
          <a:lstStyle/>
          <a:p>
            <a:pPr algn="ctr" indent="0" marL="0">
              <a:lnSpc>
                <a:spcPct val="100000"/>
              </a:lnSpc>
              <a:buNone/>
            </a:pPr>
            <a:r>
              <a:rPr lang="en-US" sz="1450" dirty="0">
                <a:solidFill>
                  <a:schemeClr val="tx1"/>
                </a:solidFill>
              </a:rPr>
              <a:t>widoków aplikacji</a:t>
            </a:r>
            <a:endParaRPr lang="en-US" sz="1450" dirty="0"/>
          </a:p>
          <a:p>
            <a:pPr algn="ctr" indent="0" marL="0">
              <a:lnSpc>
                <a:spcPct val="100000"/>
              </a:lnSpc>
              <a:buNone/>
            </a:pPr>
            <a:r>
              <a:rPr lang="en-US" sz="1450" dirty="0">
                <a:solidFill>
                  <a:schemeClr val="tx1"/>
                </a:solidFill>
              </a:rPr>
              <a:t>(React + Recharts)</a:t>
            </a:r>
            <a:endParaRPr lang="en-US" sz="1450" dirty="0"/>
          </a:p>
        </p:txBody>
      </p:sp>
      <p:sp>
        <p:nvSpPr>
          <p:cNvPr id="46" name="Karta"/>
          <p:cNvSpPr/>
          <p:nvPr/>
        </p:nvSpPr>
        <p:spPr>
          <a:xfrm>
            <a:off x="11475720" y="6492240"/>
            <a:ext cx="2606040" cy="2606040"/>
          </a:xfrm>
          <a:prstGeom prst="roundRect">
            <a:avLst>
              <a:gd name="adj" fmla="val 4912"/>
            </a:avLst>
          </a:prstGeom>
          <a:solidFill>
            <a:schemeClr val="accent2"/>
          </a:solidFill>
          <a:ln w="12700">
            <a:solidFill>
              <a:schemeClr val="accent1"/>
            </a:solidFill>
            <a:prstDash val="solid"/>
          </a:ln>
        </p:spPr>
      </p:sp>
      <p:sp>
        <p:nvSpPr>
          <p:cNvPr id="47" name="Text 45"/>
          <p:cNvSpPr txBox="1"/>
          <p:nvPr/>
        </p:nvSpPr>
        <p:spPr>
          <a:xfrm>
            <a:off x="11612880" y="6766560"/>
            <a:ext cx="2331720" cy="822960"/>
          </a:xfrm>
          <a:prstGeom prst="rect">
            <a:avLst/>
          </a:prstGeom>
          <a:noFill/>
          <a:ln/>
        </p:spPr>
        <p:txBody>
          <a:bodyPr wrap="square" lIns="0" tIns="0" rIns="0" bIns="0" rtlCol="0" anchor="ctr"/>
          <a:lstStyle/>
          <a:p>
            <a:pPr algn="ctr" indent="0" marL="0">
              <a:lnSpc>
                <a:spcPct val="100000"/>
              </a:lnSpc>
              <a:buNone/>
            </a:pPr>
            <a:r>
              <a:rPr lang="en-US" sz="3200" b="1" dirty="0">
                <a:solidFill>
                  <a:schemeClr val="accent1"/>
                </a:solidFill>
              </a:rPr>
              <a:t>~4,7 tys.</a:t>
            </a:r>
            <a:endParaRPr lang="en-US" sz="3200" dirty="0"/>
          </a:p>
        </p:txBody>
      </p:sp>
      <p:sp>
        <p:nvSpPr>
          <p:cNvPr id="48" name="Text 46"/>
          <p:cNvSpPr txBox="1"/>
          <p:nvPr/>
        </p:nvSpPr>
        <p:spPr>
          <a:xfrm>
            <a:off x="11612880" y="7726680"/>
            <a:ext cx="2331720" cy="1234440"/>
          </a:xfrm>
          <a:prstGeom prst="rect">
            <a:avLst/>
          </a:prstGeom>
          <a:noFill/>
          <a:ln/>
        </p:spPr>
        <p:txBody>
          <a:bodyPr wrap="square" lIns="0" tIns="0" rIns="0" bIns="0" rtlCol="0" anchor="t"/>
          <a:lstStyle/>
          <a:p>
            <a:pPr algn="ctr" indent="0" marL="0">
              <a:lnSpc>
                <a:spcPct val="100000"/>
              </a:lnSpc>
              <a:buNone/>
            </a:pPr>
            <a:r>
              <a:rPr lang="en-US" sz="1450" dirty="0">
                <a:solidFill>
                  <a:schemeClr val="tx1"/>
                </a:solidFill>
              </a:rPr>
              <a:t>wpisów syntetycznych</a:t>
            </a:r>
            <a:endParaRPr lang="en-US" sz="1450" dirty="0"/>
          </a:p>
          <a:p>
            <a:pPr algn="ctr" indent="0" marL="0">
              <a:lnSpc>
                <a:spcPct val="100000"/>
              </a:lnSpc>
              <a:buNone/>
            </a:pPr>
            <a:r>
              <a:rPr lang="en-US" sz="1450" dirty="0">
                <a:solidFill>
                  <a:schemeClr val="tx1"/>
                </a:solidFill>
              </a:rPr>
              <a:t>(5 person × ~940 dni)</a:t>
            </a:r>
            <a:endParaRPr lang="en-US" sz="1450" dirty="0"/>
          </a:p>
        </p:txBody>
      </p:sp>
      <p:sp>
        <p:nvSpPr>
          <p:cNvPr id="49" name="Karta"/>
          <p:cNvSpPr/>
          <p:nvPr/>
        </p:nvSpPr>
        <p:spPr>
          <a:xfrm>
            <a:off x="14218920" y="6492240"/>
            <a:ext cx="2606040" cy="2606040"/>
          </a:xfrm>
          <a:prstGeom prst="roundRect">
            <a:avLst>
              <a:gd name="adj" fmla="val 4912"/>
            </a:avLst>
          </a:prstGeom>
          <a:solidFill>
            <a:schemeClr val="bg1"/>
          </a:solidFill>
          <a:ln w="12700">
            <a:solidFill>
              <a:schemeClr val="accent3"/>
            </a:solidFill>
            <a:prstDash val="solid"/>
          </a:ln>
        </p:spPr>
      </p:sp>
      <p:sp>
        <p:nvSpPr>
          <p:cNvPr id="50" name="Text 48"/>
          <p:cNvSpPr txBox="1"/>
          <p:nvPr/>
        </p:nvSpPr>
        <p:spPr>
          <a:xfrm>
            <a:off x="14356080" y="6766560"/>
            <a:ext cx="2331720" cy="822960"/>
          </a:xfrm>
          <a:prstGeom prst="rect">
            <a:avLst/>
          </a:prstGeom>
          <a:noFill/>
          <a:ln/>
        </p:spPr>
        <p:txBody>
          <a:bodyPr wrap="square" lIns="0" tIns="0" rIns="0" bIns="0" rtlCol="0" anchor="ctr"/>
          <a:lstStyle/>
          <a:p>
            <a:pPr algn="ctr" indent="0" marL="0">
              <a:lnSpc>
                <a:spcPct val="100000"/>
              </a:lnSpc>
              <a:buNone/>
            </a:pPr>
            <a:r>
              <a:rPr lang="en-US" sz="4600" b="1" dirty="0">
                <a:solidFill>
                  <a:schemeClr val="accent1"/>
                </a:solidFill>
              </a:rPr>
              <a:t>3</a:t>
            </a:r>
            <a:endParaRPr lang="en-US" sz="4600" dirty="0"/>
          </a:p>
        </p:txBody>
      </p:sp>
      <p:sp>
        <p:nvSpPr>
          <p:cNvPr id="51" name="Text 49"/>
          <p:cNvSpPr txBox="1"/>
          <p:nvPr/>
        </p:nvSpPr>
        <p:spPr>
          <a:xfrm>
            <a:off x="14356080" y="7726680"/>
            <a:ext cx="2331720" cy="1234440"/>
          </a:xfrm>
          <a:prstGeom prst="rect">
            <a:avLst/>
          </a:prstGeom>
          <a:noFill/>
          <a:ln/>
        </p:spPr>
        <p:txBody>
          <a:bodyPr wrap="square" lIns="0" tIns="0" rIns="0" bIns="0" rtlCol="0" anchor="t"/>
          <a:lstStyle/>
          <a:p>
            <a:pPr algn="ctr" indent="0" marL="0">
              <a:lnSpc>
                <a:spcPct val="100000"/>
              </a:lnSpc>
              <a:buNone/>
            </a:pPr>
            <a:r>
              <a:rPr lang="en-US" sz="1450" dirty="0">
                <a:solidFill>
                  <a:schemeClr val="tx1"/>
                </a:solidFill>
              </a:rPr>
              <a:t>dokumenty pracy pisemnej</a:t>
            </a:r>
            <a:endParaRPr lang="en-US" sz="1450" dirty="0"/>
          </a:p>
          <a:p>
            <a:pPr algn="ctr" indent="0" marL="0">
              <a:lnSpc>
                <a:spcPct val="100000"/>
              </a:lnSpc>
              <a:buNone/>
            </a:pPr>
            <a:r>
              <a:rPr lang="en-US" sz="1450" dirty="0">
                <a:solidFill>
                  <a:schemeClr val="tx1"/>
                </a:solidFill>
              </a:rPr>
              <a:t>(konspekt, wstęp,</a:t>
            </a:r>
            <a:endParaRPr lang="en-US" sz="1450" dirty="0"/>
          </a:p>
          <a:p>
            <a:pPr algn="ctr" indent="0" marL="0">
              <a:lnSpc>
                <a:spcPct val="100000"/>
              </a:lnSpc>
              <a:buNone/>
            </a:pPr>
            <a:r>
              <a:rPr lang="en-US" sz="1450" dirty="0">
                <a:solidFill>
                  <a:schemeClr val="tx1"/>
                </a:solidFill>
              </a:rPr>
              <a:t>przegląd rozwiązań)</a:t>
            </a:r>
            <a:endParaRPr lang="en-US" sz="14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sek postępu"/>
          <p:cNvSpPr/>
          <p:nvPr/>
        </p:nvSpPr>
        <p:spPr>
          <a:xfrm>
            <a:off x="1463040" y="868680"/>
            <a:ext cx="10603523"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Nowe moduły: historia i statystyki</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Od poprzedniego wystąpienia aplikacja nie tylko zapisuje dane, ale też pozwala je przeglądać i analizować.</a:t>
            </a:r>
            <a:endParaRPr lang="en-US" sz="2200" dirty="0"/>
          </a:p>
        </p:txBody>
      </p:sp>
      <p:sp>
        <p:nvSpPr>
          <p:cNvPr id="5" name="Karta"/>
          <p:cNvSpPr/>
          <p:nvPr/>
        </p:nvSpPr>
        <p:spPr>
          <a:xfrm>
            <a:off x="1463040" y="3657600"/>
            <a:ext cx="7452360" cy="5715000"/>
          </a:xfrm>
          <a:prstGeom prst="roundRect">
            <a:avLst>
              <a:gd name="adj" fmla="val 2240"/>
            </a:avLst>
          </a:prstGeom>
          <a:solidFill>
            <a:schemeClr val="bg1"/>
          </a:solidFill>
          <a:ln w="12700">
            <a:solidFill>
              <a:schemeClr val="accent3"/>
            </a:solidFill>
            <a:prstDash val="solid"/>
          </a:ln>
        </p:spPr>
      </p:sp>
      <p:sp>
        <p:nvSpPr>
          <p:cNvPr id="6" name="Text 4"/>
          <p:cNvSpPr txBox="1"/>
          <p:nvPr/>
        </p:nvSpPr>
        <p:spPr>
          <a:xfrm>
            <a:off x="1828800" y="3840480"/>
            <a:ext cx="676656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tx1"/>
                </a:solidFill>
              </a:rPr>
              <a:t>Historia wpisów</a:t>
            </a:r>
            <a:endParaRPr lang="en-US" sz="2300" dirty="0"/>
          </a:p>
        </p:txBody>
      </p:sp>
      <p:sp>
        <p:nvSpPr>
          <p:cNvPr id="7" name="Karta"/>
          <p:cNvSpPr/>
          <p:nvPr/>
        </p:nvSpPr>
        <p:spPr>
          <a:xfrm>
            <a:off x="1828800" y="4572000"/>
            <a:ext cx="6720840" cy="1005840"/>
          </a:xfrm>
          <a:prstGeom prst="roundRect">
            <a:avLst>
              <a:gd name="adj" fmla="val 9091"/>
            </a:avLst>
          </a:prstGeom>
          <a:solidFill>
            <a:schemeClr val="bg2"/>
          </a:solidFill>
          <a:ln/>
        </p:spPr>
      </p:sp>
      <p:sp>
        <p:nvSpPr>
          <p:cNvPr id="8" name="Text 6"/>
          <p:cNvSpPr txBox="1"/>
          <p:nvPr/>
        </p:nvSpPr>
        <p:spPr>
          <a:xfrm>
            <a:off x="2057400" y="464515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GET /daily-logs</a:t>
            </a:r>
            <a:endParaRPr lang="en-US" sz="1700" dirty="0"/>
          </a:p>
        </p:txBody>
      </p:sp>
      <p:sp>
        <p:nvSpPr>
          <p:cNvPr id="9" name="Text 7"/>
          <p:cNvSpPr txBox="1"/>
          <p:nvPr/>
        </p:nvSpPr>
        <p:spPr>
          <a:xfrm>
            <a:off x="2057400" y="505663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lista wpisów z paginacją (limit, offset)</a:t>
            </a:r>
            <a:endParaRPr lang="en-US" sz="1600" dirty="0"/>
          </a:p>
        </p:txBody>
      </p:sp>
      <p:sp>
        <p:nvSpPr>
          <p:cNvPr id="10" name="Strzałka"/>
          <p:cNvSpPr/>
          <p:nvPr/>
        </p:nvSpPr>
        <p:spPr>
          <a:xfrm>
            <a:off x="5184648" y="5577840"/>
            <a:ext cx="0" cy="182880"/>
          </a:xfrm>
          <a:prstGeom prst="line">
            <a:avLst/>
          </a:prstGeom>
          <a:noFill/>
          <a:ln w="20320">
            <a:solidFill>
              <a:schemeClr val="accent1"/>
            </a:solidFill>
            <a:prstDash val="solid"/>
            <a:tailEnd type="triangle"/>
          </a:ln>
        </p:spPr>
      </p:sp>
      <p:sp>
        <p:nvSpPr>
          <p:cNvPr id="11" name="Karta"/>
          <p:cNvSpPr/>
          <p:nvPr/>
        </p:nvSpPr>
        <p:spPr>
          <a:xfrm>
            <a:off x="1828800" y="5760720"/>
            <a:ext cx="6720840" cy="1005840"/>
          </a:xfrm>
          <a:prstGeom prst="roundRect">
            <a:avLst>
              <a:gd name="adj" fmla="val 9091"/>
            </a:avLst>
          </a:prstGeom>
          <a:solidFill>
            <a:schemeClr val="bg2"/>
          </a:solidFill>
          <a:ln/>
        </p:spPr>
      </p:sp>
      <p:sp>
        <p:nvSpPr>
          <p:cNvPr id="12" name="Text 10"/>
          <p:cNvSpPr txBox="1"/>
          <p:nvPr/>
        </p:nvSpPr>
        <p:spPr>
          <a:xfrm>
            <a:off x="2057400" y="583387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GET /daily-logs/{id}</a:t>
            </a:r>
            <a:endParaRPr lang="en-US" sz="1700" dirty="0"/>
          </a:p>
        </p:txBody>
      </p:sp>
      <p:sp>
        <p:nvSpPr>
          <p:cNvPr id="13" name="Text 11"/>
          <p:cNvSpPr txBox="1"/>
          <p:nvPr/>
        </p:nvSpPr>
        <p:spPr>
          <a:xfrm>
            <a:off x="2057400" y="624535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podgląd raportu porannego i wieczornego</a:t>
            </a:r>
            <a:endParaRPr lang="en-US" sz="1600" dirty="0"/>
          </a:p>
        </p:txBody>
      </p:sp>
      <p:sp>
        <p:nvSpPr>
          <p:cNvPr id="14" name="Strzałka"/>
          <p:cNvSpPr/>
          <p:nvPr/>
        </p:nvSpPr>
        <p:spPr>
          <a:xfrm>
            <a:off x="5184648" y="6766560"/>
            <a:ext cx="0" cy="182880"/>
          </a:xfrm>
          <a:prstGeom prst="line">
            <a:avLst/>
          </a:prstGeom>
          <a:noFill/>
          <a:ln w="20320">
            <a:solidFill>
              <a:schemeClr val="accent1"/>
            </a:solidFill>
            <a:prstDash val="solid"/>
            <a:tailEnd type="triangle"/>
          </a:ln>
        </p:spPr>
      </p:sp>
      <p:sp>
        <p:nvSpPr>
          <p:cNvPr id="15" name="Karta"/>
          <p:cNvSpPr/>
          <p:nvPr/>
        </p:nvSpPr>
        <p:spPr>
          <a:xfrm>
            <a:off x="1828800" y="6949440"/>
            <a:ext cx="6720840" cy="1005840"/>
          </a:xfrm>
          <a:prstGeom prst="roundRect">
            <a:avLst>
              <a:gd name="adj" fmla="val 9091"/>
            </a:avLst>
          </a:prstGeom>
          <a:solidFill>
            <a:schemeClr val="accent2"/>
          </a:solidFill>
          <a:ln/>
        </p:spPr>
      </p:sp>
      <p:sp>
        <p:nvSpPr>
          <p:cNvPr id="16" name="Text 14"/>
          <p:cNvSpPr txBox="1"/>
          <p:nvPr/>
        </p:nvSpPr>
        <p:spPr>
          <a:xfrm>
            <a:off x="2057400" y="702259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PATCH /daily-logs/{id}</a:t>
            </a:r>
            <a:endParaRPr lang="en-US" sz="1700" dirty="0"/>
          </a:p>
        </p:txBody>
      </p:sp>
      <p:sp>
        <p:nvSpPr>
          <p:cNvPr id="17" name="Text 15"/>
          <p:cNvSpPr txBox="1"/>
          <p:nvPr/>
        </p:nvSpPr>
        <p:spPr>
          <a:xfrm>
            <a:off x="2057400" y="743407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częściowa edycja, ponowna walidacja i przeliczenie</a:t>
            </a:r>
            <a:endParaRPr lang="en-US" sz="1600" dirty="0"/>
          </a:p>
        </p:txBody>
      </p:sp>
      <p:sp>
        <p:nvSpPr>
          <p:cNvPr id="18" name="Text 16"/>
          <p:cNvSpPr txBox="1"/>
          <p:nvPr/>
        </p:nvSpPr>
        <p:spPr>
          <a:xfrm>
            <a:off x="1828800" y="8229600"/>
            <a:ext cx="6720840" cy="1005840"/>
          </a:xfrm>
          <a:prstGeom prst="rect">
            <a:avLst/>
          </a:prstGeom>
          <a:noFill/>
          <a:ln/>
        </p:spPr>
        <p:txBody>
          <a:bodyPr wrap="square" lIns="0" tIns="0" rIns="0" bIns="0" rtlCol="0" anchor="t"/>
          <a:lstStyle/>
          <a:p>
            <a:pPr algn="l" indent="0" marL="0">
              <a:lnSpc>
                <a:spcPct val="100000"/>
              </a:lnSpc>
              <a:buNone/>
            </a:pPr>
            <a:r>
              <a:rPr lang="en-US" sz="1550" dirty="0">
                <a:solidFill>
                  <a:schemeClr val="accent4"/>
                </a:solidFill>
              </a:rPr>
              <a:t>Użytkownik może pobrać i edytować wyłącznie własne wpisy, a czas snu i DayScore przeliczają się przy każdej zmianie.</a:t>
            </a:r>
            <a:endParaRPr lang="en-US" sz="1550" dirty="0"/>
          </a:p>
        </p:txBody>
      </p:sp>
      <p:sp>
        <p:nvSpPr>
          <p:cNvPr id="19" name="Karta"/>
          <p:cNvSpPr/>
          <p:nvPr/>
        </p:nvSpPr>
        <p:spPr>
          <a:xfrm>
            <a:off x="9372600" y="3657600"/>
            <a:ext cx="7452360" cy="5715000"/>
          </a:xfrm>
          <a:prstGeom prst="roundRect">
            <a:avLst>
              <a:gd name="adj" fmla="val 2240"/>
            </a:avLst>
          </a:prstGeom>
          <a:solidFill>
            <a:schemeClr val="bg1"/>
          </a:solidFill>
          <a:ln w="12700">
            <a:solidFill>
              <a:schemeClr val="accent3"/>
            </a:solidFill>
            <a:prstDash val="solid"/>
          </a:ln>
        </p:spPr>
      </p:sp>
      <p:sp>
        <p:nvSpPr>
          <p:cNvPr id="20" name="Text 18"/>
          <p:cNvSpPr txBox="1"/>
          <p:nvPr/>
        </p:nvSpPr>
        <p:spPr>
          <a:xfrm>
            <a:off x="9738360" y="3840480"/>
            <a:ext cx="6766560" cy="457200"/>
          </a:xfrm>
          <a:prstGeom prst="rect">
            <a:avLst/>
          </a:prstGeom>
          <a:noFill/>
          <a:ln/>
        </p:spPr>
        <p:txBody>
          <a:bodyPr wrap="square" lIns="0" tIns="0" rIns="0" bIns="0" rtlCol="0" anchor="t"/>
          <a:lstStyle/>
          <a:p>
            <a:pPr algn="l" indent="0" marL="0">
              <a:lnSpc>
                <a:spcPct val="100000"/>
              </a:lnSpc>
              <a:buNone/>
            </a:pPr>
            <a:r>
              <a:rPr lang="en-US" sz="2300" b="1" dirty="0">
                <a:solidFill>
                  <a:schemeClr val="tx1"/>
                </a:solidFill>
              </a:rPr>
              <a:t>Panel statystyk</a:t>
            </a:r>
            <a:endParaRPr lang="en-US" sz="2300" dirty="0"/>
          </a:p>
        </p:txBody>
      </p:sp>
      <p:sp>
        <p:nvSpPr>
          <p:cNvPr id="21" name="Karta"/>
          <p:cNvSpPr/>
          <p:nvPr/>
        </p:nvSpPr>
        <p:spPr>
          <a:xfrm>
            <a:off x="9738360" y="4572000"/>
            <a:ext cx="6720840" cy="1005840"/>
          </a:xfrm>
          <a:prstGeom prst="roundRect">
            <a:avLst>
              <a:gd name="adj" fmla="val 9091"/>
            </a:avLst>
          </a:prstGeom>
          <a:solidFill>
            <a:schemeClr val="bg2"/>
          </a:solidFill>
          <a:ln/>
        </p:spPr>
      </p:sp>
      <p:sp>
        <p:nvSpPr>
          <p:cNvPr id="22" name="Text 20"/>
          <p:cNvSpPr txBox="1"/>
          <p:nvPr/>
        </p:nvSpPr>
        <p:spPr>
          <a:xfrm>
            <a:off x="9966960" y="464515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GET /statistics?date_from&amp;date_to</a:t>
            </a:r>
            <a:endParaRPr lang="en-US" sz="1700" dirty="0"/>
          </a:p>
        </p:txBody>
      </p:sp>
      <p:sp>
        <p:nvSpPr>
          <p:cNvPr id="23" name="Text 21"/>
          <p:cNvSpPr txBox="1"/>
          <p:nvPr/>
        </p:nvSpPr>
        <p:spPr>
          <a:xfrm>
            <a:off x="9966960" y="505663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wybór okresu i liczba raportów</a:t>
            </a:r>
            <a:endParaRPr lang="en-US" sz="1600" dirty="0"/>
          </a:p>
        </p:txBody>
      </p:sp>
      <p:sp>
        <p:nvSpPr>
          <p:cNvPr id="24" name="Strzałka"/>
          <p:cNvSpPr/>
          <p:nvPr/>
        </p:nvSpPr>
        <p:spPr>
          <a:xfrm>
            <a:off x="13094208" y="5577840"/>
            <a:ext cx="0" cy="182880"/>
          </a:xfrm>
          <a:prstGeom prst="line">
            <a:avLst/>
          </a:prstGeom>
          <a:noFill/>
          <a:ln w="20320">
            <a:solidFill>
              <a:schemeClr val="accent1"/>
            </a:solidFill>
            <a:prstDash val="solid"/>
            <a:tailEnd type="triangle"/>
          </a:ln>
        </p:spPr>
      </p:sp>
      <p:sp>
        <p:nvSpPr>
          <p:cNvPr id="25" name="Karta"/>
          <p:cNvSpPr/>
          <p:nvPr/>
        </p:nvSpPr>
        <p:spPr>
          <a:xfrm>
            <a:off x="9738360" y="5760720"/>
            <a:ext cx="6720840" cy="1005840"/>
          </a:xfrm>
          <a:prstGeom prst="roundRect">
            <a:avLst>
              <a:gd name="adj" fmla="val 9091"/>
            </a:avLst>
          </a:prstGeom>
          <a:solidFill>
            <a:schemeClr val="bg2"/>
          </a:solidFill>
          <a:ln/>
        </p:spPr>
      </p:sp>
      <p:sp>
        <p:nvSpPr>
          <p:cNvPr id="26" name="Text 24"/>
          <p:cNvSpPr txBox="1"/>
          <p:nvPr/>
        </p:nvSpPr>
        <p:spPr>
          <a:xfrm>
            <a:off x="9966960" y="583387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summary</a:t>
            </a:r>
            <a:endParaRPr lang="en-US" sz="1700" dirty="0"/>
          </a:p>
        </p:txBody>
      </p:sp>
      <p:sp>
        <p:nvSpPr>
          <p:cNvPr id="27" name="Text 25"/>
          <p:cNvSpPr txBox="1"/>
          <p:nvPr/>
        </p:nvSpPr>
        <p:spPr>
          <a:xfrm>
            <a:off x="9966960" y="624535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średnie: sen, jakość, energia, wybudzenia, ocena dnia, stres</a:t>
            </a:r>
            <a:endParaRPr lang="en-US" sz="1600" dirty="0"/>
          </a:p>
        </p:txBody>
      </p:sp>
      <p:sp>
        <p:nvSpPr>
          <p:cNvPr id="28" name="Strzałka"/>
          <p:cNvSpPr/>
          <p:nvPr/>
        </p:nvSpPr>
        <p:spPr>
          <a:xfrm>
            <a:off x="13094208" y="6766560"/>
            <a:ext cx="0" cy="182880"/>
          </a:xfrm>
          <a:prstGeom prst="line">
            <a:avLst/>
          </a:prstGeom>
          <a:noFill/>
          <a:ln w="20320">
            <a:solidFill>
              <a:schemeClr val="accent1"/>
            </a:solidFill>
            <a:prstDash val="solid"/>
            <a:tailEnd type="triangle"/>
          </a:ln>
        </p:spPr>
      </p:sp>
      <p:sp>
        <p:nvSpPr>
          <p:cNvPr id="29" name="Karta"/>
          <p:cNvSpPr/>
          <p:nvPr/>
        </p:nvSpPr>
        <p:spPr>
          <a:xfrm>
            <a:off x="9738360" y="6949440"/>
            <a:ext cx="6720840" cy="1005840"/>
          </a:xfrm>
          <a:prstGeom prst="roundRect">
            <a:avLst>
              <a:gd name="adj" fmla="val 9091"/>
            </a:avLst>
          </a:prstGeom>
          <a:solidFill>
            <a:schemeClr val="accent2"/>
          </a:solidFill>
          <a:ln/>
        </p:spPr>
      </p:sp>
      <p:sp>
        <p:nvSpPr>
          <p:cNvPr id="30" name="Text 28"/>
          <p:cNvSpPr txBox="1"/>
          <p:nvPr/>
        </p:nvSpPr>
        <p:spPr>
          <a:xfrm>
            <a:off x="9966960" y="7022592"/>
            <a:ext cx="6309360" cy="411480"/>
          </a:xfrm>
          <a:prstGeom prst="rect">
            <a:avLst/>
          </a:prstGeom>
          <a:noFill/>
          <a:ln/>
        </p:spPr>
        <p:txBody>
          <a:bodyPr wrap="square" lIns="0" tIns="0" rIns="0" bIns="0" rtlCol="0" anchor="t"/>
          <a:lstStyle/>
          <a:p>
            <a:pPr algn="l" indent="0" marL="0">
              <a:lnSpc>
                <a:spcPct val="100000"/>
              </a:lnSpc>
              <a:buNone/>
            </a:pPr>
            <a:r>
              <a:rPr lang="en-US" sz="1700" b="1" dirty="0">
                <a:solidFill>
                  <a:schemeClr val="accent1"/>
                </a:solidFill>
              </a:rPr>
              <a:t>daily → Recharts</a:t>
            </a:r>
            <a:endParaRPr lang="en-US" sz="1700" dirty="0"/>
          </a:p>
        </p:txBody>
      </p:sp>
      <p:sp>
        <p:nvSpPr>
          <p:cNvPr id="31" name="Text 29"/>
          <p:cNvSpPr txBox="1"/>
          <p:nvPr/>
        </p:nvSpPr>
        <p:spPr>
          <a:xfrm>
            <a:off x="9966960" y="7434072"/>
            <a:ext cx="6309360" cy="457200"/>
          </a:xfrm>
          <a:prstGeom prst="rect">
            <a:avLst/>
          </a:prstGeom>
          <a:noFill/>
          <a:ln/>
        </p:spPr>
        <p:txBody>
          <a:bodyPr wrap="square" lIns="0" tIns="0" rIns="0" bIns="0" rtlCol="0" anchor="t"/>
          <a:lstStyle/>
          <a:p>
            <a:pPr algn="l" indent="0" marL="0">
              <a:lnSpc>
                <a:spcPct val="100000"/>
              </a:lnSpc>
              <a:buNone/>
            </a:pPr>
            <a:r>
              <a:rPr lang="en-US" sz="1600" dirty="0">
                <a:solidFill>
                  <a:schemeClr val="tx1"/>
                </a:solidFill>
              </a:rPr>
              <a:t>punkty dzienne do wykresów długości i jakości snu</a:t>
            </a:r>
            <a:endParaRPr lang="en-US" sz="1600" dirty="0"/>
          </a:p>
        </p:txBody>
      </p:sp>
      <p:sp>
        <p:nvSpPr>
          <p:cNvPr id="32" name="Text 30"/>
          <p:cNvSpPr txBox="1"/>
          <p:nvPr/>
        </p:nvSpPr>
        <p:spPr>
          <a:xfrm>
            <a:off x="9738360" y="8229600"/>
            <a:ext cx="6720840" cy="1005840"/>
          </a:xfrm>
          <a:prstGeom prst="rect">
            <a:avLst/>
          </a:prstGeom>
          <a:noFill/>
          <a:ln/>
        </p:spPr>
        <p:txBody>
          <a:bodyPr wrap="square" lIns="0" tIns="0" rIns="0" bIns="0" rtlCol="0" anchor="t"/>
          <a:lstStyle/>
          <a:p>
            <a:pPr algn="l" indent="0" marL="0">
              <a:lnSpc>
                <a:spcPct val="100000"/>
              </a:lnSpc>
              <a:buNone/>
            </a:pPr>
            <a:r>
              <a:rPr lang="en-US" sz="1550" dirty="0">
                <a:solidFill>
                  <a:schemeClr val="accent4"/>
                </a:solidFill>
              </a:rPr>
              <a:t>Moduł statystyk jest bazą pod rekomendacje: te same agregaty posłużą regułom.</a:t>
            </a:r>
            <a:endParaRPr lang="en-US" sz="15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sek postępu"/>
          <p:cNvSpPr/>
          <p:nvPr/>
        </p:nvSpPr>
        <p:spPr>
          <a:xfrm>
            <a:off x="1463040" y="868680"/>
            <a:ext cx="11781692"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Dane syntetyczne do testów i walidacji</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Generator odtwarza ok. 2,5 roku historii (01.2024 - 08.2026) dla każdej z 5 person.</a:t>
            </a:r>
            <a:endParaRPr lang="en-US" sz="2200" dirty="0"/>
          </a:p>
        </p:txBody>
      </p:sp>
      <p:sp>
        <p:nvSpPr>
          <p:cNvPr id="5" name="Text 3"/>
          <p:cNvSpPr txBox="1"/>
          <p:nvPr/>
        </p:nvSpPr>
        <p:spPr>
          <a:xfrm>
            <a:off x="1463040" y="3657600"/>
            <a:ext cx="5669280" cy="457200"/>
          </a:xfrm>
          <a:prstGeom prst="rect">
            <a:avLst/>
          </a:prstGeom>
          <a:noFill/>
          <a:ln/>
        </p:spPr>
        <p:txBody>
          <a:bodyPr wrap="square" lIns="0" tIns="0" rIns="0" bIns="0" rtlCol="0" anchor="t"/>
          <a:lstStyle/>
          <a:p>
            <a:pPr algn="l" indent="0" marL="0">
              <a:lnSpc>
                <a:spcPct val="100000"/>
              </a:lnSpc>
              <a:buNone/>
            </a:pPr>
            <a:r>
              <a:rPr lang="en-US" sz="2100" b="1" dirty="0">
                <a:solidFill>
                  <a:schemeClr val="tx1"/>
                </a:solidFill>
              </a:rPr>
              <a:t>Jak działa generator</a:t>
            </a:r>
            <a:endParaRPr lang="en-US" sz="2100" dirty="0"/>
          </a:p>
        </p:txBody>
      </p:sp>
      <p:sp>
        <p:nvSpPr>
          <p:cNvPr id="6" name="Punktor"/>
          <p:cNvSpPr/>
          <p:nvPr/>
        </p:nvSpPr>
        <p:spPr>
          <a:xfrm>
            <a:off x="1508760" y="4345305"/>
            <a:ext cx="128016" cy="128016"/>
          </a:xfrm>
          <a:prstGeom prst="ellipse">
            <a:avLst/>
          </a:prstGeom>
          <a:solidFill>
            <a:schemeClr val="accent1"/>
          </a:solidFill>
          <a:ln w="19050">
            <a:solidFill>
              <a:schemeClr val="accent1"/>
            </a:solidFill>
            <a:prstDash val="solid"/>
          </a:ln>
        </p:spPr>
      </p:sp>
      <p:sp>
        <p:nvSpPr>
          <p:cNvPr id="7" name="Text 5"/>
          <p:cNvSpPr txBox="1"/>
          <p:nvPr/>
        </p:nvSpPr>
        <p:spPr>
          <a:xfrm>
            <a:off x="1856232" y="4251960"/>
            <a:ext cx="5413248" cy="868680"/>
          </a:xfrm>
          <a:prstGeom prst="rect">
            <a:avLst/>
          </a:prstGeom>
          <a:noFill/>
          <a:ln/>
        </p:spPr>
        <p:txBody>
          <a:bodyPr wrap="square" lIns="0" tIns="0" rIns="0" bIns="0" rtlCol="0" anchor="t"/>
          <a:lstStyle/>
          <a:p>
            <a:pPr algn="l" indent="0" marL="0">
              <a:lnSpc>
                <a:spcPct val="100000"/>
              </a:lnSpc>
              <a:buNone/>
            </a:pPr>
            <a:r>
              <a:rPr lang="en-US" sz="1750" dirty="0">
                <a:solidFill>
                  <a:schemeClr val="tx1"/>
                </a:solidFill>
              </a:rPr>
              <a:t>profil JSON: wartości bazowe snu i ocen, prawdopodobieństwa nawyków</a:t>
            </a:r>
            <a:endParaRPr lang="en-US" sz="1750" dirty="0"/>
          </a:p>
        </p:txBody>
      </p:sp>
      <p:sp>
        <p:nvSpPr>
          <p:cNvPr id="8" name="Punktor"/>
          <p:cNvSpPr/>
          <p:nvPr/>
        </p:nvSpPr>
        <p:spPr>
          <a:xfrm>
            <a:off x="1508760" y="5213985"/>
            <a:ext cx="128016" cy="128016"/>
          </a:xfrm>
          <a:prstGeom prst="ellipse">
            <a:avLst/>
          </a:prstGeom>
          <a:solidFill>
            <a:schemeClr val="accent1"/>
          </a:solidFill>
          <a:ln w="19050">
            <a:solidFill>
              <a:schemeClr val="accent1"/>
            </a:solidFill>
            <a:prstDash val="solid"/>
          </a:ln>
        </p:spPr>
      </p:sp>
      <p:sp>
        <p:nvSpPr>
          <p:cNvPr id="9" name="Text 7"/>
          <p:cNvSpPr txBox="1"/>
          <p:nvPr/>
        </p:nvSpPr>
        <p:spPr>
          <a:xfrm>
            <a:off x="1856232" y="5120640"/>
            <a:ext cx="5413248" cy="868680"/>
          </a:xfrm>
          <a:prstGeom prst="rect">
            <a:avLst/>
          </a:prstGeom>
          <a:noFill/>
          <a:ln/>
        </p:spPr>
        <p:txBody>
          <a:bodyPr wrap="square" lIns="0" tIns="0" rIns="0" bIns="0" rtlCol="0" anchor="t"/>
          <a:lstStyle/>
          <a:p>
            <a:pPr algn="l" indent="0" marL="0">
              <a:lnSpc>
                <a:spcPct val="100000"/>
              </a:lnSpc>
              <a:buNone/>
            </a:pPr>
            <a:r>
              <a:rPr lang="en-US" sz="1750" dirty="0">
                <a:solidFill>
                  <a:schemeClr val="tx1"/>
                </a:solidFill>
              </a:rPr>
              <a:t>weekendy i okresy specjalne: sesja, urlop, deadline</a:t>
            </a:r>
            <a:endParaRPr lang="en-US" sz="1750" dirty="0"/>
          </a:p>
        </p:txBody>
      </p:sp>
      <p:sp>
        <p:nvSpPr>
          <p:cNvPr id="10" name="Punktor"/>
          <p:cNvSpPr/>
          <p:nvPr/>
        </p:nvSpPr>
        <p:spPr>
          <a:xfrm>
            <a:off x="1508760" y="6082665"/>
            <a:ext cx="128016" cy="128016"/>
          </a:xfrm>
          <a:prstGeom prst="ellipse">
            <a:avLst/>
          </a:prstGeom>
          <a:solidFill>
            <a:schemeClr val="accent1"/>
          </a:solidFill>
          <a:ln w="19050">
            <a:solidFill>
              <a:schemeClr val="accent1"/>
            </a:solidFill>
            <a:prstDash val="solid"/>
          </a:ln>
        </p:spPr>
      </p:sp>
      <p:sp>
        <p:nvSpPr>
          <p:cNvPr id="11" name="Text 9"/>
          <p:cNvSpPr txBox="1"/>
          <p:nvPr/>
        </p:nvSpPr>
        <p:spPr>
          <a:xfrm>
            <a:off x="1856232" y="5989320"/>
            <a:ext cx="5413248" cy="868680"/>
          </a:xfrm>
          <a:prstGeom prst="rect">
            <a:avLst/>
          </a:prstGeom>
          <a:noFill/>
          <a:ln/>
        </p:spPr>
        <p:txBody>
          <a:bodyPr wrap="square" lIns="0" tIns="0" rIns="0" bIns="0" rtlCol="0" anchor="t"/>
          <a:lstStyle/>
          <a:p>
            <a:pPr algn="l" indent="0" marL="0">
              <a:lnSpc>
                <a:spcPct val="100000"/>
              </a:lnSpc>
              <a:buNone/>
            </a:pPr>
            <a:r>
              <a:rPr lang="en-US" sz="1750" dirty="0">
                <a:solidFill>
                  <a:schemeClr val="tx1"/>
                </a:solidFill>
              </a:rPr>
              <a:t>wieczorne nawyki wpływają na kolejną noc</a:t>
            </a:r>
            <a:endParaRPr lang="en-US" sz="1750" dirty="0"/>
          </a:p>
        </p:txBody>
      </p:sp>
      <p:sp>
        <p:nvSpPr>
          <p:cNvPr id="12" name="Punktor"/>
          <p:cNvSpPr/>
          <p:nvPr/>
        </p:nvSpPr>
        <p:spPr>
          <a:xfrm>
            <a:off x="1508760" y="6951345"/>
            <a:ext cx="128016" cy="128016"/>
          </a:xfrm>
          <a:prstGeom prst="ellipse">
            <a:avLst/>
          </a:prstGeom>
          <a:solidFill>
            <a:schemeClr val="accent1"/>
          </a:solidFill>
          <a:ln w="19050">
            <a:solidFill>
              <a:schemeClr val="accent1"/>
            </a:solidFill>
            <a:prstDash val="solid"/>
          </a:ln>
        </p:spPr>
      </p:sp>
      <p:sp>
        <p:nvSpPr>
          <p:cNvPr id="13" name="Text 11"/>
          <p:cNvSpPr txBox="1"/>
          <p:nvPr/>
        </p:nvSpPr>
        <p:spPr>
          <a:xfrm>
            <a:off x="1856232" y="6858000"/>
            <a:ext cx="5413248" cy="868680"/>
          </a:xfrm>
          <a:prstGeom prst="rect">
            <a:avLst/>
          </a:prstGeom>
          <a:noFill/>
          <a:ln/>
        </p:spPr>
        <p:txBody>
          <a:bodyPr wrap="square" lIns="0" tIns="0" rIns="0" bIns="0" rtlCol="0" anchor="t"/>
          <a:lstStyle/>
          <a:p>
            <a:pPr algn="l" indent="0" marL="0">
              <a:lnSpc>
                <a:spcPct val="100000"/>
              </a:lnSpc>
              <a:buNone/>
            </a:pPr>
            <a:r>
              <a:rPr lang="en-US" sz="1750" dirty="0">
                <a:solidFill>
                  <a:schemeClr val="tx1"/>
                </a:solidFill>
              </a:rPr>
              <a:t>ok. 90% wypełnionych raportów, stały seed</a:t>
            </a:r>
            <a:endParaRPr lang="en-US" sz="1750" dirty="0"/>
          </a:p>
        </p:txBody>
      </p:sp>
      <p:sp>
        <p:nvSpPr>
          <p:cNvPr id="14" name="Karta"/>
          <p:cNvSpPr/>
          <p:nvPr/>
        </p:nvSpPr>
        <p:spPr>
          <a:xfrm>
            <a:off x="1463040" y="8001000"/>
            <a:ext cx="5760720" cy="1325880"/>
          </a:xfrm>
          <a:prstGeom prst="roundRect">
            <a:avLst>
              <a:gd name="adj" fmla="val 9655"/>
            </a:avLst>
          </a:prstGeom>
          <a:solidFill>
            <a:schemeClr val="accent2"/>
          </a:solidFill>
          <a:ln w="16510">
            <a:solidFill>
              <a:schemeClr val="accent1"/>
            </a:solidFill>
            <a:prstDash val="solid"/>
          </a:ln>
        </p:spPr>
      </p:sp>
      <p:sp>
        <p:nvSpPr>
          <p:cNvPr id="15" name="Text 13"/>
          <p:cNvSpPr txBox="1"/>
          <p:nvPr/>
        </p:nvSpPr>
        <p:spPr>
          <a:xfrm>
            <a:off x="1691640" y="8092440"/>
            <a:ext cx="5349240" cy="1143000"/>
          </a:xfrm>
          <a:prstGeom prst="rect">
            <a:avLst/>
          </a:prstGeom>
          <a:noFill/>
          <a:ln/>
        </p:spPr>
        <p:txBody>
          <a:bodyPr wrap="square" lIns="0" tIns="0" rIns="0" bIns="0" rtlCol="0" anchor="ctr"/>
          <a:lstStyle/>
          <a:p>
            <a:pPr algn="l" indent="0" marL="0">
              <a:lnSpc>
                <a:spcPct val="100000"/>
              </a:lnSpc>
              <a:buNone/>
            </a:pPr>
            <a:r>
              <a:rPr lang="en-US" sz="1550" dirty="0">
                <a:solidFill>
                  <a:schemeClr val="tx1"/>
                </a:solidFill>
              </a:rPr>
              <a:t>Zależności są celowo wbudowane, więc moduł reguł powinien je wykryć. To gotowy test poprawności rekomendacji.</a:t>
            </a:r>
            <a:endParaRPr lang="en-US" sz="1550" dirty="0"/>
          </a:p>
        </p:txBody>
      </p:sp>
      <p:sp>
        <p:nvSpPr>
          <p:cNvPr id="16" name="Karta"/>
          <p:cNvSpPr/>
          <p:nvPr/>
        </p:nvSpPr>
        <p:spPr>
          <a:xfrm>
            <a:off x="7680960" y="3657600"/>
            <a:ext cx="9144000" cy="2743200"/>
          </a:xfrm>
          <a:prstGeom prst="roundRect">
            <a:avLst>
              <a:gd name="adj" fmla="val 4667"/>
            </a:avLst>
          </a:prstGeom>
          <a:solidFill>
            <a:schemeClr val="bg1"/>
          </a:solidFill>
          <a:ln w="12700">
            <a:solidFill>
              <a:schemeClr val="accent3"/>
            </a:solidFill>
            <a:prstDash val="solid"/>
          </a:ln>
        </p:spPr>
      </p:sp>
      <p:graphicFrame>
        <p:nvGraphicFramePr>
          <p:cNvPr id="17" name="Chart 0" descr=""/>
          <p:cNvGraphicFramePr/>
          <p:nvPr/>
        </p:nvGraphicFramePr>
        <p:xfrm>
          <a:off x="7818120" y="3730752"/>
          <a:ext cx="8869680" cy="2596896"/>
        </p:xfrm>
        <a:graphic xmlns:a="http://schemas.openxmlformats.org/drawingml/2006/main">
          <a:graphicData uri="http://schemas.openxmlformats.org/drawingml/2006/chart">
            <c:chart xmlns:c="http://schemas.openxmlformats.org/drawingml/2006/chart" r:id="rId1"/>
          </a:graphicData>
        </a:graphic>
      </p:graphicFrame>
      <p:sp>
        <p:nvSpPr>
          <p:cNvPr id="18" name="Karta"/>
          <p:cNvSpPr/>
          <p:nvPr/>
        </p:nvSpPr>
        <p:spPr>
          <a:xfrm>
            <a:off x="7680960" y="6583680"/>
            <a:ext cx="9144000" cy="2743200"/>
          </a:xfrm>
          <a:prstGeom prst="roundRect">
            <a:avLst>
              <a:gd name="adj" fmla="val 4667"/>
            </a:avLst>
          </a:prstGeom>
          <a:solidFill>
            <a:schemeClr val="bg1"/>
          </a:solidFill>
          <a:ln w="12700">
            <a:solidFill>
              <a:schemeClr val="accent3"/>
            </a:solidFill>
            <a:prstDash val="solid"/>
          </a:ln>
        </p:spPr>
      </p:sp>
      <p:graphicFrame>
        <p:nvGraphicFramePr>
          <p:cNvPr id="19" name="Chart 1" descr=""/>
          <p:cNvGraphicFramePr/>
          <p:nvPr/>
        </p:nvGraphicFramePr>
        <p:xfrm>
          <a:off x="7818120" y="6656832"/>
          <a:ext cx="8869680" cy="2596896"/>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sek postępu"/>
          <p:cNvSpPr/>
          <p:nvPr/>
        </p:nvSpPr>
        <p:spPr>
          <a:xfrm>
            <a:off x="1463040" y="868680"/>
            <a:ext cx="12959862"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Problemy i ryzyka</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Każde ryzyko ma przypisane konkretne działanie ograniczające.</a:t>
            </a:r>
            <a:endParaRPr lang="en-US" sz="2200" dirty="0"/>
          </a:p>
        </p:txBody>
      </p:sp>
      <p:sp>
        <p:nvSpPr>
          <p:cNvPr id="5" name="Karta"/>
          <p:cNvSpPr/>
          <p:nvPr/>
        </p:nvSpPr>
        <p:spPr>
          <a:xfrm>
            <a:off x="1463040" y="3657600"/>
            <a:ext cx="4846320" cy="5669280"/>
          </a:xfrm>
          <a:prstGeom prst="roundRect">
            <a:avLst>
              <a:gd name="adj" fmla="val 2642"/>
            </a:avLst>
          </a:prstGeom>
          <a:solidFill>
            <a:schemeClr val="bg1"/>
          </a:solidFill>
          <a:ln w="12700">
            <a:solidFill>
              <a:schemeClr val="accent3"/>
            </a:solidFill>
            <a:prstDash val="solid"/>
          </a:ln>
        </p:spPr>
      </p:sp>
      <p:sp>
        <p:nvSpPr>
          <p:cNvPr id="6" name="Numer"/>
          <p:cNvSpPr/>
          <p:nvPr/>
        </p:nvSpPr>
        <p:spPr>
          <a:xfrm>
            <a:off x="1783080" y="3931920"/>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1783080" y="3931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6"/>
          <p:cNvSpPr txBox="1"/>
          <p:nvPr/>
        </p:nvSpPr>
        <p:spPr>
          <a:xfrm>
            <a:off x="2514600" y="3931920"/>
            <a:ext cx="3611880" cy="566928"/>
          </a:xfrm>
          <a:prstGeom prst="rect">
            <a:avLst/>
          </a:prstGeom>
          <a:noFill/>
          <a:ln/>
        </p:spPr>
        <p:txBody>
          <a:bodyPr wrap="square" lIns="0" tIns="0" rIns="0" bIns="0" rtlCol="0" anchor="ctr"/>
          <a:lstStyle/>
          <a:p>
            <a:pPr algn="l" indent="0" marL="0">
              <a:lnSpc>
                <a:spcPct val="100000"/>
              </a:lnSpc>
              <a:buNone/>
            </a:pPr>
            <a:r>
              <a:rPr lang="en-US" sz="2100" b="1" dirty="0">
                <a:solidFill>
                  <a:schemeClr val="tx1"/>
                </a:solidFill>
              </a:rPr>
              <a:t>Ograniczony czas</a:t>
            </a:r>
            <a:endParaRPr lang="en-US" sz="2100" dirty="0"/>
          </a:p>
        </p:txBody>
      </p:sp>
      <p:sp>
        <p:nvSpPr>
          <p:cNvPr id="9" name="Text 7"/>
          <p:cNvSpPr txBox="1"/>
          <p:nvPr/>
        </p:nvSpPr>
        <p:spPr>
          <a:xfrm>
            <a:off x="1783080" y="4709160"/>
            <a:ext cx="4251960" cy="173736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praca zawodowa równolegle z ostatnim etapem studiów i pisaniem pracy</a:t>
            </a:r>
            <a:endParaRPr lang="en-US" sz="1700" dirty="0"/>
          </a:p>
        </p:txBody>
      </p:sp>
      <p:sp>
        <p:nvSpPr>
          <p:cNvPr id="10" name="Działanie"/>
          <p:cNvSpPr/>
          <p:nvPr/>
        </p:nvSpPr>
        <p:spPr>
          <a:xfrm>
            <a:off x="1691640" y="6629400"/>
            <a:ext cx="4389120" cy="2468880"/>
          </a:xfrm>
          <a:prstGeom prst="roundRect">
            <a:avLst>
              <a:gd name="adj" fmla="val 3704"/>
            </a:avLst>
          </a:prstGeom>
          <a:solidFill>
            <a:schemeClr val="accent2"/>
          </a:solidFill>
          <a:ln/>
        </p:spPr>
      </p:sp>
      <p:sp>
        <p:nvSpPr>
          <p:cNvPr id="11" name="Text 9"/>
          <p:cNvSpPr txBox="1"/>
          <p:nvPr/>
        </p:nvSpPr>
        <p:spPr>
          <a:xfrm>
            <a:off x="1920240" y="6812280"/>
            <a:ext cx="3931920" cy="384048"/>
          </a:xfrm>
          <a:prstGeom prst="rect">
            <a:avLst/>
          </a:prstGeom>
          <a:noFill/>
          <a:ln/>
        </p:spPr>
        <p:txBody>
          <a:bodyPr wrap="square" lIns="0" tIns="0" rIns="0" bIns="0" rtlCol="0" anchor="t"/>
          <a:lstStyle/>
          <a:p>
            <a:pPr algn="l" indent="0" marL="0">
              <a:lnSpc>
                <a:spcPct val="100000"/>
              </a:lnSpc>
              <a:buNone/>
            </a:pPr>
            <a:r>
              <a:rPr lang="en-US" sz="1600" b="1" dirty="0">
                <a:solidFill>
                  <a:schemeClr val="accent1"/>
                </a:solidFill>
              </a:rPr>
              <a:t>Działanie</a:t>
            </a:r>
            <a:endParaRPr lang="en-US" sz="1600" dirty="0"/>
          </a:p>
        </p:txBody>
      </p:sp>
      <p:sp>
        <p:nvSpPr>
          <p:cNvPr id="12" name="Text 10"/>
          <p:cNvSpPr txBox="1"/>
          <p:nvPr/>
        </p:nvSpPr>
        <p:spPr>
          <a:xfrm>
            <a:off x="1920240" y="7269480"/>
            <a:ext cx="3977640" cy="173736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podział zakresu na część obowiązkową (reguły + LLM, testy) i opcjonalną (ML, rozbudowany interfejs)</a:t>
            </a:r>
            <a:endParaRPr lang="en-US" sz="1650" dirty="0"/>
          </a:p>
        </p:txBody>
      </p:sp>
      <p:sp>
        <p:nvSpPr>
          <p:cNvPr id="13" name="Karta"/>
          <p:cNvSpPr/>
          <p:nvPr/>
        </p:nvSpPr>
        <p:spPr>
          <a:xfrm>
            <a:off x="6629400" y="3657600"/>
            <a:ext cx="4846320" cy="5669280"/>
          </a:xfrm>
          <a:prstGeom prst="roundRect">
            <a:avLst>
              <a:gd name="adj" fmla="val 2642"/>
            </a:avLst>
          </a:prstGeom>
          <a:solidFill>
            <a:schemeClr val="bg1"/>
          </a:solidFill>
          <a:ln w="12700">
            <a:solidFill>
              <a:schemeClr val="accent3"/>
            </a:solidFill>
            <a:prstDash val="solid"/>
          </a:ln>
        </p:spPr>
      </p:sp>
      <p:sp>
        <p:nvSpPr>
          <p:cNvPr id="14" name="Numer"/>
          <p:cNvSpPr/>
          <p:nvPr/>
        </p:nvSpPr>
        <p:spPr>
          <a:xfrm>
            <a:off x="6949440" y="3931920"/>
            <a:ext cx="566928" cy="566928"/>
          </a:xfrm>
          <a:prstGeom prst="ellipse">
            <a:avLst/>
          </a:prstGeom>
          <a:solidFill>
            <a:schemeClr val="accent1"/>
          </a:solidFill>
          <a:ln w="12700">
            <a:solidFill>
              <a:schemeClr val="accent1"/>
            </a:solidFill>
            <a:prstDash val="solid"/>
          </a:ln>
        </p:spPr>
      </p:sp>
      <p:sp>
        <p:nvSpPr>
          <p:cNvPr id="15" name="Text 13"/>
          <p:cNvSpPr txBox="1"/>
          <p:nvPr/>
        </p:nvSpPr>
        <p:spPr>
          <a:xfrm>
            <a:off x="6949440" y="3931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4"/>
          <p:cNvSpPr txBox="1"/>
          <p:nvPr/>
        </p:nvSpPr>
        <p:spPr>
          <a:xfrm>
            <a:off x="7680960" y="3931920"/>
            <a:ext cx="3611880" cy="566928"/>
          </a:xfrm>
          <a:prstGeom prst="rect">
            <a:avLst/>
          </a:prstGeom>
          <a:noFill/>
          <a:ln/>
        </p:spPr>
        <p:txBody>
          <a:bodyPr wrap="square" lIns="0" tIns="0" rIns="0" bIns="0" rtlCol="0" anchor="ctr"/>
          <a:lstStyle/>
          <a:p>
            <a:pPr algn="l" indent="0" marL="0">
              <a:lnSpc>
                <a:spcPct val="100000"/>
              </a:lnSpc>
              <a:buNone/>
            </a:pPr>
            <a:r>
              <a:rPr lang="en-US" sz="2100" b="1" dirty="0">
                <a:solidFill>
                  <a:schemeClr val="tx1"/>
                </a:solidFill>
              </a:rPr>
              <a:t>Mało realnych danych</a:t>
            </a:r>
            <a:endParaRPr lang="en-US" sz="2100" dirty="0"/>
          </a:p>
        </p:txBody>
      </p:sp>
      <p:sp>
        <p:nvSpPr>
          <p:cNvPr id="17" name="Text 15"/>
          <p:cNvSpPr txBox="1"/>
          <p:nvPr/>
        </p:nvSpPr>
        <p:spPr>
          <a:xfrm>
            <a:off x="6949440" y="4709160"/>
            <a:ext cx="4251960" cy="173736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brak grupy użytkowników, a dane od jednej osoby nie wystarczą do oceny rekomendacji</a:t>
            </a:r>
            <a:endParaRPr lang="en-US" sz="1700" dirty="0"/>
          </a:p>
        </p:txBody>
      </p:sp>
      <p:sp>
        <p:nvSpPr>
          <p:cNvPr id="18" name="Działanie"/>
          <p:cNvSpPr/>
          <p:nvPr/>
        </p:nvSpPr>
        <p:spPr>
          <a:xfrm>
            <a:off x="6858000" y="6629400"/>
            <a:ext cx="4389120" cy="2468880"/>
          </a:xfrm>
          <a:prstGeom prst="roundRect">
            <a:avLst>
              <a:gd name="adj" fmla="val 3704"/>
            </a:avLst>
          </a:prstGeom>
          <a:solidFill>
            <a:schemeClr val="accent2"/>
          </a:solidFill>
          <a:ln/>
        </p:spPr>
      </p:sp>
      <p:sp>
        <p:nvSpPr>
          <p:cNvPr id="19" name="Text 17"/>
          <p:cNvSpPr txBox="1"/>
          <p:nvPr/>
        </p:nvSpPr>
        <p:spPr>
          <a:xfrm>
            <a:off x="7086600" y="6812280"/>
            <a:ext cx="3931920" cy="384048"/>
          </a:xfrm>
          <a:prstGeom prst="rect">
            <a:avLst/>
          </a:prstGeom>
          <a:noFill/>
          <a:ln/>
        </p:spPr>
        <p:txBody>
          <a:bodyPr wrap="square" lIns="0" tIns="0" rIns="0" bIns="0" rtlCol="0" anchor="t"/>
          <a:lstStyle/>
          <a:p>
            <a:pPr algn="l" indent="0" marL="0">
              <a:lnSpc>
                <a:spcPct val="100000"/>
              </a:lnSpc>
              <a:buNone/>
            </a:pPr>
            <a:r>
              <a:rPr lang="en-US" sz="1600" b="1" dirty="0">
                <a:solidFill>
                  <a:schemeClr val="accent1"/>
                </a:solidFill>
              </a:rPr>
              <a:t>Działanie</a:t>
            </a:r>
            <a:endParaRPr lang="en-US" sz="1600" dirty="0"/>
          </a:p>
        </p:txBody>
      </p:sp>
      <p:sp>
        <p:nvSpPr>
          <p:cNvPr id="20" name="Text 18"/>
          <p:cNvSpPr txBox="1"/>
          <p:nvPr/>
        </p:nvSpPr>
        <p:spPr>
          <a:xfrm>
            <a:off x="7086600" y="7269480"/>
            <a:ext cx="3977640" cy="173736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dane syntetyczne ze znanymi zależnościami; moduł ML tylko jako eksperyment</a:t>
            </a:r>
            <a:endParaRPr lang="en-US" sz="1650" dirty="0"/>
          </a:p>
        </p:txBody>
      </p:sp>
      <p:sp>
        <p:nvSpPr>
          <p:cNvPr id="21" name="Karta"/>
          <p:cNvSpPr/>
          <p:nvPr/>
        </p:nvSpPr>
        <p:spPr>
          <a:xfrm>
            <a:off x="11795760" y="3657600"/>
            <a:ext cx="4846320" cy="5669280"/>
          </a:xfrm>
          <a:prstGeom prst="roundRect">
            <a:avLst>
              <a:gd name="adj" fmla="val 2642"/>
            </a:avLst>
          </a:prstGeom>
          <a:solidFill>
            <a:schemeClr val="bg1"/>
          </a:solidFill>
          <a:ln w="12700">
            <a:solidFill>
              <a:schemeClr val="accent3"/>
            </a:solidFill>
            <a:prstDash val="solid"/>
          </a:ln>
        </p:spPr>
      </p:sp>
      <p:sp>
        <p:nvSpPr>
          <p:cNvPr id="22" name="Numer"/>
          <p:cNvSpPr/>
          <p:nvPr/>
        </p:nvSpPr>
        <p:spPr>
          <a:xfrm>
            <a:off x="12115800" y="3931920"/>
            <a:ext cx="566928" cy="566928"/>
          </a:xfrm>
          <a:prstGeom prst="ellipse">
            <a:avLst/>
          </a:prstGeom>
          <a:solidFill>
            <a:schemeClr val="accent1"/>
          </a:solidFill>
          <a:ln w="12700">
            <a:solidFill>
              <a:schemeClr val="accent1"/>
            </a:solidFill>
            <a:prstDash val="solid"/>
          </a:ln>
        </p:spPr>
      </p:sp>
      <p:sp>
        <p:nvSpPr>
          <p:cNvPr id="23" name="Text 21"/>
          <p:cNvSpPr txBox="1"/>
          <p:nvPr/>
        </p:nvSpPr>
        <p:spPr>
          <a:xfrm>
            <a:off x="12115800" y="3931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4" name="Text 22"/>
          <p:cNvSpPr txBox="1"/>
          <p:nvPr/>
        </p:nvSpPr>
        <p:spPr>
          <a:xfrm>
            <a:off x="12847320" y="3931920"/>
            <a:ext cx="3611880" cy="566928"/>
          </a:xfrm>
          <a:prstGeom prst="rect">
            <a:avLst/>
          </a:prstGeom>
          <a:noFill/>
          <a:ln/>
        </p:spPr>
        <p:txBody>
          <a:bodyPr wrap="square" lIns="0" tIns="0" rIns="0" bIns="0" rtlCol="0" anchor="ctr"/>
          <a:lstStyle/>
          <a:p>
            <a:pPr algn="l" indent="0" marL="0">
              <a:lnSpc>
                <a:spcPct val="100000"/>
              </a:lnSpc>
              <a:buNone/>
            </a:pPr>
            <a:r>
              <a:rPr lang="en-US" sz="2100" b="1" dirty="0">
                <a:solidFill>
                  <a:schemeClr val="tx1"/>
                </a:solidFill>
              </a:rPr>
              <a:t>Otwarta decyzja o LLM</a:t>
            </a:r>
            <a:endParaRPr lang="en-US" sz="2100" dirty="0"/>
          </a:p>
        </p:txBody>
      </p:sp>
      <p:sp>
        <p:nvSpPr>
          <p:cNvPr id="25" name="Text 23"/>
          <p:cNvSpPr txBox="1"/>
          <p:nvPr/>
        </p:nvSpPr>
        <p:spPr>
          <a:xfrm>
            <a:off x="12115800" y="4709160"/>
            <a:ext cx="4251960" cy="1737360"/>
          </a:xfrm>
          <a:prstGeom prst="rect">
            <a:avLst/>
          </a:prstGeom>
          <a:noFill/>
          <a:ln/>
        </p:spPr>
        <p:txBody>
          <a:bodyPr wrap="square" lIns="0" tIns="0" rIns="0" bIns="0" rtlCol="0" anchor="t"/>
          <a:lstStyle/>
          <a:p>
            <a:pPr algn="l" indent="0" marL="0">
              <a:lnSpc>
                <a:spcPct val="100000"/>
              </a:lnSpc>
              <a:buNone/>
            </a:pPr>
            <a:r>
              <a:rPr lang="en-US" sz="1700" dirty="0">
                <a:solidFill>
                  <a:schemeClr val="tx1"/>
                </a:solidFill>
              </a:rPr>
              <a:t>wybór modelu i dostawcy: koszt, prywatność danych, jakość odpowiedzi po polsku</a:t>
            </a:r>
            <a:endParaRPr lang="en-US" sz="1700" dirty="0"/>
          </a:p>
        </p:txBody>
      </p:sp>
      <p:sp>
        <p:nvSpPr>
          <p:cNvPr id="26" name="Działanie"/>
          <p:cNvSpPr/>
          <p:nvPr/>
        </p:nvSpPr>
        <p:spPr>
          <a:xfrm>
            <a:off x="12024360" y="6629400"/>
            <a:ext cx="4389120" cy="2468880"/>
          </a:xfrm>
          <a:prstGeom prst="roundRect">
            <a:avLst>
              <a:gd name="adj" fmla="val 3704"/>
            </a:avLst>
          </a:prstGeom>
          <a:solidFill>
            <a:schemeClr val="accent2"/>
          </a:solidFill>
          <a:ln/>
        </p:spPr>
      </p:sp>
      <p:sp>
        <p:nvSpPr>
          <p:cNvPr id="27" name="Text 25"/>
          <p:cNvSpPr txBox="1"/>
          <p:nvPr/>
        </p:nvSpPr>
        <p:spPr>
          <a:xfrm>
            <a:off x="12252960" y="6812280"/>
            <a:ext cx="3931920" cy="384048"/>
          </a:xfrm>
          <a:prstGeom prst="rect">
            <a:avLst/>
          </a:prstGeom>
          <a:noFill/>
          <a:ln/>
        </p:spPr>
        <p:txBody>
          <a:bodyPr wrap="square" lIns="0" tIns="0" rIns="0" bIns="0" rtlCol="0" anchor="t"/>
          <a:lstStyle/>
          <a:p>
            <a:pPr algn="l" indent="0" marL="0">
              <a:lnSpc>
                <a:spcPct val="100000"/>
              </a:lnSpc>
              <a:buNone/>
            </a:pPr>
            <a:r>
              <a:rPr lang="en-US" sz="1600" b="1" dirty="0">
                <a:solidFill>
                  <a:schemeClr val="accent1"/>
                </a:solidFill>
              </a:rPr>
              <a:t>Działanie</a:t>
            </a:r>
            <a:endParaRPr lang="en-US" sz="1600" dirty="0"/>
          </a:p>
        </p:txBody>
      </p:sp>
      <p:sp>
        <p:nvSpPr>
          <p:cNvPr id="28" name="Text 26"/>
          <p:cNvSpPr txBox="1"/>
          <p:nvPr/>
        </p:nvSpPr>
        <p:spPr>
          <a:xfrm>
            <a:off x="12252960" y="7269480"/>
            <a:ext cx="3977640" cy="1737360"/>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najpierw moduł reguł niezależny od dostawcy, LLM jako wymienna warstwa opisowa</a:t>
            </a:r>
            <a:endParaRPr lang="en-US" sz="16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asek postępu"/>
          <p:cNvSpPr/>
          <p:nvPr/>
        </p:nvSpPr>
        <p:spPr>
          <a:xfrm>
            <a:off x="1463040" y="868680"/>
            <a:ext cx="14138031" cy="0"/>
          </a:xfrm>
          <a:prstGeom prst="line">
            <a:avLst/>
          </a:prstGeom>
          <a:noFill/>
          <a:ln w="27940">
            <a:solidFill>
              <a:schemeClr val="tx2"/>
            </a:solidFill>
            <a:prstDash val="solid"/>
          </a:ln>
        </p:spPr>
      </p:sp>
      <p:sp>
        <p:nvSpPr>
          <p:cNvPr id="3" name="Text 1"/>
          <p:cNvSpPr/>
          <p:nvPr>
            <p:ph idx="102" type="title" hasCustomPrompt="1"/>
          </p:nvPr>
        </p:nvSpPr>
        <p:spPr>
          <a:xfrm>
            <a:off x="1463040" y="1600200"/>
            <a:ext cx="14813280" cy="1005840"/>
          </a:xfrm>
          <a:prstGeom prst="rect">
            <a:avLst/>
          </a:prstGeom>
          <a:noFill/>
          <a:ln/>
        </p:spPr>
        <p:txBody>
          <a:bodyPr wrap="square" lIns="0" tIns="0" rIns="0" bIns="0" rtlCol="0" anchor="ctr"/>
          <a:lstStyle/>
          <a:p>
            <a:pPr algn="l" indent="0" marL="0">
              <a:buNone/>
            </a:pPr>
            <a:r>
              <a:rPr lang="en-US" sz="5200" b="1" dirty="0">
                <a:solidFill>
                  <a:schemeClr val="tx1"/>
                </a:solidFill>
              </a:rPr>
              <a:t>Plan dalszych prac</a:t>
            </a:r>
            <a:endParaRPr lang="en-US" sz="5200" dirty="0"/>
          </a:p>
        </p:txBody>
      </p:sp>
      <p:sp>
        <p:nvSpPr>
          <p:cNvPr id="4" name="Text 1"/>
          <p:cNvSpPr/>
          <p:nvPr>
            <p:ph idx="103" type="body" hasCustomPrompt="1"/>
          </p:nvPr>
        </p:nvSpPr>
        <p:spPr>
          <a:xfrm>
            <a:off x="1463040" y="2697480"/>
            <a:ext cx="15179040" cy="548640"/>
          </a:xfrm>
          <a:prstGeom prst="rect">
            <a:avLst/>
          </a:prstGeom>
          <a:noFill/>
          <a:ln/>
        </p:spPr>
        <p:txBody>
          <a:bodyPr wrap="square" lIns="0" tIns="0" rIns="0" bIns="0" rtlCol="0" anchor="t"/>
          <a:lstStyle/>
          <a:p>
            <a:pPr indent="0" marL="0">
              <a:buNone/>
            </a:pPr>
            <a:r>
              <a:rPr lang="en-US" sz="2200" dirty="0">
                <a:solidFill>
                  <a:schemeClr val="tx1"/>
                </a:solidFill>
              </a:rPr>
              <a:t>Najbliższy cel: działające rekomendacje na danych syntetycznych.</a:t>
            </a:r>
            <a:endParaRPr lang="en-US" sz="2200" dirty="0"/>
          </a:p>
        </p:txBody>
      </p:sp>
      <p:sp>
        <p:nvSpPr>
          <p:cNvPr id="5" name="Oś czasu"/>
          <p:cNvSpPr/>
          <p:nvPr/>
        </p:nvSpPr>
        <p:spPr>
          <a:xfrm>
            <a:off x="1463040" y="4160520"/>
            <a:ext cx="15361920" cy="0"/>
          </a:xfrm>
          <a:prstGeom prst="line">
            <a:avLst/>
          </a:prstGeom>
          <a:noFill/>
          <a:ln w="17780">
            <a:solidFill>
              <a:schemeClr val="accent3"/>
            </a:solidFill>
            <a:prstDash val="solid"/>
          </a:ln>
        </p:spPr>
      </p:sp>
      <p:sp>
        <p:nvSpPr>
          <p:cNvPr id="6" name="Etykieta"/>
          <p:cNvSpPr/>
          <p:nvPr/>
        </p:nvSpPr>
        <p:spPr>
          <a:xfrm>
            <a:off x="1463040" y="3840480"/>
            <a:ext cx="2377440" cy="640080"/>
          </a:xfrm>
          <a:prstGeom prst="roundRect">
            <a:avLst>
              <a:gd name="adj" fmla="val 50000"/>
            </a:avLst>
          </a:prstGeom>
          <a:solidFill>
            <a:schemeClr val="accent1"/>
          </a:solidFill>
          <a:ln w="15240">
            <a:solidFill>
              <a:schemeClr val="accent1"/>
            </a:solidFill>
            <a:prstDash val="solid"/>
          </a:ln>
        </p:spPr>
      </p:sp>
      <p:sp>
        <p:nvSpPr>
          <p:cNvPr id="7" name="Text 5"/>
          <p:cNvSpPr txBox="1"/>
          <p:nvPr/>
        </p:nvSpPr>
        <p:spPr>
          <a:xfrm>
            <a:off x="1463040" y="3840480"/>
            <a:ext cx="2377440" cy="640080"/>
          </a:xfrm>
          <a:prstGeom prst="rect">
            <a:avLst/>
          </a:prstGeom>
          <a:noFill/>
          <a:ln/>
        </p:spPr>
        <p:txBody>
          <a:bodyPr wrap="square" lIns="0" tIns="0" rIns="0" bIns="0" rtlCol="0" anchor="ctr"/>
          <a:lstStyle/>
          <a:p>
            <a:pPr algn="ctr" indent="0" marL="0">
              <a:buNone/>
            </a:pPr>
            <a:r>
              <a:rPr lang="en-US" sz="2000" b="1" dirty="0">
                <a:solidFill>
                  <a:schemeClr val="bg1"/>
                </a:solidFill>
              </a:rPr>
              <a:t>XI  •  teraz</a:t>
            </a:r>
            <a:endParaRPr lang="en-US" sz="2000" dirty="0"/>
          </a:p>
        </p:txBody>
      </p:sp>
      <p:sp>
        <p:nvSpPr>
          <p:cNvPr id="8" name="Karta"/>
          <p:cNvSpPr/>
          <p:nvPr/>
        </p:nvSpPr>
        <p:spPr>
          <a:xfrm>
            <a:off x="1463040" y="4892040"/>
            <a:ext cx="4846320" cy="4434840"/>
          </a:xfrm>
          <a:prstGeom prst="roundRect">
            <a:avLst>
              <a:gd name="adj" fmla="val 2887"/>
            </a:avLst>
          </a:prstGeom>
          <a:solidFill>
            <a:schemeClr val="accent2"/>
          </a:solidFill>
          <a:ln w="12700">
            <a:solidFill>
              <a:schemeClr val="accent1"/>
            </a:solidFill>
            <a:prstDash val="solid"/>
          </a:ln>
        </p:spPr>
      </p:sp>
      <p:sp>
        <p:nvSpPr>
          <p:cNvPr id="9" name="Text 7"/>
          <p:cNvSpPr txBox="1"/>
          <p:nvPr/>
        </p:nvSpPr>
        <p:spPr>
          <a:xfrm>
            <a:off x="1783080" y="5074920"/>
            <a:ext cx="4206240" cy="457200"/>
          </a:xfrm>
          <a:prstGeom prst="rect">
            <a:avLst/>
          </a:prstGeom>
          <a:noFill/>
          <a:ln/>
        </p:spPr>
        <p:txBody>
          <a:bodyPr wrap="square" lIns="0" tIns="0" rIns="0" bIns="0" rtlCol="0" anchor="t"/>
          <a:lstStyle/>
          <a:p>
            <a:pPr algn="l" indent="0" marL="0">
              <a:lnSpc>
                <a:spcPct val="100000"/>
              </a:lnSpc>
              <a:buNone/>
            </a:pPr>
            <a:r>
              <a:rPr lang="en-US" sz="2100" b="1" dirty="0">
                <a:solidFill>
                  <a:schemeClr val="tx1"/>
                </a:solidFill>
              </a:rPr>
              <a:t>Moduł reguł</a:t>
            </a:r>
            <a:endParaRPr lang="en-US" sz="2100" dirty="0"/>
          </a:p>
        </p:txBody>
      </p:sp>
      <p:sp>
        <p:nvSpPr>
          <p:cNvPr id="10" name="Punktor"/>
          <p:cNvSpPr/>
          <p:nvPr/>
        </p:nvSpPr>
        <p:spPr>
          <a:xfrm>
            <a:off x="1828800" y="5879592"/>
            <a:ext cx="118872" cy="118872"/>
          </a:xfrm>
          <a:prstGeom prst="ellipse">
            <a:avLst/>
          </a:prstGeom>
          <a:solidFill>
            <a:schemeClr val="accent1"/>
          </a:solidFill>
          <a:ln w="19050">
            <a:solidFill>
              <a:schemeClr val="accent1"/>
            </a:solidFill>
            <a:prstDash val="solid"/>
          </a:ln>
        </p:spPr>
      </p:sp>
      <p:sp>
        <p:nvSpPr>
          <p:cNvPr id="11" name="Text 9"/>
          <p:cNvSpPr txBox="1"/>
          <p:nvPr/>
        </p:nvSpPr>
        <p:spPr>
          <a:xfrm>
            <a:off x="2148840" y="576072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agregaty: kawa → zasypianie, alkohol → jakość i wybudzenia, ekrany, stres</a:t>
            </a:r>
            <a:endParaRPr lang="en-US" sz="1650" dirty="0"/>
          </a:p>
        </p:txBody>
      </p:sp>
      <p:sp>
        <p:nvSpPr>
          <p:cNvPr id="12" name="Punktor"/>
          <p:cNvSpPr/>
          <p:nvPr/>
        </p:nvSpPr>
        <p:spPr>
          <a:xfrm>
            <a:off x="1828800" y="6748272"/>
            <a:ext cx="118872" cy="118872"/>
          </a:xfrm>
          <a:prstGeom prst="ellipse">
            <a:avLst/>
          </a:prstGeom>
          <a:solidFill>
            <a:schemeClr val="accent1"/>
          </a:solidFill>
          <a:ln w="19050">
            <a:solidFill>
              <a:schemeClr val="accent1"/>
            </a:solidFill>
            <a:prstDash val="solid"/>
          </a:ln>
        </p:spPr>
      </p:sp>
      <p:sp>
        <p:nvSpPr>
          <p:cNvPr id="13" name="Text 11"/>
          <p:cNvSpPr txBox="1"/>
          <p:nvPr/>
        </p:nvSpPr>
        <p:spPr>
          <a:xfrm>
            <a:off x="2148840" y="662940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porównanie tygodnia i weekendu</a:t>
            </a:r>
            <a:endParaRPr lang="en-US" sz="1650" dirty="0"/>
          </a:p>
        </p:txBody>
      </p:sp>
      <p:sp>
        <p:nvSpPr>
          <p:cNvPr id="14" name="Punktor"/>
          <p:cNvSpPr/>
          <p:nvPr/>
        </p:nvSpPr>
        <p:spPr>
          <a:xfrm>
            <a:off x="1828800" y="7616952"/>
            <a:ext cx="118872" cy="118872"/>
          </a:xfrm>
          <a:prstGeom prst="ellipse">
            <a:avLst/>
          </a:prstGeom>
          <a:solidFill>
            <a:schemeClr val="accent1"/>
          </a:solidFill>
          <a:ln w="19050">
            <a:solidFill>
              <a:schemeClr val="accent1"/>
            </a:solidFill>
            <a:prstDash val="solid"/>
          </a:ln>
        </p:spPr>
      </p:sp>
      <p:sp>
        <p:nvSpPr>
          <p:cNvPr id="15" name="Text 13"/>
          <p:cNvSpPr txBox="1"/>
          <p:nvPr/>
        </p:nvSpPr>
        <p:spPr>
          <a:xfrm>
            <a:off x="2148840" y="749808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decyzja co do modelu LLM</a:t>
            </a:r>
            <a:endParaRPr lang="en-US" sz="1650" dirty="0"/>
          </a:p>
        </p:txBody>
      </p:sp>
      <p:sp>
        <p:nvSpPr>
          <p:cNvPr id="16" name="Punktor"/>
          <p:cNvSpPr/>
          <p:nvPr/>
        </p:nvSpPr>
        <p:spPr>
          <a:xfrm>
            <a:off x="1828800" y="8485632"/>
            <a:ext cx="118872" cy="118872"/>
          </a:xfrm>
          <a:prstGeom prst="ellipse">
            <a:avLst/>
          </a:prstGeom>
          <a:solidFill>
            <a:schemeClr val="accent1"/>
          </a:solidFill>
          <a:ln w="19050">
            <a:solidFill>
              <a:schemeClr val="accent1"/>
            </a:solidFill>
            <a:prstDash val="solid"/>
          </a:ln>
        </p:spPr>
      </p:sp>
      <p:sp>
        <p:nvSpPr>
          <p:cNvPr id="17" name="Text 15"/>
          <p:cNvSpPr txBox="1"/>
          <p:nvPr/>
        </p:nvSpPr>
        <p:spPr>
          <a:xfrm>
            <a:off x="2148840" y="836676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endpoint /recommendations</a:t>
            </a:r>
            <a:endParaRPr lang="en-US" sz="1650" dirty="0"/>
          </a:p>
        </p:txBody>
      </p:sp>
      <p:sp>
        <p:nvSpPr>
          <p:cNvPr id="18" name="Etykieta"/>
          <p:cNvSpPr/>
          <p:nvPr/>
        </p:nvSpPr>
        <p:spPr>
          <a:xfrm>
            <a:off x="6629400" y="3840480"/>
            <a:ext cx="1188720" cy="640080"/>
          </a:xfrm>
          <a:prstGeom prst="roundRect">
            <a:avLst>
              <a:gd name="adj" fmla="val 50000"/>
            </a:avLst>
          </a:prstGeom>
          <a:solidFill>
            <a:schemeClr val="bg1"/>
          </a:solidFill>
          <a:ln w="15240">
            <a:solidFill>
              <a:schemeClr val="bg1"/>
            </a:solidFill>
            <a:prstDash val="solid"/>
          </a:ln>
        </p:spPr>
      </p:sp>
      <p:sp>
        <p:nvSpPr>
          <p:cNvPr id="19" name="Text 17"/>
          <p:cNvSpPr txBox="1"/>
          <p:nvPr/>
        </p:nvSpPr>
        <p:spPr>
          <a:xfrm>
            <a:off x="6629400" y="3840480"/>
            <a:ext cx="1188720" cy="640080"/>
          </a:xfrm>
          <a:prstGeom prst="rect">
            <a:avLst/>
          </a:prstGeom>
          <a:noFill/>
          <a:ln/>
        </p:spPr>
        <p:txBody>
          <a:bodyPr wrap="square" lIns="0" tIns="0" rIns="0" bIns="0" rtlCol="0" anchor="ctr"/>
          <a:lstStyle/>
          <a:p>
            <a:pPr algn="ctr" indent="0" marL="0">
              <a:buNone/>
            </a:pPr>
            <a:r>
              <a:rPr lang="en-US" sz="2000" b="1" dirty="0">
                <a:solidFill>
                  <a:schemeClr val="accent1"/>
                </a:solidFill>
              </a:rPr>
              <a:t>XII</a:t>
            </a:r>
            <a:endParaRPr lang="en-US" sz="2000" dirty="0"/>
          </a:p>
        </p:txBody>
      </p:sp>
      <p:sp>
        <p:nvSpPr>
          <p:cNvPr id="20" name="Karta"/>
          <p:cNvSpPr/>
          <p:nvPr/>
        </p:nvSpPr>
        <p:spPr>
          <a:xfrm>
            <a:off x="6629400" y="4892040"/>
            <a:ext cx="4846320" cy="4434840"/>
          </a:xfrm>
          <a:prstGeom prst="roundRect">
            <a:avLst>
              <a:gd name="adj" fmla="val 2887"/>
            </a:avLst>
          </a:prstGeom>
          <a:solidFill>
            <a:schemeClr val="bg1"/>
          </a:solidFill>
          <a:ln w="12700">
            <a:solidFill>
              <a:schemeClr val="accent3"/>
            </a:solidFill>
            <a:prstDash val="solid"/>
          </a:ln>
        </p:spPr>
      </p:sp>
      <p:sp>
        <p:nvSpPr>
          <p:cNvPr id="21" name="Text 19"/>
          <p:cNvSpPr txBox="1"/>
          <p:nvPr/>
        </p:nvSpPr>
        <p:spPr>
          <a:xfrm>
            <a:off x="6949440" y="5074920"/>
            <a:ext cx="4206240" cy="457200"/>
          </a:xfrm>
          <a:prstGeom prst="rect">
            <a:avLst/>
          </a:prstGeom>
          <a:noFill/>
          <a:ln/>
        </p:spPr>
        <p:txBody>
          <a:bodyPr wrap="square" lIns="0" tIns="0" rIns="0" bIns="0" rtlCol="0" anchor="t"/>
          <a:lstStyle/>
          <a:p>
            <a:pPr algn="l" indent="0" marL="0">
              <a:lnSpc>
                <a:spcPct val="100000"/>
              </a:lnSpc>
              <a:buNone/>
            </a:pPr>
            <a:r>
              <a:rPr lang="en-US" sz="2100" b="1" dirty="0">
                <a:solidFill>
                  <a:schemeClr val="tx1"/>
                </a:solidFill>
              </a:rPr>
              <a:t>LLM, interfejs, testy</a:t>
            </a:r>
            <a:endParaRPr lang="en-US" sz="2100" dirty="0"/>
          </a:p>
        </p:txBody>
      </p:sp>
      <p:sp>
        <p:nvSpPr>
          <p:cNvPr id="22" name="Punktor"/>
          <p:cNvSpPr/>
          <p:nvPr/>
        </p:nvSpPr>
        <p:spPr>
          <a:xfrm>
            <a:off x="6995160" y="5879592"/>
            <a:ext cx="118872" cy="118872"/>
          </a:xfrm>
          <a:prstGeom prst="ellipse">
            <a:avLst/>
          </a:prstGeom>
          <a:solidFill>
            <a:schemeClr val="accent1"/>
          </a:solidFill>
          <a:ln w="19050">
            <a:solidFill>
              <a:schemeClr val="accent1"/>
            </a:solidFill>
            <a:prstDash val="solid"/>
          </a:ln>
        </p:spPr>
      </p:sp>
      <p:sp>
        <p:nvSpPr>
          <p:cNvPr id="23" name="Text 21"/>
          <p:cNvSpPr txBox="1"/>
          <p:nvPr/>
        </p:nvSpPr>
        <p:spPr>
          <a:xfrm>
            <a:off x="7315200" y="576072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integracja LLM i widok rekomendacji</a:t>
            </a:r>
            <a:endParaRPr lang="en-US" sz="1650" dirty="0"/>
          </a:p>
        </p:txBody>
      </p:sp>
      <p:sp>
        <p:nvSpPr>
          <p:cNvPr id="24" name="Punktor"/>
          <p:cNvSpPr/>
          <p:nvPr/>
        </p:nvSpPr>
        <p:spPr>
          <a:xfrm>
            <a:off x="6995160" y="6748272"/>
            <a:ext cx="118872" cy="118872"/>
          </a:xfrm>
          <a:prstGeom prst="ellipse">
            <a:avLst/>
          </a:prstGeom>
          <a:solidFill>
            <a:schemeClr val="accent1"/>
          </a:solidFill>
          <a:ln w="19050">
            <a:solidFill>
              <a:schemeClr val="accent1"/>
            </a:solidFill>
            <a:prstDash val="solid"/>
          </a:ln>
        </p:spPr>
      </p:sp>
      <p:sp>
        <p:nvSpPr>
          <p:cNvPr id="25" name="Text 23"/>
          <p:cNvSpPr txBox="1"/>
          <p:nvPr/>
        </p:nvSpPr>
        <p:spPr>
          <a:xfrm>
            <a:off x="7315200" y="662940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statystyki nawyków, trend DayScore, panel główny</a:t>
            </a:r>
            <a:endParaRPr lang="en-US" sz="1650" dirty="0"/>
          </a:p>
        </p:txBody>
      </p:sp>
      <p:sp>
        <p:nvSpPr>
          <p:cNvPr id="26" name="Punktor"/>
          <p:cNvSpPr/>
          <p:nvPr/>
        </p:nvSpPr>
        <p:spPr>
          <a:xfrm>
            <a:off x="6995160" y="7616952"/>
            <a:ext cx="118872" cy="118872"/>
          </a:xfrm>
          <a:prstGeom prst="ellipse">
            <a:avLst/>
          </a:prstGeom>
          <a:solidFill>
            <a:schemeClr val="accent1"/>
          </a:solidFill>
          <a:ln w="19050">
            <a:solidFill>
              <a:schemeClr val="accent1"/>
            </a:solidFill>
            <a:prstDash val="solid"/>
          </a:ln>
        </p:spPr>
      </p:sp>
      <p:sp>
        <p:nvSpPr>
          <p:cNvPr id="27" name="Text 25"/>
          <p:cNvSpPr txBox="1"/>
          <p:nvPr/>
        </p:nvSpPr>
        <p:spPr>
          <a:xfrm>
            <a:off x="7315200" y="749808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testy pytest i scenariuszowe</a:t>
            </a:r>
            <a:endParaRPr lang="en-US" sz="1650" dirty="0"/>
          </a:p>
        </p:txBody>
      </p:sp>
      <p:sp>
        <p:nvSpPr>
          <p:cNvPr id="28" name="Punktor"/>
          <p:cNvSpPr/>
          <p:nvPr/>
        </p:nvSpPr>
        <p:spPr>
          <a:xfrm>
            <a:off x="6995160" y="8485632"/>
            <a:ext cx="118872" cy="118872"/>
          </a:xfrm>
          <a:prstGeom prst="ellipse">
            <a:avLst/>
          </a:prstGeom>
          <a:solidFill>
            <a:schemeClr val="accent1"/>
          </a:solidFill>
          <a:ln w="19050">
            <a:solidFill>
              <a:schemeClr val="accent1"/>
            </a:solidFill>
            <a:prstDash val="solid"/>
          </a:ln>
        </p:spPr>
      </p:sp>
      <p:sp>
        <p:nvSpPr>
          <p:cNvPr id="29" name="Text 27"/>
          <p:cNvSpPr txBox="1"/>
          <p:nvPr/>
        </p:nvSpPr>
        <p:spPr>
          <a:xfrm>
            <a:off x="7315200" y="836676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pisanie rozdziałów 3-6</a:t>
            </a:r>
            <a:endParaRPr lang="en-US" sz="1650" dirty="0"/>
          </a:p>
        </p:txBody>
      </p:sp>
      <p:sp>
        <p:nvSpPr>
          <p:cNvPr id="30" name="Etykieta"/>
          <p:cNvSpPr/>
          <p:nvPr/>
        </p:nvSpPr>
        <p:spPr>
          <a:xfrm>
            <a:off x="11795760" y="3840480"/>
            <a:ext cx="1188720" cy="640080"/>
          </a:xfrm>
          <a:prstGeom prst="roundRect">
            <a:avLst>
              <a:gd name="adj" fmla="val 50000"/>
            </a:avLst>
          </a:prstGeom>
          <a:solidFill>
            <a:schemeClr val="bg1"/>
          </a:solidFill>
          <a:ln w="15240">
            <a:solidFill>
              <a:schemeClr val="bg1"/>
            </a:solidFill>
            <a:prstDash val="solid"/>
          </a:ln>
        </p:spPr>
      </p:sp>
      <p:sp>
        <p:nvSpPr>
          <p:cNvPr id="31" name="Text 29"/>
          <p:cNvSpPr txBox="1"/>
          <p:nvPr/>
        </p:nvSpPr>
        <p:spPr>
          <a:xfrm>
            <a:off x="11795760" y="3840480"/>
            <a:ext cx="1188720" cy="640080"/>
          </a:xfrm>
          <a:prstGeom prst="rect">
            <a:avLst/>
          </a:prstGeom>
          <a:noFill/>
          <a:ln/>
        </p:spPr>
        <p:txBody>
          <a:bodyPr wrap="square" lIns="0" tIns="0" rIns="0" bIns="0" rtlCol="0" anchor="ctr"/>
          <a:lstStyle/>
          <a:p>
            <a:pPr algn="ctr" indent="0" marL="0">
              <a:buNone/>
            </a:pPr>
            <a:r>
              <a:rPr lang="en-US" sz="2000" b="1" dirty="0">
                <a:solidFill>
                  <a:schemeClr val="accent1"/>
                </a:solidFill>
              </a:rPr>
              <a:t>I</a:t>
            </a:r>
            <a:endParaRPr lang="en-US" sz="2000" dirty="0"/>
          </a:p>
        </p:txBody>
      </p:sp>
      <p:sp>
        <p:nvSpPr>
          <p:cNvPr id="32" name="Karta"/>
          <p:cNvSpPr/>
          <p:nvPr/>
        </p:nvSpPr>
        <p:spPr>
          <a:xfrm>
            <a:off x="11795760" y="4892040"/>
            <a:ext cx="4846320" cy="4434840"/>
          </a:xfrm>
          <a:prstGeom prst="roundRect">
            <a:avLst>
              <a:gd name="adj" fmla="val 2887"/>
            </a:avLst>
          </a:prstGeom>
          <a:solidFill>
            <a:schemeClr val="bg1"/>
          </a:solidFill>
          <a:ln w="12700">
            <a:solidFill>
              <a:schemeClr val="accent3"/>
            </a:solidFill>
            <a:prstDash val="solid"/>
          </a:ln>
        </p:spPr>
      </p:sp>
      <p:sp>
        <p:nvSpPr>
          <p:cNvPr id="33" name="Text 31"/>
          <p:cNvSpPr txBox="1"/>
          <p:nvPr/>
        </p:nvSpPr>
        <p:spPr>
          <a:xfrm>
            <a:off x="12115800" y="5074920"/>
            <a:ext cx="4206240" cy="457200"/>
          </a:xfrm>
          <a:prstGeom prst="rect">
            <a:avLst/>
          </a:prstGeom>
          <a:noFill/>
          <a:ln/>
        </p:spPr>
        <p:txBody>
          <a:bodyPr wrap="square" lIns="0" tIns="0" rIns="0" bIns="0" rtlCol="0" anchor="t"/>
          <a:lstStyle/>
          <a:p>
            <a:pPr algn="l" indent="0" marL="0">
              <a:lnSpc>
                <a:spcPct val="100000"/>
              </a:lnSpc>
              <a:buNone/>
            </a:pPr>
            <a:r>
              <a:rPr lang="en-US" sz="2100" b="1" dirty="0">
                <a:solidFill>
                  <a:schemeClr val="tx1"/>
                </a:solidFill>
              </a:rPr>
              <a:t>Ewaluacja i finalizacja</a:t>
            </a:r>
            <a:endParaRPr lang="en-US" sz="2100" dirty="0"/>
          </a:p>
        </p:txBody>
      </p:sp>
      <p:sp>
        <p:nvSpPr>
          <p:cNvPr id="34" name="Punktor"/>
          <p:cNvSpPr/>
          <p:nvPr/>
        </p:nvSpPr>
        <p:spPr>
          <a:xfrm>
            <a:off x="12161520" y="5879592"/>
            <a:ext cx="118872" cy="118872"/>
          </a:xfrm>
          <a:prstGeom prst="ellipse">
            <a:avLst/>
          </a:prstGeom>
          <a:solidFill>
            <a:schemeClr val="accent1"/>
          </a:solidFill>
          <a:ln w="19050">
            <a:solidFill>
              <a:schemeClr val="accent1"/>
            </a:solidFill>
            <a:prstDash val="solid"/>
          </a:ln>
        </p:spPr>
      </p:sp>
      <p:sp>
        <p:nvSpPr>
          <p:cNvPr id="35" name="Text 33"/>
          <p:cNvSpPr txBox="1"/>
          <p:nvPr/>
        </p:nvSpPr>
        <p:spPr>
          <a:xfrm>
            <a:off x="12481560" y="576072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ocena zgodności rekomendacji z danymi syntetycznymi</a:t>
            </a:r>
            <a:endParaRPr lang="en-US" sz="1650" dirty="0"/>
          </a:p>
        </p:txBody>
      </p:sp>
      <p:sp>
        <p:nvSpPr>
          <p:cNvPr id="36" name="Punktor"/>
          <p:cNvSpPr/>
          <p:nvPr/>
        </p:nvSpPr>
        <p:spPr>
          <a:xfrm>
            <a:off x="12161520" y="6748272"/>
            <a:ext cx="118872" cy="118872"/>
          </a:xfrm>
          <a:prstGeom prst="ellipse">
            <a:avLst/>
          </a:prstGeom>
          <a:solidFill>
            <a:schemeClr val="accent1"/>
          </a:solidFill>
          <a:ln w="19050">
            <a:solidFill>
              <a:schemeClr val="accent1"/>
            </a:solidFill>
            <a:prstDash val="solid"/>
          </a:ln>
        </p:spPr>
      </p:sp>
      <p:sp>
        <p:nvSpPr>
          <p:cNvPr id="37" name="Text 35"/>
          <p:cNvSpPr txBox="1"/>
          <p:nvPr/>
        </p:nvSpPr>
        <p:spPr>
          <a:xfrm>
            <a:off x="12481560" y="662940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rozdziały 7-9</a:t>
            </a:r>
            <a:endParaRPr lang="en-US" sz="1650" dirty="0"/>
          </a:p>
        </p:txBody>
      </p:sp>
      <p:sp>
        <p:nvSpPr>
          <p:cNvPr id="38" name="Punktor"/>
          <p:cNvSpPr/>
          <p:nvPr/>
        </p:nvSpPr>
        <p:spPr>
          <a:xfrm>
            <a:off x="12161520" y="7616952"/>
            <a:ext cx="118872" cy="118872"/>
          </a:xfrm>
          <a:prstGeom prst="ellipse">
            <a:avLst/>
          </a:prstGeom>
          <a:solidFill>
            <a:schemeClr val="accent1"/>
          </a:solidFill>
          <a:ln w="19050">
            <a:solidFill>
              <a:schemeClr val="accent1"/>
            </a:solidFill>
            <a:prstDash val="solid"/>
          </a:ln>
        </p:spPr>
      </p:sp>
      <p:sp>
        <p:nvSpPr>
          <p:cNvPr id="39" name="Text 37"/>
          <p:cNvSpPr txBox="1"/>
          <p:nvPr/>
        </p:nvSpPr>
        <p:spPr>
          <a:xfrm>
            <a:off x="12481560" y="7498080"/>
            <a:ext cx="3931920" cy="841248"/>
          </a:xfrm>
          <a:prstGeom prst="rect">
            <a:avLst/>
          </a:prstGeom>
          <a:noFill/>
          <a:ln/>
        </p:spPr>
        <p:txBody>
          <a:bodyPr wrap="square" lIns="0" tIns="0" rIns="0" bIns="0" rtlCol="0" anchor="t"/>
          <a:lstStyle/>
          <a:p>
            <a:pPr algn="l" indent="0" marL="0">
              <a:lnSpc>
                <a:spcPct val="100000"/>
              </a:lnSpc>
              <a:buNone/>
            </a:pPr>
            <a:r>
              <a:rPr lang="en-US" sz="1650" dirty="0">
                <a:solidFill>
                  <a:schemeClr val="tx1"/>
                </a:solidFill>
              </a:rPr>
              <a:t>poprawki, przygotowanie do obrony</a:t>
            </a:r>
            <a:endParaRPr lang="en-US" sz="1650" dirty="0"/>
          </a:p>
        </p:txBody>
      </p:sp>
      <p:sp>
        <p:nvSpPr>
          <p:cNvPr id="25" name="Slide Number Placeholder 0"/>
          <p:cNvSpPr>
            <a:spLocks noGrp="1"/>
          </p:cNvSpPr>
          <p:nvPr>
            <p:ph type="sldNum" sz="quarter" idx="4294967295"/>
          </p:nvPr>
        </p:nvSpPr>
        <p:spPr>
          <a:xfrm>
            <a:off x="16093440" y="9555480"/>
            <a:ext cx="731520" cy="365760"/>
          </a:xfrm>
          <a:prstGeom prst="rect">
            <a:avLst/>
          </a:prstGeom>
          <a:extLst>
            <a:ext uri="{C572A759-6A51-4108-AA02-DFA0A04FC94B}">
              <ma14:wrappingTextBoxFlag xmlns:ma14="http://schemas.microsoft.com/office/mac/drawingml/2011/main" val="0"/>
            </a:ext>
          </a:extLst>
        </p:spPr>
        <p:txBody>
          <a:bodyPr/>
          <a:lstStyle>
            <a:lvl1pPr>
              <a:defRPr sz="14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828800" y="3840480"/>
            <a:ext cx="14630400" cy="1828800"/>
          </a:xfrm>
          <a:prstGeom prst="rect">
            <a:avLst/>
          </a:prstGeom>
          <a:noFill/>
          <a:ln/>
        </p:spPr>
        <p:txBody>
          <a:bodyPr wrap="square" lIns="0" tIns="0" rIns="0" bIns="0" rtlCol="0" anchor="ctr"/>
          <a:lstStyle/>
          <a:p>
            <a:pPr algn="ctr" indent="0" marL="0">
              <a:buNone/>
            </a:pPr>
            <a:r>
              <a:rPr lang="en-US" sz="6600" b="1" dirty="0">
                <a:solidFill>
                  <a:schemeClr val="tx1"/>
                </a:solidFill>
              </a:rPr>
              <a:t>Dziękuję za uwagę</a:t>
            </a:r>
            <a:endParaRPr lang="en-US" sz="6600" dirty="0"/>
          </a:p>
        </p:txBody>
      </p:sp>
      <p:sp>
        <p:nvSpPr>
          <p:cNvPr id="3" name="Kropka"/>
          <p:cNvSpPr/>
          <p:nvPr/>
        </p:nvSpPr>
        <p:spPr>
          <a:xfrm>
            <a:off x="13167360" y="4069080"/>
            <a:ext cx="292608" cy="292608"/>
          </a:xfrm>
          <a:prstGeom prst="ellipse">
            <a:avLst/>
          </a:prstGeom>
          <a:solidFill>
            <a:schemeClr val="accent1"/>
          </a:solidFill>
          <a:ln w="12700">
            <a:solidFill>
              <a:schemeClr val="accent1"/>
            </a:solidFill>
            <a:prstDash val="solid"/>
          </a:ln>
        </p:spPr>
      </p:sp>
    </p:spTree>
  </p:cSld>
  <p:clrMapOvr>
    <a:masterClrMapping/>
  </p:clrMapOvr>
</p:sld>
</file>

<file path=ppt/theme/theme1.xml><?xml version="1.0" encoding="utf-8"?>
<a:theme xmlns:a="http://schemas.openxmlformats.org/drawingml/2006/main" name="Sennik Seminarium">
  <a:themeElements>
    <a:clrScheme name="Sennik Seminarium">
      <a:dk1>
        <a:srgbClr val="464646"/>
      </a:dk1>
      <a:lt1>
        <a:srgbClr val="FFFFFF"/>
      </a:lt1>
      <a:dk2>
        <a:srgbClr val="111111"/>
      </a:dk2>
      <a:lt2>
        <a:srgbClr val="F3F2FB"/>
      </a:lt2>
      <a:accent1>
        <a:srgbClr val="0057B8"/>
      </a:accent1>
      <a:accent2>
        <a:srgbClr val="E7EEF9"/>
      </a:accent2>
      <a:accent3>
        <a:srgbClr val="A8A8B0"/>
      </a:accent3>
      <a:accent4>
        <a:srgbClr val="7C7C86"/>
      </a:accent4>
      <a:accent5>
        <a:srgbClr val="DFDFEA"/>
      </a:accent5>
      <a:accent6>
        <a:srgbClr val="2F3C7E"/>
      </a:accent6>
      <a:hlink>
        <a:srgbClr val="0057B8"/>
      </a:hlink>
      <a:folHlink>
        <a:srgbClr val="7C7C86"/>
      </a:folHlink>
    </a:clrScheme>
    <a:fontScheme name="Sennik Seminariu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Wystąpienie 3 - aktualny postęp prac</dc:title>
  <dc:subject>PptxGenJS Presentation</dc:subject>
  <dc:creator>Maciej Zadrożny</dc:creator>
  <cp:lastModifiedBy>Maciej Zadrożny</cp:lastModifiedBy>
  <cp:revision>1</cp:revision>
  <dcterms:created xsi:type="dcterms:W3CDTF">2026-10-25T10:32:11Z</dcterms:created>
  <dcterms:modified xsi:type="dcterms:W3CDTF">2026-10-25T10:32:11Z</dcterms:modified>
</cp:coreProperties>
</file>